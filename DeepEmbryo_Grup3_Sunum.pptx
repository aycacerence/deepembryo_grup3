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sldSz cx="18288000" cy="10287000"/>
  <p:notesSz cx="6858000" cy="9144000"/>
  <p:embeddedFontLst>
    <p:embeddedFont>
      <p:font typeface="Montserrat" panose="020F0502020204030204" pitchFamily="2" charset="0"/>
      <p:regular r:id="rId19"/>
    </p:embeddedFont>
    <p:embeddedFont>
      <p:font typeface="Montserrat Bold" panose="020B0604020202020204" charset="0"/>
      <p:regular r:id="rId20"/>
    </p:embeddedFont>
    <p:embeddedFont>
      <p:font typeface="Montserrat Ultra-Bold" panose="020B0604020202020204" charset="0"/>
      <p:regular r:id="rId21"/>
    </p:embeddedFont>
    <p:embeddedFont>
      <p:font typeface="Quicksand Bold" panose="020B0604020202020204" charset="0"/>
      <p:regular r:id="rId22"/>
    </p:embeddedFont>
    <p:embeddedFont>
      <p:font typeface="Quicksand Semi-Bold" panose="020B0604020202020204" charset="0"/>
      <p:regular r:id="rId23"/>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0" d="100"/>
          <a:sy n="70" d="100"/>
        </p:scale>
        <p:origin x="260" y="76"/>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font" Target="fonts/font3.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font" Target="fonts/font2.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5.fntdata"/><Relationship Id="rId10" Type="http://schemas.openxmlformats.org/officeDocument/2006/relationships/slide" Target="slides/slide9.xml"/><Relationship Id="rId19" Type="http://schemas.openxmlformats.org/officeDocument/2006/relationships/font" Target="fonts/font1.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4.fntdata"/><Relationship Id="rId27"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5/17/2026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5/17/2026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5/17/2026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5/17/2026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5/17/2026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5/17/2026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5/17/2026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5/17/2026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5/17/2026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5/17/2026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5/17/2026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5/17/2026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sv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jpeg"/><Relationship Id="rId1" Type="http://schemas.openxmlformats.org/officeDocument/2006/relationships/slideLayout" Target="../slideLayouts/slideLayout7.xml"/><Relationship Id="rId5" Type="http://schemas.openxmlformats.org/officeDocument/2006/relationships/image" Target="../media/image6.png"/><Relationship Id="rId4" Type="http://schemas.openxmlformats.org/officeDocument/2006/relationships/image" Target="../media/image5.png"/></Relationships>
</file>

<file path=ppt/slides/_rels/slide3.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jpe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4.sv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image" Target="../media/image14.jpe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4.sv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4.svg"/><Relationship Id="rId1" Type="http://schemas.openxmlformats.org/officeDocument/2006/relationships/slideLayout" Target="../slideLayouts/slideLayout7.xml"/><Relationship Id="rId4" Type="http://schemas.openxmlformats.org/officeDocument/2006/relationships/image" Target="../media/image20.png"/></Relationships>
</file>

<file path=ppt/slides/_rels/slide13.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27.svg"/><Relationship Id="rId2" Type="http://schemas.openxmlformats.org/officeDocument/2006/relationships/image" Target="../media/image26.svg"/><Relationship Id="rId1" Type="http://schemas.openxmlformats.org/officeDocument/2006/relationships/slideLayout" Target="../slideLayouts/slideLayout7.xml"/><Relationship Id="rId6" Type="http://schemas.openxmlformats.org/officeDocument/2006/relationships/image" Target="../media/image29.svg"/><Relationship Id="rId5" Type="http://schemas.openxmlformats.org/officeDocument/2006/relationships/image" Target="../media/image28.svg"/><Relationship Id="rId4" Type="http://schemas.openxmlformats.org/officeDocument/2006/relationships/image" Target="../media/image10.sv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7182741" y="7019691"/>
            <a:ext cx="3922518" cy="3922518"/>
            <a:chOff x="0" y="0"/>
            <a:chExt cx="812800" cy="812800"/>
          </a:xfrm>
        </p:grpSpPr>
        <p:sp>
          <p:nvSpPr>
            <p:cNvPr id="3" name="Freeform 3"/>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1">
              <a:gsLst>
                <a:gs pos="0">
                  <a:srgbClr val="377FD6">
                    <a:alpha val="31000"/>
                  </a:srgbClr>
                </a:gs>
                <a:gs pos="100000">
                  <a:srgbClr val="CBE2FF">
                    <a:alpha val="31000"/>
                  </a:srgbClr>
                </a:gs>
              </a:gsLst>
              <a:lin ang="5400000"/>
            </a:gradFill>
          </p:spPr>
          <p:txBody>
            <a:bodyPr/>
            <a:lstStyle/>
            <a:p>
              <a:endParaRPr lang="tr-TR"/>
            </a:p>
          </p:txBody>
        </p:sp>
        <p:sp>
          <p:nvSpPr>
            <p:cNvPr id="4" name="TextBox 4"/>
            <p:cNvSpPr txBox="1"/>
            <p:nvPr/>
          </p:nvSpPr>
          <p:spPr>
            <a:xfrm>
              <a:off x="76200" y="47625"/>
              <a:ext cx="660400" cy="688975"/>
            </a:xfrm>
            <a:prstGeom prst="rect">
              <a:avLst/>
            </a:prstGeom>
          </p:spPr>
          <p:txBody>
            <a:bodyPr lIns="50800" tIns="50800" rIns="50800" bIns="50800" rtlCol="0" anchor="ctr"/>
            <a:lstStyle/>
            <a:p>
              <a:pPr algn="ctr">
                <a:lnSpc>
                  <a:spcPts val="2520"/>
                </a:lnSpc>
              </a:pPr>
              <a:endParaRPr/>
            </a:p>
          </p:txBody>
        </p:sp>
      </p:grpSp>
      <p:grpSp>
        <p:nvGrpSpPr>
          <p:cNvPr id="5" name="Group 5"/>
          <p:cNvGrpSpPr/>
          <p:nvPr/>
        </p:nvGrpSpPr>
        <p:grpSpPr>
          <a:xfrm>
            <a:off x="13300978" y="-980720"/>
            <a:ext cx="6707232" cy="6707232"/>
            <a:chOff x="0" y="0"/>
            <a:chExt cx="812800" cy="812800"/>
          </a:xfrm>
        </p:grpSpPr>
        <p:sp>
          <p:nvSpPr>
            <p:cNvPr id="6" name="Freeform 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1">
              <a:gsLst>
                <a:gs pos="0">
                  <a:srgbClr val="377FD6">
                    <a:alpha val="31000"/>
                  </a:srgbClr>
                </a:gs>
                <a:gs pos="100000">
                  <a:srgbClr val="CBE2FF">
                    <a:alpha val="31000"/>
                  </a:srgbClr>
                </a:gs>
              </a:gsLst>
              <a:lin ang="5400000"/>
            </a:gradFill>
          </p:spPr>
          <p:txBody>
            <a:bodyPr/>
            <a:lstStyle/>
            <a:p>
              <a:endParaRPr lang="tr-TR"/>
            </a:p>
          </p:txBody>
        </p:sp>
        <p:sp>
          <p:nvSpPr>
            <p:cNvPr id="7" name="TextBox 7"/>
            <p:cNvSpPr txBox="1"/>
            <p:nvPr/>
          </p:nvSpPr>
          <p:spPr>
            <a:xfrm>
              <a:off x="76200" y="47625"/>
              <a:ext cx="660400" cy="688975"/>
            </a:xfrm>
            <a:prstGeom prst="rect">
              <a:avLst/>
            </a:prstGeom>
          </p:spPr>
          <p:txBody>
            <a:bodyPr lIns="50800" tIns="50800" rIns="50800" bIns="50800" rtlCol="0" anchor="ctr"/>
            <a:lstStyle/>
            <a:p>
              <a:pPr algn="ctr">
                <a:lnSpc>
                  <a:spcPts val="2520"/>
                </a:lnSpc>
              </a:pPr>
              <a:endParaRPr/>
            </a:p>
          </p:txBody>
        </p:sp>
      </p:grpSp>
      <p:grpSp>
        <p:nvGrpSpPr>
          <p:cNvPr id="8" name="Group 8"/>
          <p:cNvGrpSpPr/>
          <p:nvPr/>
        </p:nvGrpSpPr>
        <p:grpSpPr>
          <a:xfrm>
            <a:off x="14236232" y="4581786"/>
            <a:ext cx="6046136" cy="6046136"/>
            <a:chOff x="0" y="0"/>
            <a:chExt cx="812800" cy="812800"/>
          </a:xfrm>
        </p:grpSpPr>
        <p:sp>
          <p:nvSpPr>
            <p:cNvPr id="9" name="Freeform 9"/>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1">
              <a:gsLst>
                <a:gs pos="0">
                  <a:srgbClr val="377FD6">
                    <a:alpha val="31000"/>
                  </a:srgbClr>
                </a:gs>
                <a:gs pos="100000">
                  <a:srgbClr val="CBE2FF">
                    <a:alpha val="31000"/>
                  </a:srgbClr>
                </a:gs>
              </a:gsLst>
              <a:lin ang="5400000"/>
            </a:gradFill>
          </p:spPr>
          <p:txBody>
            <a:bodyPr/>
            <a:lstStyle/>
            <a:p>
              <a:endParaRPr lang="tr-TR"/>
            </a:p>
          </p:txBody>
        </p:sp>
        <p:sp>
          <p:nvSpPr>
            <p:cNvPr id="10" name="TextBox 10"/>
            <p:cNvSpPr txBox="1"/>
            <p:nvPr/>
          </p:nvSpPr>
          <p:spPr>
            <a:xfrm>
              <a:off x="76200" y="47625"/>
              <a:ext cx="660400" cy="688975"/>
            </a:xfrm>
            <a:prstGeom prst="rect">
              <a:avLst/>
            </a:prstGeom>
          </p:spPr>
          <p:txBody>
            <a:bodyPr lIns="50800" tIns="50800" rIns="50800" bIns="50800" rtlCol="0" anchor="ctr"/>
            <a:lstStyle/>
            <a:p>
              <a:pPr algn="ctr">
                <a:lnSpc>
                  <a:spcPts val="2520"/>
                </a:lnSpc>
              </a:pPr>
              <a:endParaRPr/>
            </a:p>
          </p:txBody>
        </p:sp>
      </p:grpSp>
      <p:sp>
        <p:nvSpPr>
          <p:cNvPr id="11" name="Freeform 11"/>
          <p:cNvSpPr/>
          <p:nvPr/>
        </p:nvSpPr>
        <p:spPr>
          <a:xfrm>
            <a:off x="14819214" y="1108551"/>
            <a:ext cx="2033673" cy="2012555"/>
          </a:xfrm>
          <a:custGeom>
            <a:avLst/>
            <a:gdLst/>
            <a:ahLst/>
            <a:cxnLst/>
            <a:rect l="l" t="t" r="r" b="b"/>
            <a:pathLst>
              <a:path w="2033673" h="2012555">
                <a:moveTo>
                  <a:pt x="0" y="0"/>
                </a:moveTo>
                <a:lnTo>
                  <a:pt x="2033673" y="0"/>
                </a:lnTo>
                <a:lnTo>
                  <a:pt x="2033673" y="2012555"/>
                </a:lnTo>
                <a:lnTo>
                  <a:pt x="0" y="2012555"/>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tr-TR"/>
          </a:p>
        </p:txBody>
      </p:sp>
      <p:grpSp>
        <p:nvGrpSpPr>
          <p:cNvPr id="12" name="Group 12"/>
          <p:cNvGrpSpPr/>
          <p:nvPr/>
        </p:nvGrpSpPr>
        <p:grpSpPr>
          <a:xfrm>
            <a:off x="9981864" y="3350486"/>
            <a:ext cx="8508736" cy="8508736"/>
            <a:chOff x="0" y="0"/>
            <a:chExt cx="11344982" cy="11344982"/>
          </a:xfrm>
        </p:grpSpPr>
        <p:grpSp>
          <p:nvGrpSpPr>
            <p:cNvPr id="13" name="Group 13"/>
            <p:cNvGrpSpPr/>
            <p:nvPr/>
          </p:nvGrpSpPr>
          <p:grpSpPr>
            <a:xfrm>
              <a:off x="0" y="0"/>
              <a:ext cx="11344982" cy="11344982"/>
              <a:chOff x="0" y="0"/>
              <a:chExt cx="812800" cy="812800"/>
            </a:xfrm>
          </p:grpSpPr>
          <p:sp>
            <p:nvSpPr>
              <p:cNvPr id="14" name="Freeform 14"/>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1">
                <a:gsLst>
                  <a:gs pos="0">
                    <a:srgbClr val="377FD6">
                      <a:alpha val="31000"/>
                    </a:srgbClr>
                  </a:gs>
                  <a:gs pos="100000">
                    <a:srgbClr val="CBE2FF">
                      <a:alpha val="31000"/>
                    </a:srgbClr>
                  </a:gs>
                </a:gsLst>
                <a:lin ang="5400000"/>
              </a:gradFill>
            </p:spPr>
            <p:txBody>
              <a:bodyPr/>
              <a:lstStyle/>
              <a:p>
                <a:endParaRPr lang="tr-TR"/>
              </a:p>
            </p:txBody>
          </p:sp>
          <p:sp>
            <p:nvSpPr>
              <p:cNvPr id="15" name="TextBox 15"/>
              <p:cNvSpPr txBox="1"/>
              <p:nvPr/>
            </p:nvSpPr>
            <p:spPr>
              <a:xfrm>
                <a:off x="76200" y="47625"/>
                <a:ext cx="660400" cy="688975"/>
              </a:xfrm>
              <a:prstGeom prst="rect">
                <a:avLst/>
              </a:prstGeom>
            </p:spPr>
            <p:txBody>
              <a:bodyPr lIns="61665" tIns="61665" rIns="61665" bIns="61665" rtlCol="0" anchor="ctr"/>
              <a:lstStyle/>
              <a:p>
                <a:pPr algn="ctr">
                  <a:lnSpc>
                    <a:spcPts val="2519"/>
                  </a:lnSpc>
                </a:pPr>
                <a:endParaRPr/>
              </a:p>
            </p:txBody>
          </p:sp>
        </p:grpSp>
        <p:grpSp>
          <p:nvGrpSpPr>
            <p:cNvPr id="16" name="Group 16"/>
            <p:cNvGrpSpPr/>
            <p:nvPr/>
          </p:nvGrpSpPr>
          <p:grpSpPr>
            <a:xfrm>
              <a:off x="16409" y="16409"/>
              <a:ext cx="11312163" cy="11312163"/>
              <a:chOff x="0" y="0"/>
              <a:chExt cx="812800" cy="812800"/>
            </a:xfrm>
          </p:grpSpPr>
          <p:sp>
            <p:nvSpPr>
              <p:cNvPr id="17" name="Freeform 17"/>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3"/>
                <a:stretch>
                  <a:fillRect l="-12138" r="-12138"/>
                </a:stretch>
              </a:blipFill>
            </p:spPr>
            <p:txBody>
              <a:bodyPr/>
              <a:lstStyle/>
              <a:p>
                <a:endParaRPr lang="tr-TR"/>
              </a:p>
            </p:txBody>
          </p:sp>
        </p:grpSp>
      </p:grpSp>
      <p:sp>
        <p:nvSpPr>
          <p:cNvPr id="18" name="TextBox 18"/>
          <p:cNvSpPr txBox="1"/>
          <p:nvPr/>
        </p:nvSpPr>
        <p:spPr>
          <a:xfrm>
            <a:off x="1186328" y="3191437"/>
            <a:ext cx="11684185" cy="1007042"/>
          </a:xfrm>
          <a:prstGeom prst="rect">
            <a:avLst/>
          </a:prstGeom>
        </p:spPr>
        <p:txBody>
          <a:bodyPr lIns="0" tIns="0" rIns="0" bIns="0" rtlCol="0" anchor="t">
            <a:spAutoFit/>
          </a:bodyPr>
          <a:lstStyle/>
          <a:p>
            <a:pPr algn="just">
              <a:lnSpc>
                <a:spcPts val="3920"/>
              </a:lnSpc>
            </a:pPr>
            <a:r>
              <a:rPr lang="en-US" sz="3500" b="1">
                <a:solidFill>
                  <a:srgbClr val="000000"/>
                </a:solidFill>
                <a:latin typeface="Montserrat Bold"/>
                <a:ea typeface="Montserrat Bold"/>
                <a:cs typeface="Montserrat Bold"/>
                <a:sym typeface="Montserrat Bold"/>
              </a:rPr>
              <a:t>Tıbbi Görüntülemede Yapay Zeka Uygulamaları Dersi Final Projesi</a:t>
            </a:r>
          </a:p>
        </p:txBody>
      </p:sp>
      <p:sp>
        <p:nvSpPr>
          <p:cNvPr id="19" name="TextBox 19"/>
          <p:cNvSpPr txBox="1"/>
          <p:nvPr/>
        </p:nvSpPr>
        <p:spPr>
          <a:xfrm>
            <a:off x="1186328" y="914400"/>
            <a:ext cx="11684185" cy="2024259"/>
          </a:xfrm>
          <a:prstGeom prst="rect">
            <a:avLst/>
          </a:prstGeom>
        </p:spPr>
        <p:txBody>
          <a:bodyPr lIns="0" tIns="0" rIns="0" bIns="0" rtlCol="0" anchor="t">
            <a:spAutoFit/>
          </a:bodyPr>
          <a:lstStyle/>
          <a:p>
            <a:pPr marL="0" lvl="0" indent="0" algn="l">
              <a:lnSpc>
                <a:spcPts val="8119"/>
              </a:lnSpc>
              <a:spcBef>
                <a:spcPct val="0"/>
              </a:spcBef>
            </a:pPr>
            <a:r>
              <a:rPr lang="en-US" sz="5799" b="1" u="none" strike="noStrike">
                <a:solidFill>
                  <a:srgbClr val="154562"/>
                </a:solidFill>
                <a:latin typeface="Montserrat Ultra-Bold"/>
                <a:ea typeface="Montserrat Ultra-Bold"/>
                <a:cs typeface="Montserrat Ultra-Bold"/>
                <a:sym typeface="Montserrat Ultra-Bold"/>
              </a:rPr>
              <a:t>DeepEmbryo: 5. Gün Embriyo Kalite Değerlendirme Sistemi</a:t>
            </a:r>
          </a:p>
        </p:txBody>
      </p:sp>
      <p:sp>
        <p:nvSpPr>
          <p:cNvPr id="20" name="TextBox 20"/>
          <p:cNvSpPr txBox="1"/>
          <p:nvPr/>
        </p:nvSpPr>
        <p:spPr>
          <a:xfrm>
            <a:off x="1186328" y="4527457"/>
            <a:ext cx="3156740" cy="775915"/>
          </a:xfrm>
          <a:prstGeom prst="rect">
            <a:avLst/>
          </a:prstGeom>
        </p:spPr>
        <p:txBody>
          <a:bodyPr lIns="0" tIns="0" rIns="0" bIns="0" rtlCol="0" anchor="t">
            <a:spAutoFit/>
          </a:bodyPr>
          <a:lstStyle/>
          <a:p>
            <a:pPr algn="l">
              <a:lnSpc>
                <a:spcPts val="5974"/>
              </a:lnSpc>
            </a:pPr>
            <a:r>
              <a:rPr lang="en-US" sz="5800" b="1">
                <a:solidFill>
                  <a:srgbClr val="000000"/>
                </a:solidFill>
                <a:latin typeface="Montserrat Bold"/>
                <a:ea typeface="Montserrat Bold"/>
                <a:cs typeface="Montserrat Bold"/>
                <a:sym typeface="Montserrat Bold"/>
              </a:rPr>
              <a:t>Grup: 3</a:t>
            </a:r>
          </a:p>
        </p:txBody>
      </p:sp>
      <p:sp>
        <p:nvSpPr>
          <p:cNvPr id="21" name="TextBox 21"/>
          <p:cNvSpPr txBox="1"/>
          <p:nvPr/>
        </p:nvSpPr>
        <p:spPr>
          <a:xfrm>
            <a:off x="1186328" y="5474822"/>
            <a:ext cx="9158688" cy="2676140"/>
          </a:xfrm>
          <a:prstGeom prst="rect">
            <a:avLst/>
          </a:prstGeom>
        </p:spPr>
        <p:txBody>
          <a:bodyPr lIns="0" tIns="0" rIns="0" bIns="0" rtlCol="0" anchor="t">
            <a:spAutoFit/>
          </a:bodyPr>
          <a:lstStyle/>
          <a:p>
            <a:pPr algn="l">
              <a:lnSpc>
                <a:spcPts val="5388"/>
              </a:lnSpc>
            </a:pPr>
            <a:r>
              <a:rPr lang="en-US" sz="3849" b="1">
                <a:solidFill>
                  <a:srgbClr val="000000"/>
                </a:solidFill>
                <a:latin typeface="Quicksand Semi-Bold"/>
                <a:ea typeface="Quicksand Semi-Bold"/>
                <a:cs typeface="Quicksand Semi-Bold"/>
                <a:sym typeface="Quicksand Semi-Bold"/>
              </a:rPr>
              <a:t>Şevval Ayça Çerence - 152120211128</a:t>
            </a:r>
          </a:p>
          <a:p>
            <a:pPr algn="l">
              <a:lnSpc>
                <a:spcPts val="5388"/>
              </a:lnSpc>
            </a:pPr>
            <a:r>
              <a:rPr lang="en-US" sz="3849" b="1">
                <a:solidFill>
                  <a:srgbClr val="000000"/>
                </a:solidFill>
                <a:latin typeface="Quicksand Semi-Bold"/>
                <a:ea typeface="Quicksand Semi-Bold"/>
                <a:cs typeface="Quicksand Semi-Bold"/>
                <a:sym typeface="Quicksand Semi-Bold"/>
              </a:rPr>
              <a:t>Nisanur Pehlivan - 152120221054</a:t>
            </a:r>
          </a:p>
          <a:p>
            <a:pPr algn="l">
              <a:lnSpc>
                <a:spcPts val="5388"/>
              </a:lnSpc>
            </a:pPr>
            <a:r>
              <a:rPr lang="en-US" sz="3849" b="1">
                <a:solidFill>
                  <a:srgbClr val="000000"/>
                </a:solidFill>
                <a:latin typeface="Quicksand Semi-Bold"/>
                <a:ea typeface="Quicksand Semi-Bold"/>
                <a:cs typeface="Quicksand Semi-Bold"/>
                <a:sym typeface="Quicksand Semi-Bold"/>
              </a:rPr>
              <a:t>Merve Selçuk - 152120211116</a:t>
            </a:r>
          </a:p>
          <a:p>
            <a:pPr algn="l">
              <a:lnSpc>
                <a:spcPts val="5388"/>
              </a:lnSpc>
            </a:pPr>
            <a:r>
              <a:rPr lang="en-US" sz="3849" b="1">
                <a:solidFill>
                  <a:srgbClr val="000000"/>
                </a:solidFill>
                <a:latin typeface="Quicksand Semi-Bold"/>
                <a:ea typeface="Quicksand Semi-Bold"/>
                <a:cs typeface="Quicksand Semi-Bold"/>
                <a:sym typeface="Quicksand Semi-Bold"/>
              </a:rPr>
              <a:t>Pelin Özer – 152120231100 </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904672" y="3453308"/>
            <a:ext cx="5581577" cy="5581577"/>
            <a:chOff x="0" y="0"/>
            <a:chExt cx="812800" cy="812800"/>
          </a:xfrm>
        </p:grpSpPr>
        <p:sp>
          <p:nvSpPr>
            <p:cNvPr id="3" name="Freeform 3"/>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1">
              <a:gsLst>
                <a:gs pos="0">
                  <a:srgbClr val="377FD6">
                    <a:alpha val="8000"/>
                  </a:srgbClr>
                </a:gs>
                <a:gs pos="100000">
                  <a:srgbClr val="CBE2FF">
                    <a:alpha val="8000"/>
                  </a:srgbClr>
                </a:gs>
              </a:gsLst>
              <a:lin ang="5400000"/>
            </a:gradFill>
          </p:spPr>
          <p:txBody>
            <a:bodyPr/>
            <a:lstStyle/>
            <a:p>
              <a:endParaRPr lang="tr-TR"/>
            </a:p>
          </p:txBody>
        </p:sp>
        <p:sp>
          <p:nvSpPr>
            <p:cNvPr id="4" name="TextBox 4"/>
            <p:cNvSpPr txBox="1"/>
            <p:nvPr/>
          </p:nvSpPr>
          <p:spPr>
            <a:xfrm>
              <a:off x="76200" y="47625"/>
              <a:ext cx="660400" cy="688975"/>
            </a:xfrm>
            <a:prstGeom prst="rect">
              <a:avLst/>
            </a:prstGeom>
          </p:spPr>
          <p:txBody>
            <a:bodyPr lIns="50800" tIns="50800" rIns="50800" bIns="50800" rtlCol="0" anchor="ctr"/>
            <a:lstStyle/>
            <a:p>
              <a:pPr algn="ctr">
                <a:lnSpc>
                  <a:spcPts val="2520"/>
                </a:lnSpc>
              </a:pPr>
              <a:endParaRPr/>
            </a:p>
          </p:txBody>
        </p:sp>
      </p:grpSp>
      <p:grpSp>
        <p:nvGrpSpPr>
          <p:cNvPr id="5" name="Group 5"/>
          <p:cNvGrpSpPr/>
          <p:nvPr/>
        </p:nvGrpSpPr>
        <p:grpSpPr>
          <a:xfrm>
            <a:off x="541710" y="2266917"/>
            <a:ext cx="3837100" cy="6351714"/>
            <a:chOff x="0" y="0"/>
            <a:chExt cx="669263" cy="1107860"/>
          </a:xfrm>
        </p:grpSpPr>
        <p:sp>
          <p:nvSpPr>
            <p:cNvPr id="6" name="Freeform 6"/>
            <p:cNvSpPr/>
            <p:nvPr/>
          </p:nvSpPr>
          <p:spPr>
            <a:xfrm>
              <a:off x="0" y="0"/>
              <a:ext cx="669263" cy="1107860"/>
            </a:xfrm>
            <a:custGeom>
              <a:avLst/>
              <a:gdLst/>
              <a:ahLst/>
              <a:cxnLst/>
              <a:rect l="l" t="t" r="r" b="b"/>
              <a:pathLst>
                <a:path w="669263" h="1107860">
                  <a:moveTo>
                    <a:pt x="159394" y="0"/>
                  </a:moveTo>
                  <a:lnTo>
                    <a:pt x="509869" y="0"/>
                  </a:lnTo>
                  <a:cubicBezTo>
                    <a:pt x="597900" y="0"/>
                    <a:pt x="669263" y="71363"/>
                    <a:pt x="669263" y="159394"/>
                  </a:cubicBezTo>
                  <a:lnTo>
                    <a:pt x="669263" y="948466"/>
                  </a:lnTo>
                  <a:cubicBezTo>
                    <a:pt x="669263" y="1036497"/>
                    <a:pt x="597900" y="1107860"/>
                    <a:pt x="509869" y="1107860"/>
                  </a:cubicBezTo>
                  <a:lnTo>
                    <a:pt x="159394" y="1107860"/>
                  </a:lnTo>
                  <a:cubicBezTo>
                    <a:pt x="71363" y="1107860"/>
                    <a:pt x="0" y="1036497"/>
                    <a:pt x="0" y="948466"/>
                  </a:cubicBezTo>
                  <a:lnTo>
                    <a:pt x="0" y="159394"/>
                  </a:lnTo>
                  <a:cubicBezTo>
                    <a:pt x="0" y="71363"/>
                    <a:pt x="71363" y="0"/>
                    <a:pt x="159394" y="0"/>
                  </a:cubicBezTo>
                  <a:close/>
                </a:path>
              </a:pathLst>
            </a:custGeom>
            <a:blipFill>
              <a:blip r:embed="rId2"/>
              <a:stretch>
                <a:fillRect l="-74228" r="-74228"/>
              </a:stretch>
            </a:blipFill>
          </p:spPr>
          <p:txBody>
            <a:bodyPr/>
            <a:lstStyle/>
            <a:p>
              <a:endParaRPr lang="tr-TR"/>
            </a:p>
          </p:txBody>
        </p:sp>
      </p:grpSp>
      <p:grpSp>
        <p:nvGrpSpPr>
          <p:cNvPr id="7" name="Group 7"/>
          <p:cNvGrpSpPr/>
          <p:nvPr/>
        </p:nvGrpSpPr>
        <p:grpSpPr>
          <a:xfrm>
            <a:off x="4524629" y="2266917"/>
            <a:ext cx="7059176" cy="3789890"/>
            <a:chOff x="0" y="0"/>
            <a:chExt cx="9412235" cy="5053186"/>
          </a:xfrm>
        </p:grpSpPr>
        <p:grpSp>
          <p:nvGrpSpPr>
            <p:cNvPr id="8" name="Group 8"/>
            <p:cNvGrpSpPr/>
            <p:nvPr/>
          </p:nvGrpSpPr>
          <p:grpSpPr>
            <a:xfrm>
              <a:off x="199580" y="283592"/>
              <a:ext cx="9212655" cy="4769594"/>
              <a:chOff x="0" y="0"/>
              <a:chExt cx="1937717" cy="1003199"/>
            </a:xfrm>
          </p:grpSpPr>
          <p:sp>
            <p:nvSpPr>
              <p:cNvPr id="9" name="Freeform 9"/>
              <p:cNvSpPr/>
              <p:nvPr/>
            </p:nvSpPr>
            <p:spPr>
              <a:xfrm>
                <a:off x="0" y="0"/>
                <a:ext cx="1937717" cy="1003199"/>
              </a:xfrm>
              <a:custGeom>
                <a:avLst/>
                <a:gdLst/>
                <a:ahLst/>
                <a:cxnLst/>
                <a:rect l="l" t="t" r="r" b="b"/>
                <a:pathLst>
                  <a:path w="1937717" h="1003199">
                    <a:moveTo>
                      <a:pt x="16057" y="0"/>
                    </a:moveTo>
                    <a:lnTo>
                      <a:pt x="1921661" y="0"/>
                    </a:lnTo>
                    <a:cubicBezTo>
                      <a:pt x="1925919" y="0"/>
                      <a:pt x="1930003" y="1692"/>
                      <a:pt x="1933014" y="4703"/>
                    </a:cubicBezTo>
                    <a:cubicBezTo>
                      <a:pt x="1936025" y="7714"/>
                      <a:pt x="1937717" y="11798"/>
                      <a:pt x="1937717" y="16057"/>
                    </a:cubicBezTo>
                    <a:lnTo>
                      <a:pt x="1937717" y="987142"/>
                    </a:lnTo>
                    <a:cubicBezTo>
                      <a:pt x="1937717" y="991401"/>
                      <a:pt x="1936025" y="995485"/>
                      <a:pt x="1933014" y="998496"/>
                    </a:cubicBezTo>
                    <a:cubicBezTo>
                      <a:pt x="1930003" y="1001507"/>
                      <a:pt x="1925919" y="1003199"/>
                      <a:pt x="1921661" y="1003199"/>
                    </a:cubicBezTo>
                    <a:lnTo>
                      <a:pt x="16057" y="1003199"/>
                    </a:lnTo>
                    <a:cubicBezTo>
                      <a:pt x="11798" y="1003199"/>
                      <a:pt x="7714" y="1001507"/>
                      <a:pt x="4703" y="998496"/>
                    </a:cubicBezTo>
                    <a:cubicBezTo>
                      <a:pt x="1692" y="995485"/>
                      <a:pt x="0" y="991401"/>
                      <a:pt x="0" y="987142"/>
                    </a:cubicBezTo>
                    <a:lnTo>
                      <a:pt x="0" y="16057"/>
                    </a:lnTo>
                    <a:cubicBezTo>
                      <a:pt x="0" y="11798"/>
                      <a:pt x="1692" y="7714"/>
                      <a:pt x="4703" y="4703"/>
                    </a:cubicBezTo>
                    <a:cubicBezTo>
                      <a:pt x="7714" y="1692"/>
                      <a:pt x="11798" y="0"/>
                      <a:pt x="16057" y="0"/>
                    </a:cubicBezTo>
                    <a:close/>
                  </a:path>
                </a:pathLst>
              </a:custGeom>
              <a:solidFill>
                <a:srgbClr val="4E6C7E"/>
              </a:solidFill>
              <a:ln w="19050" cap="rnd">
                <a:solidFill>
                  <a:srgbClr val="4383D1"/>
                </a:solidFill>
                <a:prstDash val="solid"/>
                <a:round/>
              </a:ln>
            </p:spPr>
            <p:txBody>
              <a:bodyPr/>
              <a:lstStyle/>
              <a:p>
                <a:endParaRPr lang="tr-TR"/>
              </a:p>
            </p:txBody>
          </p:sp>
          <p:sp>
            <p:nvSpPr>
              <p:cNvPr id="10" name="TextBox 10"/>
              <p:cNvSpPr txBox="1"/>
              <p:nvPr/>
            </p:nvSpPr>
            <p:spPr>
              <a:xfrm>
                <a:off x="0" y="-28575"/>
                <a:ext cx="1937717" cy="1031774"/>
              </a:xfrm>
              <a:prstGeom prst="rect">
                <a:avLst/>
              </a:prstGeom>
            </p:spPr>
            <p:txBody>
              <a:bodyPr lIns="50800" tIns="50800" rIns="50800" bIns="50800" rtlCol="0" anchor="ctr"/>
              <a:lstStyle/>
              <a:p>
                <a:pPr algn="ctr">
                  <a:lnSpc>
                    <a:spcPts val="2519"/>
                  </a:lnSpc>
                </a:pPr>
                <a:endParaRPr/>
              </a:p>
            </p:txBody>
          </p:sp>
        </p:grpSp>
        <p:grpSp>
          <p:nvGrpSpPr>
            <p:cNvPr id="11" name="Group 11"/>
            <p:cNvGrpSpPr/>
            <p:nvPr/>
          </p:nvGrpSpPr>
          <p:grpSpPr>
            <a:xfrm>
              <a:off x="0" y="0"/>
              <a:ext cx="9212655" cy="4769594"/>
              <a:chOff x="0" y="0"/>
              <a:chExt cx="1937717" cy="1003199"/>
            </a:xfrm>
          </p:grpSpPr>
          <p:sp>
            <p:nvSpPr>
              <p:cNvPr id="12" name="Freeform 12"/>
              <p:cNvSpPr/>
              <p:nvPr/>
            </p:nvSpPr>
            <p:spPr>
              <a:xfrm>
                <a:off x="0" y="0"/>
                <a:ext cx="1937717" cy="1003199"/>
              </a:xfrm>
              <a:custGeom>
                <a:avLst/>
                <a:gdLst/>
                <a:ahLst/>
                <a:cxnLst/>
                <a:rect l="l" t="t" r="r" b="b"/>
                <a:pathLst>
                  <a:path w="1937717" h="1003199">
                    <a:moveTo>
                      <a:pt x="16057" y="0"/>
                    </a:moveTo>
                    <a:lnTo>
                      <a:pt x="1921661" y="0"/>
                    </a:lnTo>
                    <a:cubicBezTo>
                      <a:pt x="1925919" y="0"/>
                      <a:pt x="1930003" y="1692"/>
                      <a:pt x="1933014" y="4703"/>
                    </a:cubicBezTo>
                    <a:cubicBezTo>
                      <a:pt x="1936025" y="7714"/>
                      <a:pt x="1937717" y="11798"/>
                      <a:pt x="1937717" y="16057"/>
                    </a:cubicBezTo>
                    <a:lnTo>
                      <a:pt x="1937717" y="987142"/>
                    </a:lnTo>
                    <a:cubicBezTo>
                      <a:pt x="1937717" y="991401"/>
                      <a:pt x="1936025" y="995485"/>
                      <a:pt x="1933014" y="998496"/>
                    </a:cubicBezTo>
                    <a:cubicBezTo>
                      <a:pt x="1930003" y="1001507"/>
                      <a:pt x="1925919" y="1003199"/>
                      <a:pt x="1921661" y="1003199"/>
                    </a:cubicBezTo>
                    <a:lnTo>
                      <a:pt x="16057" y="1003199"/>
                    </a:lnTo>
                    <a:cubicBezTo>
                      <a:pt x="11798" y="1003199"/>
                      <a:pt x="7714" y="1001507"/>
                      <a:pt x="4703" y="998496"/>
                    </a:cubicBezTo>
                    <a:cubicBezTo>
                      <a:pt x="1692" y="995485"/>
                      <a:pt x="0" y="991401"/>
                      <a:pt x="0" y="987142"/>
                    </a:cubicBezTo>
                    <a:lnTo>
                      <a:pt x="0" y="16057"/>
                    </a:lnTo>
                    <a:cubicBezTo>
                      <a:pt x="0" y="11798"/>
                      <a:pt x="1692" y="7714"/>
                      <a:pt x="4703" y="4703"/>
                    </a:cubicBezTo>
                    <a:cubicBezTo>
                      <a:pt x="7714" y="1692"/>
                      <a:pt x="11798" y="0"/>
                      <a:pt x="16057" y="0"/>
                    </a:cubicBezTo>
                    <a:close/>
                  </a:path>
                </a:pathLst>
              </a:custGeom>
              <a:solidFill>
                <a:srgbClr val="FFFFFF"/>
              </a:solidFill>
              <a:ln w="19050" cap="rnd">
                <a:solidFill>
                  <a:srgbClr val="4383D1"/>
                </a:solidFill>
                <a:prstDash val="solid"/>
                <a:round/>
              </a:ln>
            </p:spPr>
            <p:txBody>
              <a:bodyPr/>
              <a:lstStyle/>
              <a:p>
                <a:endParaRPr lang="tr-TR"/>
              </a:p>
            </p:txBody>
          </p:sp>
          <p:sp>
            <p:nvSpPr>
              <p:cNvPr id="13" name="TextBox 13"/>
              <p:cNvSpPr txBox="1"/>
              <p:nvPr/>
            </p:nvSpPr>
            <p:spPr>
              <a:xfrm>
                <a:off x="0" y="-28575"/>
                <a:ext cx="1937717" cy="1031774"/>
              </a:xfrm>
              <a:prstGeom prst="rect">
                <a:avLst/>
              </a:prstGeom>
            </p:spPr>
            <p:txBody>
              <a:bodyPr lIns="50800" tIns="50800" rIns="50800" bIns="50800" rtlCol="0" anchor="ctr"/>
              <a:lstStyle/>
              <a:p>
                <a:pPr algn="ctr">
                  <a:lnSpc>
                    <a:spcPts val="2519"/>
                  </a:lnSpc>
                </a:pPr>
                <a:endParaRPr/>
              </a:p>
            </p:txBody>
          </p:sp>
        </p:grpSp>
      </p:grpSp>
      <p:grpSp>
        <p:nvGrpSpPr>
          <p:cNvPr id="14" name="Group 14"/>
          <p:cNvGrpSpPr/>
          <p:nvPr/>
        </p:nvGrpSpPr>
        <p:grpSpPr>
          <a:xfrm>
            <a:off x="4723798" y="3059380"/>
            <a:ext cx="393928" cy="393928"/>
            <a:chOff x="0" y="0"/>
            <a:chExt cx="812800" cy="812800"/>
          </a:xfrm>
        </p:grpSpPr>
        <p:sp>
          <p:nvSpPr>
            <p:cNvPr id="15" name="Freeform 15"/>
            <p:cNvSpPr/>
            <p:nvPr/>
          </p:nvSpPr>
          <p:spPr>
            <a:xfrm>
              <a:off x="0" y="57562"/>
              <a:ext cx="772097" cy="697677"/>
            </a:xfrm>
            <a:custGeom>
              <a:avLst/>
              <a:gdLst/>
              <a:ahLst/>
              <a:cxnLst/>
              <a:rect l="l" t="t" r="r" b="b"/>
              <a:pathLst>
                <a:path w="772097" h="697677">
                  <a:moveTo>
                    <a:pt x="743316" y="279354"/>
                  </a:moveTo>
                  <a:lnTo>
                    <a:pt x="475884" y="11922"/>
                  </a:lnTo>
                  <a:cubicBezTo>
                    <a:pt x="464243" y="281"/>
                    <a:pt x="446736" y="-3201"/>
                    <a:pt x="431527" y="3099"/>
                  </a:cubicBezTo>
                  <a:cubicBezTo>
                    <a:pt x="416317" y="9399"/>
                    <a:pt x="406400" y="24241"/>
                    <a:pt x="406400" y="40704"/>
                  </a:cubicBezTo>
                  <a:lnTo>
                    <a:pt x="406400" y="47372"/>
                  </a:lnTo>
                  <a:cubicBezTo>
                    <a:pt x="406400" y="101643"/>
                    <a:pt x="362405" y="145638"/>
                    <a:pt x="308134" y="145638"/>
                  </a:cubicBezTo>
                  <a:lnTo>
                    <a:pt x="98266" y="145638"/>
                  </a:lnTo>
                  <a:cubicBezTo>
                    <a:pt x="43995" y="145638"/>
                    <a:pt x="0" y="189633"/>
                    <a:pt x="0" y="243904"/>
                  </a:cubicBezTo>
                  <a:lnTo>
                    <a:pt x="0" y="453772"/>
                  </a:lnTo>
                  <a:cubicBezTo>
                    <a:pt x="0" y="508043"/>
                    <a:pt x="43995" y="552038"/>
                    <a:pt x="98266" y="552038"/>
                  </a:cubicBezTo>
                  <a:lnTo>
                    <a:pt x="308134" y="552038"/>
                  </a:lnTo>
                  <a:cubicBezTo>
                    <a:pt x="362405" y="552038"/>
                    <a:pt x="406400" y="596033"/>
                    <a:pt x="406400" y="650304"/>
                  </a:cubicBezTo>
                  <a:lnTo>
                    <a:pt x="406400" y="656972"/>
                  </a:lnTo>
                  <a:cubicBezTo>
                    <a:pt x="406400" y="673435"/>
                    <a:pt x="416317" y="688277"/>
                    <a:pt x="431527" y="694577"/>
                  </a:cubicBezTo>
                  <a:cubicBezTo>
                    <a:pt x="446736" y="700877"/>
                    <a:pt x="464243" y="697395"/>
                    <a:pt x="475884" y="685754"/>
                  </a:cubicBezTo>
                  <a:lnTo>
                    <a:pt x="743316" y="418322"/>
                  </a:lnTo>
                  <a:cubicBezTo>
                    <a:pt x="781691" y="379947"/>
                    <a:pt x="781691" y="317729"/>
                    <a:pt x="743316" y="279354"/>
                  </a:cubicBezTo>
                  <a:close/>
                </a:path>
              </a:pathLst>
            </a:custGeom>
            <a:solidFill>
              <a:srgbClr val="4E6C7E"/>
            </a:solidFill>
          </p:spPr>
          <p:txBody>
            <a:bodyPr/>
            <a:lstStyle/>
            <a:p>
              <a:endParaRPr lang="tr-TR"/>
            </a:p>
          </p:txBody>
        </p:sp>
        <p:sp>
          <p:nvSpPr>
            <p:cNvPr id="16" name="TextBox 16"/>
            <p:cNvSpPr txBox="1"/>
            <p:nvPr/>
          </p:nvSpPr>
          <p:spPr>
            <a:xfrm>
              <a:off x="0" y="174625"/>
              <a:ext cx="711200" cy="434975"/>
            </a:xfrm>
            <a:prstGeom prst="rect">
              <a:avLst/>
            </a:prstGeom>
          </p:spPr>
          <p:txBody>
            <a:bodyPr lIns="50800" tIns="50800" rIns="50800" bIns="50800" rtlCol="0" anchor="ctr"/>
            <a:lstStyle/>
            <a:p>
              <a:pPr algn="ctr">
                <a:lnSpc>
                  <a:spcPts val="2520"/>
                </a:lnSpc>
              </a:pPr>
              <a:endParaRPr/>
            </a:p>
          </p:txBody>
        </p:sp>
      </p:grpSp>
      <p:sp>
        <p:nvSpPr>
          <p:cNvPr id="17" name="AutoShape 17"/>
          <p:cNvSpPr/>
          <p:nvPr/>
        </p:nvSpPr>
        <p:spPr>
          <a:xfrm>
            <a:off x="705740" y="1915926"/>
            <a:ext cx="16553560" cy="0"/>
          </a:xfrm>
          <a:prstGeom prst="line">
            <a:avLst/>
          </a:prstGeom>
          <a:ln w="38100" cap="flat">
            <a:solidFill>
              <a:srgbClr val="000000"/>
            </a:solidFill>
            <a:prstDash val="solid"/>
            <a:headEnd type="diamond" w="lg" len="lg"/>
            <a:tailEnd type="diamond" w="lg" len="lg"/>
          </a:ln>
        </p:spPr>
        <p:txBody>
          <a:bodyPr/>
          <a:lstStyle/>
          <a:p>
            <a:endParaRPr lang="tr-TR"/>
          </a:p>
        </p:txBody>
      </p:sp>
      <p:grpSp>
        <p:nvGrpSpPr>
          <p:cNvPr id="18" name="Group 18"/>
          <p:cNvGrpSpPr/>
          <p:nvPr/>
        </p:nvGrpSpPr>
        <p:grpSpPr>
          <a:xfrm>
            <a:off x="16803283" y="-1088609"/>
            <a:ext cx="1928382" cy="1928382"/>
            <a:chOff x="0" y="0"/>
            <a:chExt cx="812800" cy="812800"/>
          </a:xfrm>
        </p:grpSpPr>
        <p:sp>
          <p:nvSpPr>
            <p:cNvPr id="19" name="Freeform 19"/>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1">
              <a:gsLst>
                <a:gs pos="0">
                  <a:srgbClr val="377FD6">
                    <a:alpha val="31000"/>
                  </a:srgbClr>
                </a:gs>
                <a:gs pos="100000">
                  <a:srgbClr val="CBE2FF">
                    <a:alpha val="31000"/>
                  </a:srgbClr>
                </a:gs>
              </a:gsLst>
              <a:lin ang="5400000"/>
            </a:gradFill>
          </p:spPr>
          <p:txBody>
            <a:bodyPr/>
            <a:lstStyle/>
            <a:p>
              <a:endParaRPr lang="tr-TR"/>
            </a:p>
          </p:txBody>
        </p:sp>
        <p:sp>
          <p:nvSpPr>
            <p:cNvPr id="20" name="TextBox 20"/>
            <p:cNvSpPr txBox="1"/>
            <p:nvPr/>
          </p:nvSpPr>
          <p:spPr>
            <a:xfrm>
              <a:off x="76200" y="47625"/>
              <a:ext cx="660400" cy="688975"/>
            </a:xfrm>
            <a:prstGeom prst="rect">
              <a:avLst/>
            </a:prstGeom>
          </p:spPr>
          <p:txBody>
            <a:bodyPr lIns="50800" tIns="50800" rIns="50800" bIns="50800" rtlCol="0" anchor="ctr"/>
            <a:lstStyle/>
            <a:p>
              <a:pPr algn="ctr">
                <a:lnSpc>
                  <a:spcPts val="2520"/>
                </a:lnSpc>
              </a:pPr>
              <a:endParaRPr/>
            </a:p>
          </p:txBody>
        </p:sp>
      </p:grpSp>
      <p:sp>
        <p:nvSpPr>
          <p:cNvPr id="21" name="Freeform 21"/>
          <p:cNvSpPr/>
          <p:nvPr/>
        </p:nvSpPr>
        <p:spPr>
          <a:xfrm>
            <a:off x="17374093" y="314756"/>
            <a:ext cx="393381" cy="393381"/>
          </a:xfrm>
          <a:custGeom>
            <a:avLst/>
            <a:gdLst/>
            <a:ahLst/>
            <a:cxnLst/>
            <a:rect l="l" t="t" r="r" b="b"/>
            <a:pathLst>
              <a:path w="393381" h="393381">
                <a:moveTo>
                  <a:pt x="0" y="0"/>
                </a:moveTo>
                <a:lnTo>
                  <a:pt x="393381" y="0"/>
                </a:lnTo>
                <a:lnTo>
                  <a:pt x="393381" y="393381"/>
                </a:lnTo>
                <a:lnTo>
                  <a:pt x="0" y="393381"/>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tr-TR"/>
          </a:p>
        </p:txBody>
      </p:sp>
      <p:grpSp>
        <p:nvGrpSpPr>
          <p:cNvPr id="22" name="Group 22"/>
          <p:cNvGrpSpPr/>
          <p:nvPr/>
        </p:nvGrpSpPr>
        <p:grpSpPr>
          <a:xfrm>
            <a:off x="-432853" y="5778620"/>
            <a:ext cx="6820358" cy="6820358"/>
            <a:chOff x="0" y="0"/>
            <a:chExt cx="812800" cy="812800"/>
          </a:xfrm>
        </p:grpSpPr>
        <p:sp>
          <p:nvSpPr>
            <p:cNvPr id="23" name="Freeform 23"/>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1">
              <a:gsLst>
                <a:gs pos="0">
                  <a:srgbClr val="377FD6">
                    <a:alpha val="8000"/>
                  </a:srgbClr>
                </a:gs>
                <a:gs pos="100000">
                  <a:srgbClr val="CBE2FF">
                    <a:alpha val="8000"/>
                  </a:srgbClr>
                </a:gs>
              </a:gsLst>
              <a:lin ang="5400000"/>
            </a:gradFill>
          </p:spPr>
          <p:txBody>
            <a:bodyPr/>
            <a:lstStyle/>
            <a:p>
              <a:endParaRPr lang="tr-TR"/>
            </a:p>
          </p:txBody>
        </p:sp>
        <p:sp>
          <p:nvSpPr>
            <p:cNvPr id="24" name="TextBox 24"/>
            <p:cNvSpPr txBox="1"/>
            <p:nvPr/>
          </p:nvSpPr>
          <p:spPr>
            <a:xfrm>
              <a:off x="76200" y="47625"/>
              <a:ext cx="660400" cy="688975"/>
            </a:xfrm>
            <a:prstGeom prst="rect">
              <a:avLst/>
            </a:prstGeom>
          </p:spPr>
          <p:txBody>
            <a:bodyPr lIns="50800" tIns="50800" rIns="50800" bIns="50800" rtlCol="0" anchor="ctr"/>
            <a:lstStyle/>
            <a:p>
              <a:pPr algn="ctr">
                <a:lnSpc>
                  <a:spcPts val="2520"/>
                </a:lnSpc>
              </a:pPr>
              <a:endParaRPr/>
            </a:p>
          </p:txBody>
        </p:sp>
      </p:grpSp>
      <p:grpSp>
        <p:nvGrpSpPr>
          <p:cNvPr id="25" name="Group 25"/>
          <p:cNvGrpSpPr/>
          <p:nvPr/>
        </p:nvGrpSpPr>
        <p:grpSpPr>
          <a:xfrm>
            <a:off x="10708298" y="6109197"/>
            <a:ext cx="7059176" cy="3789890"/>
            <a:chOff x="0" y="0"/>
            <a:chExt cx="9412235" cy="5053186"/>
          </a:xfrm>
        </p:grpSpPr>
        <p:grpSp>
          <p:nvGrpSpPr>
            <p:cNvPr id="26" name="Group 26"/>
            <p:cNvGrpSpPr/>
            <p:nvPr/>
          </p:nvGrpSpPr>
          <p:grpSpPr>
            <a:xfrm>
              <a:off x="199580" y="283592"/>
              <a:ext cx="9212655" cy="4769594"/>
              <a:chOff x="0" y="0"/>
              <a:chExt cx="1937717" cy="1003199"/>
            </a:xfrm>
          </p:grpSpPr>
          <p:sp>
            <p:nvSpPr>
              <p:cNvPr id="27" name="Freeform 27"/>
              <p:cNvSpPr/>
              <p:nvPr/>
            </p:nvSpPr>
            <p:spPr>
              <a:xfrm>
                <a:off x="0" y="0"/>
                <a:ext cx="1937717" cy="1003199"/>
              </a:xfrm>
              <a:custGeom>
                <a:avLst/>
                <a:gdLst/>
                <a:ahLst/>
                <a:cxnLst/>
                <a:rect l="l" t="t" r="r" b="b"/>
                <a:pathLst>
                  <a:path w="1937717" h="1003199">
                    <a:moveTo>
                      <a:pt x="16057" y="0"/>
                    </a:moveTo>
                    <a:lnTo>
                      <a:pt x="1921661" y="0"/>
                    </a:lnTo>
                    <a:cubicBezTo>
                      <a:pt x="1925919" y="0"/>
                      <a:pt x="1930003" y="1692"/>
                      <a:pt x="1933014" y="4703"/>
                    </a:cubicBezTo>
                    <a:cubicBezTo>
                      <a:pt x="1936025" y="7714"/>
                      <a:pt x="1937717" y="11798"/>
                      <a:pt x="1937717" y="16057"/>
                    </a:cubicBezTo>
                    <a:lnTo>
                      <a:pt x="1937717" y="987142"/>
                    </a:lnTo>
                    <a:cubicBezTo>
                      <a:pt x="1937717" y="991401"/>
                      <a:pt x="1936025" y="995485"/>
                      <a:pt x="1933014" y="998496"/>
                    </a:cubicBezTo>
                    <a:cubicBezTo>
                      <a:pt x="1930003" y="1001507"/>
                      <a:pt x="1925919" y="1003199"/>
                      <a:pt x="1921661" y="1003199"/>
                    </a:cubicBezTo>
                    <a:lnTo>
                      <a:pt x="16057" y="1003199"/>
                    </a:lnTo>
                    <a:cubicBezTo>
                      <a:pt x="11798" y="1003199"/>
                      <a:pt x="7714" y="1001507"/>
                      <a:pt x="4703" y="998496"/>
                    </a:cubicBezTo>
                    <a:cubicBezTo>
                      <a:pt x="1692" y="995485"/>
                      <a:pt x="0" y="991401"/>
                      <a:pt x="0" y="987142"/>
                    </a:cubicBezTo>
                    <a:lnTo>
                      <a:pt x="0" y="16057"/>
                    </a:lnTo>
                    <a:cubicBezTo>
                      <a:pt x="0" y="11798"/>
                      <a:pt x="1692" y="7714"/>
                      <a:pt x="4703" y="4703"/>
                    </a:cubicBezTo>
                    <a:cubicBezTo>
                      <a:pt x="7714" y="1692"/>
                      <a:pt x="11798" y="0"/>
                      <a:pt x="16057" y="0"/>
                    </a:cubicBezTo>
                    <a:close/>
                  </a:path>
                </a:pathLst>
              </a:custGeom>
              <a:solidFill>
                <a:srgbClr val="4E6C7E"/>
              </a:solidFill>
              <a:ln w="19050" cap="rnd">
                <a:solidFill>
                  <a:srgbClr val="4383D1"/>
                </a:solidFill>
                <a:prstDash val="solid"/>
                <a:round/>
              </a:ln>
            </p:spPr>
            <p:txBody>
              <a:bodyPr/>
              <a:lstStyle/>
              <a:p>
                <a:endParaRPr lang="tr-TR"/>
              </a:p>
            </p:txBody>
          </p:sp>
          <p:sp>
            <p:nvSpPr>
              <p:cNvPr id="28" name="TextBox 28"/>
              <p:cNvSpPr txBox="1"/>
              <p:nvPr/>
            </p:nvSpPr>
            <p:spPr>
              <a:xfrm>
                <a:off x="0" y="-28575"/>
                <a:ext cx="1937717" cy="1031774"/>
              </a:xfrm>
              <a:prstGeom prst="rect">
                <a:avLst/>
              </a:prstGeom>
            </p:spPr>
            <p:txBody>
              <a:bodyPr lIns="50800" tIns="50800" rIns="50800" bIns="50800" rtlCol="0" anchor="ctr"/>
              <a:lstStyle/>
              <a:p>
                <a:pPr algn="ctr">
                  <a:lnSpc>
                    <a:spcPts val="2519"/>
                  </a:lnSpc>
                </a:pPr>
                <a:endParaRPr/>
              </a:p>
            </p:txBody>
          </p:sp>
        </p:grpSp>
        <p:grpSp>
          <p:nvGrpSpPr>
            <p:cNvPr id="29" name="Group 29"/>
            <p:cNvGrpSpPr/>
            <p:nvPr/>
          </p:nvGrpSpPr>
          <p:grpSpPr>
            <a:xfrm>
              <a:off x="0" y="0"/>
              <a:ext cx="9212655" cy="4769594"/>
              <a:chOff x="0" y="0"/>
              <a:chExt cx="1937717" cy="1003199"/>
            </a:xfrm>
          </p:grpSpPr>
          <p:sp>
            <p:nvSpPr>
              <p:cNvPr id="30" name="Freeform 30"/>
              <p:cNvSpPr/>
              <p:nvPr/>
            </p:nvSpPr>
            <p:spPr>
              <a:xfrm>
                <a:off x="0" y="0"/>
                <a:ext cx="1937717" cy="1003199"/>
              </a:xfrm>
              <a:custGeom>
                <a:avLst/>
                <a:gdLst/>
                <a:ahLst/>
                <a:cxnLst/>
                <a:rect l="l" t="t" r="r" b="b"/>
                <a:pathLst>
                  <a:path w="1937717" h="1003199">
                    <a:moveTo>
                      <a:pt x="16057" y="0"/>
                    </a:moveTo>
                    <a:lnTo>
                      <a:pt x="1921661" y="0"/>
                    </a:lnTo>
                    <a:cubicBezTo>
                      <a:pt x="1925919" y="0"/>
                      <a:pt x="1930003" y="1692"/>
                      <a:pt x="1933014" y="4703"/>
                    </a:cubicBezTo>
                    <a:cubicBezTo>
                      <a:pt x="1936025" y="7714"/>
                      <a:pt x="1937717" y="11798"/>
                      <a:pt x="1937717" y="16057"/>
                    </a:cubicBezTo>
                    <a:lnTo>
                      <a:pt x="1937717" y="987142"/>
                    </a:lnTo>
                    <a:cubicBezTo>
                      <a:pt x="1937717" y="991401"/>
                      <a:pt x="1936025" y="995485"/>
                      <a:pt x="1933014" y="998496"/>
                    </a:cubicBezTo>
                    <a:cubicBezTo>
                      <a:pt x="1930003" y="1001507"/>
                      <a:pt x="1925919" y="1003199"/>
                      <a:pt x="1921661" y="1003199"/>
                    </a:cubicBezTo>
                    <a:lnTo>
                      <a:pt x="16057" y="1003199"/>
                    </a:lnTo>
                    <a:cubicBezTo>
                      <a:pt x="11798" y="1003199"/>
                      <a:pt x="7714" y="1001507"/>
                      <a:pt x="4703" y="998496"/>
                    </a:cubicBezTo>
                    <a:cubicBezTo>
                      <a:pt x="1692" y="995485"/>
                      <a:pt x="0" y="991401"/>
                      <a:pt x="0" y="987142"/>
                    </a:cubicBezTo>
                    <a:lnTo>
                      <a:pt x="0" y="16057"/>
                    </a:lnTo>
                    <a:cubicBezTo>
                      <a:pt x="0" y="11798"/>
                      <a:pt x="1692" y="7714"/>
                      <a:pt x="4703" y="4703"/>
                    </a:cubicBezTo>
                    <a:cubicBezTo>
                      <a:pt x="7714" y="1692"/>
                      <a:pt x="11798" y="0"/>
                      <a:pt x="16057" y="0"/>
                    </a:cubicBezTo>
                    <a:close/>
                  </a:path>
                </a:pathLst>
              </a:custGeom>
              <a:solidFill>
                <a:srgbClr val="FFFFFF"/>
              </a:solidFill>
              <a:ln w="19050" cap="rnd">
                <a:solidFill>
                  <a:srgbClr val="4383D1"/>
                </a:solidFill>
                <a:prstDash val="solid"/>
                <a:round/>
              </a:ln>
            </p:spPr>
            <p:txBody>
              <a:bodyPr/>
              <a:lstStyle/>
              <a:p>
                <a:endParaRPr lang="tr-TR"/>
              </a:p>
            </p:txBody>
          </p:sp>
          <p:sp>
            <p:nvSpPr>
              <p:cNvPr id="31" name="TextBox 31"/>
              <p:cNvSpPr txBox="1"/>
              <p:nvPr/>
            </p:nvSpPr>
            <p:spPr>
              <a:xfrm>
                <a:off x="0" y="-28575"/>
                <a:ext cx="1937717" cy="1031774"/>
              </a:xfrm>
              <a:prstGeom prst="rect">
                <a:avLst/>
              </a:prstGeom>
            </p:spPr>
            <p:txBody>
              <a:bodyPr lIns="50800" tIns="50800" rIns="50800" bIns="50800" rtlCol="0" anchor="ctr"/>
              <a:lstStyle/>
              <a:p>
                <a:pPr algn="ctr">
                  <a:lnSpc>
                    <a:spcPts val="2519"/>
                  </a:lnSpc>
                </a:pPr>
                <a:endParaRPr/>
              </a:p>
            </p:txBody>
          </p:sp>
        </p:grpSp>
      </p:grpSp>
      <p:grpSp>
        <p:nvGrpSpPr>
          <p:cNvPr id="32" name="Group 32"/>
          <p:cNvGrpSpPr/>
          <p:nvPr/>
        </p:nvGrpSpPr>
        <p:grpSpPr>
          <a:xfrm>
            <a:off x="10907466" y="6901660"/>
            <a:ext cx="393928" cy="393928"/>
            <a:chOff x="0" y="0"/>
            <a:chExt cx="812800" cy="812800"/>
          </a:xfrm>
        </p:grpSpPr>
        <p:sp>
          <p:nvSpPr>
            <p:cNvPr id="33" name="Freeform 33"/>
            <p:cNvSpPr/>
            <p:nvPr/>
          </p:nvSpPr>
          <p:spPr>
            <a:xfrm>
              <a:off x="0" y="57562"/>
              <a:ext cx="772097" cy="697677"/>
            </a:xfrm>
            <a:custGeom>
              <a:avLst/>
              <a:gdLst/>
              <a:ahLst/>
              <a:cxnLst/>
              <a:rect l="l" t="t" r="r" b="b"/>
              <a:pathLst>
                <a:path w="772097" h="697677">
                  <a:moveTo>
                    <a:pt x="743316" y="279354"/>
                  </a:moveTo>
                  <a:lnTo>
                    <a:pt x="475884" y="11922"/>
                  </a:lnTo>
                  <a:cubicBezTo>
                    <a:pt x="464243" y="281"/>
                    <a:pt x="446736" y="-3201"/>
                    <a:pt x="431527" y="3099"/>
                  </a:cubicBezTo>
                  <a:cubicBezTo>
                    <a:pt x="416317" y="9399"/>
                    <a:pt x="406400" y="24241"/>
                    <a:pt x="406400" y="40704"/>
                  </a:cubicBezTo>
                  <a:lnTo>
                    <a:pt x="406400" y="47372"/>
                  </a:lnTo>
                  <a:cubicBezTo>
                    <a:pt x="406400" y="101643"/>
                    <a:pt x="362405" y="145638"/>
                    <a:pt x="308134" y="145638"/>
                  </a:cubicBezTo>
                  <a:lnTo>
                    <a:pt x="98266" y="145638"/>
                  </a:lnTo>
                  <a:cubicBezTo>
                    <a:pt x="43995" y="145638"/>
                    <a:pt x="0" y="189633"/>
                    <a:pt x="0" y="243904"/>
                  </a:cubicBezTo>
                  <a:lnTo>
                    <a:pt x="0" y="453772"/>
                  </a:lnTo>
                  <a:cubicBezTo>
                    <a:pt x="0" y="508043"/>
                    <a:pt x="43995" y="552038"/>
                    <a:pt x="98266" y="552038"/>
                  </a:cubicBezTo>
                  <a:lnTo>
                    <a:pt x="308134" y="552038"/>
                  </a:lnTo>
                  <a:cubicBezTo>
                    <a:pt x="362405" y="552038"/>
                    <a:pt x="406400" y="596033"/>
                    <a:pt x="406400" y="650304"/>
                  </a:cubicBezTo>
                  <a:lnTo>
                    <a:pt x="406400" y="656972"/>
                  </a:lnTo>
                  <a:cubicBezTo>
                    <a:pt x="406400" y="673435"/>
                    <a:pt x="416317" y="688277"/>
                    <a:pt x="431527" y="694577"/>
                  </a:cubicBezTo>
                  <a:cubicBezTo>
                    <a:pt x="446736" y="700877"/>
                    <a:pt x="464243" y="697395"/>
                    <a:pt x="475884" y="685754"/>
                  </a:cubicBezTo>
                  <a:lnTo>
                    <a:pt x="743316" y="418322"/>
                  </a:lnTo>
                  <a:cubicBezTo>
                    <a:pt x="781691" y="379947"/>
                    <a:pt x="781691" y="317729"/>
                    <a:pt x="743316" y="279354"/>
                  </a:cubicBezTo>
                  <a:close/>
                </a:path>
              </a:pathLst>
            </a:custGeom>
            <a:solidFill>
              <a:srgbClr val="4E6C7E"/>
            </a:solidFill>
          </p:spPr>
          <p:txBody>
            <a:bodyPr/>
            <a:lstStyle/>
            <a:p>
              <a:endParaRPr lang="tr-TR"/>
            </a:p>
          </p:txBody>
        </p:sp>
        <p:sp>
          <p:nvSpPr>
            <p:cNvPr id="34" name="TextBox 34"/>
            <p:cNvSpPr txBox="1"/>
            <p:nvPr/>
          </p:nvSpPr>
          <p:spPr>
            <a:xfrm>
              <a:off x="0" y="174625"/>
              <a:ext cx="711200" cy="434975"/>
            </a:xfrm>
            <a:prstGeom prst="rect">
              <a:avLst/>
            </a:prstGeom>
          </p:spPr>
          <p:txBody>
            <a:bodyPr lIns="50800" tIns="50800" rIns="50800" bIns="50800" rtlCol="0" anchor="ctr"/>
            <a:lstStyle/>
            <a:p>
              <a:pPr algn="ctr">
                <a:lnSpc>
                  <a:spcPts val="2520"/>
                </a:lnSpc>
              </a:pPr>
              <a:endParaRPr/>
            </a:p>
          </p:txBody>
        </p:sp>
      </p:grpSp>
      <p:grpSp>
        <p:nvGrpSpPr>
          <p:cNvPr id="35" name="Group 35"/>
          <p:cNvGrpSpPr/>
          <p:nvPr/>
        </p:nvGrpSpPr>
        <p:grpSpPr>
          <a:xfrm>
            <a:off x="16237858" y="10271261"/>
            <a:ext cx="7059176" cy="3789890"/>
            <a:chOff x="0" y="0"/>
            <a:chExt cx="9412235" cy="5053186"/>
          </a:xfrm>
        </p:grpSpPr>
        <p:grpSp>
          <p:nvGrpSpPr>
            <p:cNvPr id="36" name="Group 36"/>
            <p:cNvGrpSpPr/>
            <p:nvPr/>
          </p:nvGrpSpPr>
          <p:grpSpPr>
            <a:xfrm>
              <a:off x="199580" y="283592"/>
              <a:ext cx="9212655" cy="4769594"/>
              <a:chOff x="0" y="0"/>
              <a:chExt cx="1937717" cy="1003199"/>
            </a:xfrm>
          </p:grpSpPr>
          <p:sp>
            <p:nvSpPr>
              <p:cNvPr id="37" name="Freeform 37"/>
              <p:cNvSpPr/>
              <p:nvPr/>
            </p:nvSpPr>
            <p:spPr>
              <a:xfrm>
                <a:off x="0" y="0"/>
                <a:ext cx="1937717" cy="1003199"/>
              </a:xfrm>
              <a:custGeom>
                <a:avLst/>
                <a:gdLst/>
                <a:ahLst/>
                <a:cxnLst/>
                <a:rect l="l" t="t" r="r" b="b"/>
                <a:pathLst>
                  <a:path w="1937717" h="1003199">
                    <a:moveTo>
                      <a:pt x="16057" y="0"/>
                    </a:moveTo>
                    <a:lnTo>
                      <a:pt x="1921661" y="0"/>
                    </a:lnTo>
                    <a:cubicBezTo>
                      <a:pt x="1925919" y="0"/>
                      <a:pt x="1930003" y="1692"/>
                      <a:pt x="1933014" y="4703"/>
                    </a:cubicBezTo>
                    <a:cubicBezTo>
                      <a:pt x="1936025" y="7714"/>
                      <a:pt x="1937717" y="11798"/>
                      <a:pt x="1937717" y="16057"/>
                    </a:cubicBezTo>
                    <a:lnTo>
                      <a:pt x="1937717" y="987142"/>
                    </a:lnTo>
                    <a:cubicBezTo>
                      <a:pt x="1937717" y="991401"/>
                      <a:pt x="1936025" y="995485"/>
                      <a:pt x="1933014" y="998496"/>
                    </a:cubicBezTo>
                    <a:cubicBezTo>
                      <a:pt x="1930003" y="1001507"/>
                      <a:pt x="1925919" y="1003199"/>
                      <a:pt x="1921661" y="1003199"/>
                    </a:cubicBezTo>
                    <a:lnTo>
                      <a:pt x="16057" y="1003199"/>
                    </a:lnTo>
                    <a:cubicBezTo>
                      <a:pt x="11798" y="1003199"/>
                      <a:pt x="7714" y="1001507"/>
                      <a:pt x="4703" y="998496"/>
                    </a:cubicBezTo>
                    <a:cubicBezTo>
                      <a:pt x="1692" y="995485"/>
                      <a:pt x="0" y="991401"/>
                      <a:pt x="0" y="987142"/>
                    </a:cubicBezTo>
                    <a:lnTo>
                      <a:pt x="0" y="16057"/>
                    </a:lnTo>
                    <a:cubicBezTo>
                      <a:pt x="0" y="11798"/>
                      <a:pt x="1692" y="7714"/>
                      <a:pt x="4703" y="4703"/>
                    </a:cubicBezTo>
                    <a:cubicBezTo>
                      <a:pt x="7714" y="1692"/>
                      <a:pt x="11798" y="0"/>
                      <a:pt x="16057" y="0"/>
                    </a:cubicBezTo>
                    <a:close/>
                  </a:path>
                </a:pathLst>
              </a:custGeom>
              <a:solidFill>
                <a:srgbClr val="4E6C7E"/>
              </a:solidFill>
              <a:ln w="19050" cap="rnd">
                <a:solidFill>
                  <a:srgbClr val="4383D1"/>
                </a:solidFill>
                <a:prstDash val="solid"/>
                <a:round/>
              </a:ln>
            </p:spPr>
            <p:txBody>
              <a:bodyPr/>
              <a:lstStyle/>
              <a:p>
                <a:endParaRPr lang="tr-TR"/>
              </a:p>
            </p:txBody>
          </p:sp>
          <p:sp>
            <p:nvSpPr>
              <p:cNvPr id="38" name="TextBox 38"/>
              <p:cNvSpPr txBox="1"/>
              <p:nvPr/>
            </p:nvSpPr>
            <p:spPr>
              <a:xfrm>
                <a:off x="0" y="-28575"/>
                <a:ext cx="1937717" cy="1031774"/>
              </a:xfrm>
              <a:prstGeom prst="rect">
                <a:avLst/>
              </a:prstGeom>
            </p:spPr>
            <p:txBody>
              <a:bodyPr lIns="50800" tIns="50800" rIns="50800" bIns="50800" rtlCol="0" anchor="ctr"/>
              <a:lstStyle/>
              <a:p>
                <a:pPr algn="ctr">
                  <a:lnSpc>
                    <a:spcPts val="2519"/>
                  </a:lnSpc>
                </a:pPr>
                <a:endParaRPr/>
              </a:p>
            </p:txBody>
          </p:sp>
        </p:grpSp>
        <p:grpSp>
          <p:nvGrpSpPr>
            <p:cNvPr id="39" name="Group 39"/>
            <p:cNvGrpSpPr/>
            <p:nvPr/>
          </p:nvGrpSpPr>
          <p:grpSpPr>
            <a:xfrm>
              <a:off x="0" y="0"/>
              <a:ext cx="9212655" cy="4769594"/>
              <a:chOff x="0" y="0"/>
              <a:chExt cx="1937717" cy="1003199"/>
            </a:xfrm>
          </p:grpSpPr>
          <p:sp>
            <p:nvSpPr>
              <p:cNvPr id="40" name="Freeform 40"/>
              <p:cNvSpPr/>
              <p:nvPr/>
            </p:nvSpPr>
            <p:spPr>
              <a:xfrm>
                <a:off x="0" y="0"/>
                <a:ext cx="1937717" cy="1003199"/>
              </a:xfrm>
              <a:custGeom>
                <a:avLst/>
                <a:gdLst/>
                <a:ahLst/>
                <a:cxnLst/>
                <a:rect l="l" t="t" r="r" b="b"/>
                <a:pathLst>
                  <a:path w="1937717" h="1003199">
                    <a:moveTo>
                      <a:pt x="16057" y="0"/>
                    </a:moveTo>
                    <a:lnTo>
                      <a:pt x="1921661" y="0"/>
                    </a:lnTo>
                    <a:cubicBezTo>
                      <a:pt x="1925919" y="0"/>
                      <a:pt x="1930003" y="1692"/>
                      <a:pt x="1933014" y="4703"/>
                    </a:cubicBezTo>
                    <a:cubicBezTo>
                      <a:pt x="1936025" y="7714"/>
                      <a:pt x="1937717" y="11798"/>
                      <a:pt x="1937717" y="16057"/>
                    </a:cubicBezTo>
                    <a:lnTo>
                      <a:pt x="1937717" y="987142"/>
                    </a:lnTo>
                    <a:cubicBezTo>
                      <a:pt x="1937717" y="991401"/>
                      <a:pt x="1936025" y="995485"/>
                      <a:pt x="1933014" y="998496"/>
                    </a:cubicBezTo>
                    <a:cubicBezTo>
                      <a:pt x="1930003" y="1001507"/>
                      <a:pt x="1925919" y="1003199"/>
                      <a:pt x="1921661" y="1003199"/>
                    </a:cubicBezTo>
                    <a:lnTo>
                      <a:pt x="16057" y="1003199"/>
                    </a:lnTo>
                    <a:cubicBezTo>
                      <a:pt x="11798" y="1003199"/>
                      <a:pt x="7714" y="1001507"/>
                      <a:pt x="4703" y="998496"/>
                    </a:cubicBezTo>
                    <a:cubicBezTo>
                      <a:pt x="1692" y="995485"/>
                      <a:pt x="0" y="991401"/>
                      <a:pt x="0" y="987142"/>
                    </a:cubicBezTo>
                    <a:lnTo>
                      <a:pt x="0" y="16057"/>
                    </a:lnTo>
                    <a:cubicBezTo>
                      <a:pt x="0" y="11798"/>
                      <a:pt x="1692" y="7714"/>
                      <a:pt x="4703" y="4703"/>
                    </a:cubicBezTo>
                    <a:cubicBezTo>
                      <a:pt x="7714" y="1692"/>
                      <a:pt x="11798" y="0"/>
                      <a:pt x="16057" y="0"/>
                    </a:cubicBezTo>
                    <a:close/>
                  </a:path>
                </a:pathLst>
              </a:custGeom>
              <a:solidFill>
                <a:srgbClr val="FFFFFF"/>
              </a:solidFill>
              <a:ln w="19050" cap="rnd">
                <a:solidFill>
                  <a:srgbClr val="4383D1"/>
                </a:solidFill>
                <a:prstDash val="solid"/>
                <a:round/>
              </a:ln>
            </p:spPr>
            <p:txBody>
              <a:bodyPr/>
              <a:lstStyle/>
              <a:p>
                <a:endParaRPr lang="tr-TR"/>
              </a:p>
            </p:txBody>
          </p:sp>
          <p:sp>
            <p:nvSpPr>
              <p:cNvPr id="41" name="TextBox 41"/>
              <p:cNvSpPr txBox="1"/>
              <p:nvPr/>
            </p:nvSpPr>
            <p:spPr>
              <a:xfrm>
                <a:off x="0" y="-28575"/>
                <a:ext cx="1937717" cy="1031774"/>
              </a:xfrm>
              <a:prstGeom prst="rect">
                <a:avLst/>
              </a:prstGeom>
            </p:spPr>
            <p:txBody>
              <a:bodyPr lIns="50800" tIns="50800" rIns="50800" bIns="50800" rtlCol="0" anchor="ctr"/>
              <a:lstStyle/>
              <a:p>
                <a:pPr algn="ctr">
                  <a:lnSpc>
                    <a:spcPts val="2519"/>
                  </a:lnSpc>
                </a:pPr>
                <a:endParaRPr/>
              </a:p>
            </p:txBody>
          </p:sp>
        </p:grpSp>
      </p:grpSp>
      <p:sp>
        <p:nvSpPr>
          <p:cNvPr id="42" name="Freeform 42"/>
          <p:cNvSpPr/>
          <p:nvPr/>
        </p:nvSpPr>
        <p:spPr>
          <a:xfrm>
            <a:off x="14301976" y="2230251"/>
            <a:ext cx="2923333" cy="4594629"/>
          </a:xfrm>
          <a:custGeom>
            <a:avLst/>
            <a:gdLst/>
            <a:ahLst/>
            <a:cxnLst/>
            <a:rect l="l" t="t" r="r" b="b"/>
            <a:pathLst>
              <a:path w="2923333" h="4594629">
                <a:moveTo>
                  <a:pt x="0" y="0"/>
                </a:moveTo>
                <a:lnTo>
                  <a:pt x="2923333" y="0"/>
                </a:lnTo>
                <a:lnTo>
                  <a:pt x="2923333" y="4594630"/>
                </a:lnTo>
                <a:lnTo>
                  <a:pt x="0" y="4594630"/>
                </a:lnTo>
                <a:lnTo>
                  <a:pt x="0" y="0"/>
                </a:lnTo>
                <a:close/>
              </a:path>
            </a:pathLst>
          </a:custGeom>
          <a:blipFill>
            <a:blip r:embed="rId4"/>
            <a:stretch>
              <a:fillRect/>
            </a:stretch>
          </a:blipFill>
        </p:spPr>
        <p:txBody>
          <a:bodyPr/>
          <a:lstStyle/>
          <a:p>
            <a:endParaRPr lang="tr-TR"/>
          </a:p>
        </p:txBody>
      </p:sp>
      <p:sp>
        <p:nvSpPr>
          <p:cNvPr id="43" name="Freeform 43"/>
          <p:cNvSpPr/>
          <p:nvPr/>
        </p:nvSpPr>
        <p:spPr>
          <a:xfrm>
            <a:off x="5786822" y="6109197"/>
            <a:ext cx="4246375" cy="3789890"/>
          </a:xfrm>
          <a:custGeom>
            <a:avLst/>
            <a:gdLst/>
            <a:ahLst/>
            <a:cxnLst/>
            <a:rect l="l" t="t" r="r" b="b"/>
            <a:pathLst>
              <a:path w="4246375" h="3789890">
                <a:moveTo>
                  <a:pt x="0" y="0"/>
                </a:moveTo>
                <a:lnTo>
                  <a:pt x="4246375" y="0"/>
                </a:lnTo>
                <a:lnTo>
                  <a:pt x="4246375" y="3789889"/>
                </a:lnTo>
                <a:lnTo>
                  <a:pt x="0" y="3789889"/>
                </a:lnTo>
                <a:lnTo>
                  <a:pt x="0" y="0"/>
                </a:lnTo>
                <a:close/>
              </a:path>
            </a:pathLst>
          </a:custGeom>
          <a:blipFill>
            <a:blip r:embed="rId5"/>
            <a:stretch>
              <a:fillRect/>
            </a:stretch>
          </a:blipFill>
        </p:spPr>
        <p:txBody>
          <a:bodyPr/>
          <a:lstStyle/>
          <a:p>
            <a:endParaRPr lang="tr-TR"/>
          </a:p>
        </p:txBody>
      </p:sp>
      <p:sp>
        <p:nvSpPr>
          <p:cNvPr id="44" name="TextBox 44"/>
          <p:cNvSpPr txBox="1"/>
          <p:nvPr/>
        </p:nvSpPr>
        <p:spPr>
          <a:xfrm>
            <a:off x="705740" y="725473"/>
            <a:ext cx="17061733" cy="995620"/>
          </a:xfrm>
          <a:prstGeom prst="rect">
            <a:avLst/>
          </a:prstGeom>
        </p:spPr>
        <p:txBody>
          <a:bodyPr lIns="0" tIns="0" rIns="0" bIns="0" rtlCol="0" anchor="t">
            <a:spAutoFit/>
          </a:bodyPr>
          <a:lstStyle/>
          <a:p>
            <a:pPr marL="0" lvl="0" indent="0" algn="l">
              <a:lnSpc>
                <a:spcPts val="8119"/>
              </a:lnSpc>
              <a:spcBef>
                <a:spcPct val="0"/>
              </a:spcBef>
            </a:pPr>
            <a:r>
              <a:rPr lang="en-US" sz="5799" b="1" u="none" strike="noStrike">
                <a:solidFill>
                  <a:srgbClr val="154562"/>
                </a:solidFill>
                <a:latin typeface="Montserrat Ultra-Bold"/>
                <a:ea typeface="Montserrat Ultra-Bold"/>
                <a:cs typeface="Montserrat Ultra-Bold"/>
                <a:sym typeface="Montserrat Ultra-Bold"/>
              </a:rPr>
              <a:t>Literatürdeki Problem ve Projenin Amacı</a:t>
            </a:r>
          </a:p>
        </p:txBody>
      </p:sp>
      <p:sp>
        <p:nvSpPr>
          <p:cNvPr id="45" name="TextBox 45"/>
          <p:cNvSpPr txBox="1"/>
          <p:nvPr/>
        </p:nvSpPr>
        <p:spPr>
          <a:xfrm>
            <a:off x="5257540" y="2529431"/>
            <a:ext cx="1877064" cy="396599"/>
          </a:xfrm>
          <a:prstGeom prst="rect">
            <a:avLst/>
          </a:prstGeom>
        </p:spPr>
        <p:txBody>
          <a:bodyPr lIns="0" tIns="0" rIns="0" bIns="0" rtlCol="0" anchor="t">
            <a:spAutoFit/>
          </a:bodyPr>
          <a:lstStyle/>
          <a:p>
            <a:pPr algn="just">
              <a:lnSpc>
                <a:spcPts val="3132"/>
              </a:lnSpc>
            </a:pPr>
            <a:r>
              <a:rPr lang="en-US" sz="2900" b="1">
                <a:solidFill>
                  <a:srgbClr val="000000"/>
                </a:solidFill>
                <a:latin typeface="Montserrat Bold"/>
                <a:ea typeface="Montserrat Bold"/>
                <a:cs typeface="Montserrat Bold"/>
                <a:sym typeface="Montserrat Bold"/>
              </a:rPr>
              <a:t>Problem:</a:t>
            </a:r>
          </a:p>
        </p:txBody>
      </p:sp>
      <p:sp>
        <p:nvSpPr>
          <p:cNvPr id="46" name="TextBox 46"/>
          <p:cNvSpPr txBox="1"/>
          <p:nvPr/>
        </p:nvSpPr>
        <p:spPr>
          <a:xfrm>
            <a:off x="5257540" y="2899204"/>
            <a:ext cx="6012955" cy="2725267"/>
          </a:xfrm>
          <a:prstGeom prst="rect">
            <a:avLst/>
          </a:prstGeom>
        </p:spPr>
        <p:txBody>
          <a:bodyPr lIns="0" tIns="0" rIns="0" bIns="0" rtlCol="0" anchor="t">
            <a:spAutoFit/>
          </a:bodyPr>
          <a:lstStyle/>
          <a:p>
            <a:pPr algn="just">
              <a:lnSpc>
                <a:spcPts val="3079"/>
              </a:lnSpc>
            </a:pPr>
            <a:r>
              <a:rPr lang="en-US" sz="2199" b="1">
                <a:solidFill>
                  <a:srgbClr val="000000"/>
                </a:solidFill>
                <a:latin typeface="Quicksand Semi-Bold"/>
                <a:ea typeface="Quicksand Semi-Bold"/>
                <a:cs typeface="Quicksand Semi-Bold"/>
                <a:sym typeface="Quicksand Semi-Bold"/>
              </a:rPr>
              <a:t>Günümüzde tüp bebek (IVF) kliniklerinde embriyo kalitesi, embriyologlar tarafından mikroskop görüntüleri üzerinden görsel olarak değerlendirilmektedir. Bu durum, kararların kişiden kişiye değişmesine, yorgunluğa bağlı hatalara ve ciddi bir zaman kaybına neden olmaktadır.</a:t>
            </a:r>
          </a:p>
        </p:txBody>
      </p:sp>
      <p:sp>
        <p:nvSpPr>
          <p:cNvPr id="47" name="TextBox 47"/>
          <p:cNvSpPr txBox="1"/>
          <p:nvPr/>
        </p:nvSpPr>
        <p:spPr>
          <a:xfrm>
            <a:off x="11441208" y="6428281"/>
            <a:ext cx="2205124" cy="396599"/>
          </a:xfrm>
          <a:prstGeom prst="rect">
            <a:avLst/>
          </a:prstGeom>
        </p:spPr>
        <p:txBody>
          <a:bodyPr lIns="0" tIns="0" rIns="0" bIns="0" rtlCol="0" anchor="t">
            <a:spAutoFit/>
          </a:bodyPr>
          <a:lstStyle/>
          <a:p>
            <a:pPr algn="just">
              <a:lnSpc>
                <a:spcPts val="3132"/>
              </a:lnSpc>
            </a:pPr>
            <a:r>
              <a:rPr lang="en-US" sz="2900" b="1">
                <a:solidFill>
                  <a:srgbClr val="000000"/>
                </a:solidFill>
                <a:latin typeface="Montserrat Bold"/>
                <a:ea typeface="Montserrat Bold"/>
                <a:cs typeface="Montserrat Bold"/>
                <a:sym typeface="Montserrat Bold"/>
              </a:rPr>
              <a:t>Amacımız:</a:t>
            </a:r>
          </a:p>
        </p:txBody>
      </p:sp>
      <p:sp>
        <p:nvSpPr>
          <p:cNvPr id="48" name="TextBox 48"/>
          <p:cNvSpPr txBox="1"/>
          <p:nvPr/>
        </p:nvSpPr>
        <p:spPr>
          <a:xfrm>
            <a:off x="11441208" y="6854035"/>
            <a:ext cx="5932885" cy="2334764"/>
          </a:xfrm>
          <a:prstGeom prst="rect">
            <a:avLst/>
          </a:prstGeom>
        </p:spPr>
        <p:txBody>
          <a:bodyPr lIns="0" tIns="0" rIns="0" bIns="0" rtlCol="0" anchor="t">
            <a:spAutoFit/>
          </a:bodyPr>
          <a:lstStyle/>
          <a:p>
            <a:pPr algn="just">
              <a:lnSpc>
                <a:spcPts val="3079"/>
              </a:lnSpc>
            </a:pPr>
            <a:r>
              <a:rPr lang="en-US" sz="2199" b="1">
                <a:solidFill>
                  <a:srgbClr val="000000"/>
                </a:solidFill>
                <a:latin typeface="Quicksand Semi-Bold"/>
                <a:ea typeface="Quicksand Semi-Bold"/>
                <a:cs typeface="Quicksand Semi-Bold"/>
                <a:sym typeface="Quicksand Semi-Bold"/>
              </a:rPr>
              <a:t>Projemizin temel amacı; derin öğrenme teknolojilerini kullanarak bu süreci standardize etmek, insan hatasını en aza indirmek ve embriyoloğa şeffaf bir 'İkinci Bir Görüş' sağlayan uçtan uca bir klinik karar destek yazılımı oluşturmaktır.</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345766" y="5457640"/>
            <a:ext cx="5581577" cy="5581577"/>
            <a:chOff x="0" y="0"/>
            <a:chExt cx="812800" cy="812800"/>
          </a:xfrm>
        </p:grpSpPr>
        <p:sp>
          <p:nvSpPr>
            <p:cNvPr id="3" name="Freeform 3"/>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1">
              <a:gsLst>
                <a:gs pos="0">
                  <a:srgbClr val="377FD6">
                    <a:alpha val="31000"/>
                  </a:srgbClr>
                </a:gs>
                <a:gs pos="100000">
                  <a:srgbClr val="CBE2FF">
                    <a:alpha val="31000"/>
                  </a:srgbClr>
                </a:gs>
              </a:gsLst>
              <a:lin ang="5400000"/>
            </a:gradFill>
          </p:spPr>
          <p:txBody>
            <a:bodyPr/>
            <a:lstStyle/>
            <a:p>
              <a:endParaRPr lang="tr-TR"/>
            </a:p>
          </p:txBody>
        </p:sp>
        <p:sp>
          <p:nvSpPr>
            <p:cNvPr id="4" name="TextBox 4"/>
            <p:cNvSpPr txBox="1"/>
            <p:nvPr/>
          </p:nvSpPr>
          <p:spPr>
            <a:xfrm>
              <a:off x="76200" y="47625"/>
              <a:ext cx="660400" cy="688975"/>
            </a:xfrm>
            <a:prstGeom prst="rect">
              <a:avLst/>
            </a:prstGeom>
          </p:spPr>
          <p:txBody>
            <a:bodyPr lIns="50800" tIns="50800" rIns="50800" bIns="50800" rtlCol="0" anchor="ctr"/>
            <a:lstStyle/>
            <a:p>
              <a:pPr algn="ctr">
                <a:lnSpc>
                  <a:spcPts val="2520"/>
                </a:lnSpc>
              </a:pPr>
              <a:endParaRPr/>
            </a:p>
          </p:txBody>
        </p:sp>
      </p:grpSp>
      <p:grpSp>
        <p:nvGrpSpPr>
          <p:cNvPr id="5" name="Group 5"/>
          <p:cNvGrpSpPr/>
          <p:nvPr/>
        </p:nvGrpSpPr>
        <p:grpSpPr>
          <a:xfrm>
            <a:off x="1028700" y="1458710"/>
            <a:ext cx="6247271" cy="2873258"/>
            <a:chOff x="0" y="0"/>
            <a:chExt cx="8329694" cy="3831010"/>
          </a:xfrm>
        </p:grpSpPr>
        <p:grpSp>
          <p:nvGrpSpPr>
            <p:cNvPr id="6" name="Group 6"/>
            <p:cNvGrpSpPr/>
            <p:nvPr/>
          </p:nvGrpSpPr>
          <p:grpSpPr>
            <a:xfrm>
              <a:off x="176625" y="215002"/>
              <a:ext cx="8153069" cy="3616008"/>
              <a:chOff x="0" y="0"/>
              <a:chExt cx="1714852" cy="760563"/>
            </a:xfrm>
          </p:grpSpPr>
          <p:sp>
            <p:nvSpPr>
              <p:cNvPr id="7" name="Freeform 7"/>
              <p:cNvSpPr/>
              <p:nvPr/>
            </p:nvSpPr>
            <p:spPr>
              <a:xfrm>
                <a:off x="0" y="0"/>
                <a:ext cx="1714852" cy="760563"/>
              </a:xfrm>
              <a:custGeom>
                <a:avLst/>
                <a:gdLst/>
                <a:ahLst/>
                <a:cxnLst/>
                <a:rect l="l" t="t" r="r" b="b"/>
                <a:pathLst>
                  <a:path w="1714852" h="760563">
                    <a:moveTo>
                      <a:pt x="24728" y="0"/>
                    </a:moveTo>
                    <a:lnTo>
                      <a:pt x="1690124" y="0"/>
                    </a:lnTo>
                    <a:cubicBezTo>
                      <a:pt x="1703781" y="0"/>
                      <a:pt x="1714852" y="11071"/>
                      <a:pt x="1714852" y="24728"/>
                    </a:cubicBezTo>
                    <a:lnTo>
                      <a:pt x="1714852" y="735834"/>
                    </a:lnTo>
                    <a:cubicBezTo>
                      <a:pt x="1714852" y="749491"/>
                      <a:pt x="1703781" y="760563"/>
                      <a:pt x="1690124" y="760563"/>
                    </a:cubicBezTo>
                    <a:lnTo>
                      <a:pt x="24728" y="760563"/>
                    </a:lnTo>
                    <a:cubicBezTo>
                      <a:pt x="11071" y="760563"/>
                      <a:pt x="0" y="749491"/>
                      <a:pt x="0" y="735834"/>
                    </a:cubicBezTo>
                    <a:lnTo>
                      <a:pt x="0" y="24728"/>
                    </a:lnTo>
                    <a:cubicBezTo>
                      <a:pt x="0" y="11071"/>
                      <a:pt x="11071" y="0"/>
                      <a:pt x="24728" y="0"/>
                    </a:cubicBezTo>
                    <a:close/>
                  </a:path>
                </a:pathLst>
              </a:custGeom>
              <a:solidFill>
                <a:srgbClr val="4E6C7E"/>
              </a:solidFill>
              <a:ln w="19050" cap="rnd">
                <a:solidFill>
                  <a:srgbClr val="4383D1"/>
                </a:solidFill>
                <a:prstDash val="solid"/>
                <a:round/>
              </a:ln>
            </p:spPr>
            <p:txBody>
              <a:bodyPr/>
              <a:lstStyle/>
              <a:p>
                <a:endParaRPr lang="tr-TR"/>
              </a:p>
            </p:txBody>
          </p:sp>
          <p:sp>
            <p:nvSpPr>
              <p:cNvPr id="8" name="TextBox 8"/>
              <p:cNvSpPr txBox="1"/>
              <p:nvPr/>
            </p:nvSpPr>
            <p:spPr>
              <a:xfrm>
                <a:off x="0" y="-28575"/>
                <a:ext cx="1714852" cy="789138"/>
              </a:xfrm>
              <a:prstGeom prst="rect">
                <a:avLst/>
              </a:prstGeom>
            </p:spPr>
            <p:txBody>
              <a:bodyPr lIns="37272" tIns="37272" rIns="37272" bIns="37272" rtlCol="0" anchor="ctr"/>
              <a:lstStyle/>
              <a:p>
                <a:pPr algn="ctr">
                  <a:lnSpc>
                    <a:spcPts val="2520"/>
                  </a:lnSpc>
                </a:pPr>
                <a:endParaRPr/>
              </a:p>
            </p:txBody>
          </p:sp>
        </p:grpSp>
        <p:grpSp>
          <p:nvGrpSpPr>
            <p:cNvPr id="9" name="Group 9"/>
            <p:cNvGrpSpPr/>
            <p:nvPr/>
          </p:nvGrpSpPr>
          <p:grpSpPr>
            <a:xfrm>
              <a:off x="0" y="0"/>
              <a:ext cx="8153069" cy="3616008"/>
              <a:chOff x="0" y="0"/>
              <a:chExt cx="1714852" cy="760563"/>
            </a:xfrm>
          </p:grpSpPr>
          <p:sp>
            <p:nvSpPr>
              <p:cNvPr id="10" name="Freeform 10"/>
              <p:cNvSpPr/>
              <p:nvPr/>
            </p:nvSpPr>
            <p:spPr>
              <a:xfrm>
                <a:off x="0" y="0"/>
                <a:ext cx="1714852" cy="760563"/>
              </a:xfrm>
              <a:custGeom>
                <a:avLst/>
                <a:gdLst/>
                <a:ahLst/>
                <a:cxnLst/>
                <a:rect l="l" t="t" r="r" b="b"/>
                <a:pathLst>
                  <a:path w="1714852" h="760563">
                    <a:moveTo>
                      <a:pt x="24728" y="0"/>
                    </a:moveTo>
                    <a:lnTo>
                      <a:pt x="1690124" y="0"/>
                    </a:lnTo>
                    <a:cubicBezTo>
                      <a:pt x="1703781" y="0"/>
                      <a:pt x="1714852" y="11071"/>
                      <a:pt x="1714852" y="24728"/>
                    </a:cubicBezTo>
                    <a:lnTo>
                      <a:pt x="1714852" y="735834"/>
                    </a:lnTo>
                    <a:cubicBezTo>
                      <a:pt x="1714852" y="749491"/>
                      <a:pt x="1703781" y="760563"/>
                      <a:pt x="1690124" y="760563"/>
                    </a:cubicBezTo>
                    <a:lnTo>
                      <a:pt x="24728" y="760563"/>
                    </a:lnTo>
                    <a:cubicBezTo>
                      <a:pt x="11071" y="760563"/>
                      <a:pt x="0" y="749491"/>
                      <a:pt x="0" y="735834"/>
                    </a:cubicBezTo>
                    <a:lnTo>
                      <a:pt x="0" y="24728"/>
                    </a:lnTo>
                    <a:cubicBezTo>
                      <a:pt x="0" y="11071"/>
                      <a:pt x="11071" y="0"/>
                      <a:pt x="24728" y="0"/>
                    </a:cubicBezTo>
                    <a:close/>
                  </a:path>
                </a:pathLst>
              </a:custGeom>
              <a:solidFill>
                <a:srgbClr val="FFFFFF"/>
              </a:solidFill>
              <a:ln w="19050" cap="rnd">
                <a:solidFill>
                  <a:srgbClr val="4383D1"/>
                </a:solidFill>
                <a:prstDash val="solid"/>
                <a:round/>
              </a:ln>
            </p:spPr>
            <p:txBody>
              <a:bodyPr/>
              <a:lstStyle/>
              <a:p>
                <a:endParaRPr lang="tr-TR"/>
              </a:p>
            </p:txBody>
          </p:sp>
          <p:sp>
            <p:nvSpPr>
              <p:cNvPr id="11" name="TextBox 11"/>
              <p:cNvSpPr txBox="1"/>
              <p:nvPr/>
            </p:nvSpPr>
            <p:spPr>
              <a:xfrm>
                <a:off x="0" y="-28575"/>
                <a:ext cx="1714852" cy="789138"/>
              </a:xfrm>
              <a:prstGeom prst="rect">
                <a:avLst/>
              </a:prstGeom>
            </p:spPr>
            <p:txBody>
              <a:bodyPr lIns="37272" tIns="37272" rIns="37272" bIns="37272" rtlCol="0" anchor="ctr"/>
              <a:lstStyle/>
              <a:p>
                <a:pPr algn="ctr">
                  <a:lnSpc>
                    <a:spcPts val="2520"/>
                  </a:lnSpc>
                </a:pPr>
                <a:endParaRPr/>
              </a:p>
            </p:txBody>
          </p:sp>
        </p:grpSp>
      </p:grpSp>
      <p:grpSp>
        <p:nvGrpSpPr>
          <p:cNvPr id="12" name="Group 12"/>
          <p:cNvGrpSpPr/>
          <p:nvPr/>
        </p:nvGrpSpPr>
        <p:grpSpPr>
          <a:xfrm>
            <a:off x="1028700" y="7822331"/>
            <a:ext cx="12744941" cy="1902353"/>
            <a:chOff x="0" y="0"/>
            <a:chExt cx="16993255" cy="2536470"/>
          </a:xfrm>
        </p:grpSpPr>
        <p:grpSp>
          <p:nvGrpSpPr>
            <p:cNvPr id="13" name="Group 13"/>
            <p:cNvGrpSpPr/>
            <p:nvPr/>
          </p:nvGrpSpPr>
          <p:grpSpPr>
            <a:xfrm>
              <a:off x="360330" y="142350"/>
              <a:ext cx="16632926" cy="2394120"/>
              <a:chOff x="0" y="0"/>
              <a:chExt cx="3498438" cy="503560"/>
            </a:xfrm>
          </p:grpSpPr>
          <p:sp>
            <p:nvSpPr>
              <p:cNvPr id="14" name="Freeform 14"/>
              <p:cNvSpPr/>
              <p:nvPr/>
            </p:nvSpPr>
            <p:spPr>
              <a:xfrm>
                <a:off x="0" y="0"/>
                <a:ext cx="3498438" cy="503560"/>
              </a:xfrm>
              <a:custGeom>
                <a:avLst/>
                <a:gdLst/>
                <a:ahLst/>
                <a:cxnLst/>
                <a:rect l="l" t="t" r="r" b="b"/>
                <a:pathLst>
                  <a:path w="3498438" h="503560">
                    <a:moveTo>
                      <a:pt x="12121" y="0"/>
                    </a:moveTo>
                    <a:lnTo>
                      <a:pt x="3486317" y="0"/>
                    </a:lnTo>
                    <a:cubicBezTo>
                      <a:pt x="3493012" y="0"/>
                      <a:pt x="3498438" y="5427"/>
                      <a:pt x="3498438" y="12121"/>
                    </a:cubicBezTo>
                    <a:lnTo>
                      <a:pt x="3498438" y="491439"/>
                    </a:lnTo>
                    <a:cubicBezTo>
                      <a:pt x="3498438" y="494654"/>
                      <a:pt x="3497161" y="497737"/>
                      <a:pt x="3494888" y="500010"/>
                    </a:cubicBezTo>
                    <a:cubicBezTo>
                      <a:pt x="3492615" y="502283"/>
                      <a:pt x="3489532" y="503560"/>
                      <a:pt x="3486317" y="503560"/>
                    </a:cubicBezTo>
                    <a:lnTo>
                      <a:pt x="12121" y="503560"/>
                    </a:lnTo>
                    <a:cubicBezTo>
                      <a:pt x="5427" y="503560"/>
                      <a:pt x="0" y="498133"/>
                      <a:pt x="0" y="491439"/>
                    </a:cubicBezTo>
                    <a:lnTo>
                      <a:pt x="0" y="12121"/>
                    </a:lnTo>
                    <a:cubicBezTo>
                      <a:pt x="0" y="5427"/>
                      <a:pt x="5427" y="0"/>
                      <a:pt x="12121" y="0"/>
                    </a:cubicBezTo>
                    <a:close/>
                  </a:path>
                </a:pathLst>
              </a:custGeom>
              <a:solidFill>
                <a:srgbClr val="4E6C7E"/>
              </a:solidFill>
              <a:ln w="19050" cap="rnd">
                <a:solidFill>
                  <a:srgbClr val="4383D1"/>
                </a:solidFill>
                <a:prstDash val="solid"/>
                <a:round/>
              </a:ln>
            </p:spPr>
            <p:txBody>
              <a:bodyPr/>
              <a:lstStyle/>
              <a:p>
                <a:endParaRPr lang="tr-TR"/>
              </a:p>
            </p:txBody>
          </p:sp>
          <p:sp>
            <p:nvSpPr>
              <p:cNvPr id="15" name="TextBox 15"/>
              <p:cNvSpPr txBox="1"/>
              <p:nvPr/>
            </p:nvSpPr>
            <p:spPr>
              <a:xfrm>
                <a:off x="0" y="-28575"/>
                <a:ext cx="3498438" cy="532135"/>
              </a:xfrm>
              <a:prstGeom prst="rect">
                <a:avLst/>
              </a:prstGeom>
            </p:spPr>
            <p:txBody>
              <a:bodyPr lIns="37272" tIns="37272" rIns="37272" bIns="37272" rtlCol="0" anchor="ctr"/>
              <a:lstStyle/>
              <a:p>
                <a:pPr algn="ctr">
                  <a:lnSpc>
                    <a:spcPts val="2520"/>
                  </a:lnSpc>
                </a:pPr>
                <a:endParaRPr/>
              </a:p>
            </p:txBody>
          </p:sp>
        </p:grpSp>
        <p:grpSp>
          <p:nvGrpSpPr>
            <p:cNvPr id="16" name="Group 16"/>
            <p:cNvGrpSpPr/>
            <p:nvPr/>
          </p:nvGrpSpPr>
          <p:grpSpPr>
            <a:xfrm>
              <a:off x="0" y="0"/>
              <a:ext cx="16632926" cy="2394120"/>
              <a:chOff x="0" y="0"/>
              <a:chExt cx="3498438" cy="503560"/>
            </a:xfrm>
          </p:grpSpPr>
          <p:sp>
            <p:nvSpPr>
              <p:cNvPr id="17" name="Freeform 17"/>
              <p:cNvSpPr/>
              <p:nvPr/>
            </p:nvSpPr>
            <p:spPr>
              <a:xfrm>
                <a:off x="0" y="0"/>
                <a:ext cx="3498438" cy="503560"/>
              </a:xfrm>
              <a:custGeom>
                <a:avLst/>
                <a:gdLst/>
                <a:ahLst/>
                <a:cxnLst/>
                <a:rect l="l" t="t" r="r" b="b"/>
                <a:pathLst>
                  <a:path w="3498438" h="503560">
                    <a:moveTo>
                      <a:pt x="12121" y="0"/>
                    </a:moveTo>
                    <a:lnTo>
                      <a:pt x="3486317" y="0"/>
                    </a:lnTo>
                    <a:cubicBezTo>
                      <a:pt x="3493012" y="0"/>
                      <a:pt x="3498438" y="5427"/>
                      <a:pt x="3498438" y="12121"/>
                    </a:cubicBezTo>
                    <a:lnTo>
                      <a:pt x="3498438" y="491439"/>
                    </a:lnTo>
                    <a:cubicBezTo>
                      <a:pt x="3498438" y="494654"/>
                      <a:pt x="3497161" y="497737"/>
                      <a:pt x="3494888" y="500010"/>
                    </a:cubicBezTo>
                    <a:cubicBezTo>
                      <a:pt x="3492615" y="502283"/>
                      <a:pt x="3489532" y="503560"/>
                      <a:pt x="3486317" y="503560"/>
                    </a:cubicBezTo>
                    <a:lnTo>
                      <a:pt x="12121" y="503560"/>
                    </a:lnTo>
                    <a:cubicBezTo>
                      <a:pt x="5427" y="503560"/>
                      <a:pt x="0" y="498133"/>
                      <a:pt x="0" y="491439"/>
                    </a:cubicBezTo>
                    <a:lnTo>
                      <a:pt x="0" y="12121"/>
                    </a:lnTo>
                    <a:cubicBezTo>
                      <a:pt x="0" y="5427"/>
                      <a:pt x="5427" y="0"/>
                      <a:pt x="12121" y="0"/>
                    </a:cubicBezTo>
                    <a:close/>
                  </a:path>
                </a:pathLst>
              </a:custGeom>
              <a:solidFill>
                <a:srgbClr val="FFFFFF"/>
              </a:solidFill>
              <a:ln w="19050" cap="rnd">
                <a:solidFill>
                  <a:srgbClr val="4383D1"/>
                </a:solidFill>
                <a:prstDash val="solid"/>
                <a:round/>
              </a:ln>
            </p:spPr>
            <p:txBody>
              <a:bodyPr/>
              <a:lstStyle/>
              <a:p>
                <a:endParaRPr lang="tr-TR"/>
              </a:p>
            </p:txBody>
          </p:sp>
          <p:sp>
            <p:nvSpPr>
              <p:cNvPr id="18" name="TextBox 18"/>
              <p:cNvSpPr txBox="1"/>
              <p:nvPr/>
            </p:nvSpPr>
            <p:spPr>
              <a:xfrm>
                <a:off x="0" y="-28575"/>
                <a:ext cx="3498438" cy="532135"/>
              </a:xfrm>
              <a:prstGeom prst="rect">
                <a:avLst/>
              </a:prstGeom>
            </p:spPr>
            <p:txBody>
              <a:bodyPr lIns="37272" tIns="37272" rIns="37272" bIns="37272" rtlCol="0" anchor="ctr"/>
              <a:lstStyle/>
              <a:p>
                <a:pPr algn="ctr">
                  <a:lnSpc>
                    <a:spcPts val="2520"/>
                  </a:lnSpc>
                </a:pPr>
                <a:endParaRPr/>
              </a:p>
            </p:txBody>
          </p:sp>
        </p:grpSp>
      </p:grpSp>
      <p:grpSp>
        <p:nvGrpSpPr>
          <p:cNvPr id="19" name="Group 19"/>
          <p:cNvGrpSpPr/>
          <p:nvPr/>
        </p:nvGrpSpPr>
        <p:grpSpPr>
          <a:xfrm>
            <a:off x="1155659" y="8447969"/>
            <a:ext cx="403453" cy="403453"/>
            <a:chOff x="0" y="0"/>
            <a:chExt cx="812800" cy="812800"/>
          </a:xfrm>
        </p:grpSpPr>
        <p:sp>
          <p:nvSpPr>
            <p:cNvPr id="20" name="Freeform 20"/>
            <p:cNvSpPr/>
            <p:nvPr/>
          </p:nvSpPr>
          <p:spPr>
            <a:xfrm>
              <a:off x="0" y="56203"/>
              <a:ext cx="773058" cy="700395"/>
            </a:xfrm>
            <a:custGeom>
              <a:avLst/>
              <a:gdLst/>
              <a:ahLst/>
              <a:cxnLst/>
              <a:rect l="l" t="t" r="r" b="b"/>
              <a:pathLst>
                <a:path w="773058" h="700395">
                  <a:moveTo>
                    <a:pt x="744956" y="282353"/>
                  </a:moveTo>
                  <a:lnTo>
                    <a:pt x="474244" y="11641"/>
                  </a:lnTo>
                  <a:cubicBezTo>
                    <a:pt x="462878" y="275"/>
                    <a:pt x="445784" y="-3125"/>
                    <a:pt x="430933" y="3026"/>
                  </a:cubicBezTo>
                  <a:cubicBezTo>
                    <a:pt x="416083" y="9177"/>
                    <a:pt x="406400" y="23669"/>
                    <a:pt x="406400" y="39743"/>
                  </a:cubicBezTo>
                  <a:lnTo>
                    <a:pt x="406400" y="51051"/>
                  </a:lnTo>
                  <a:cubicBezTo>
                    <a:pt x="406400" y="104041"/>
                    <a:pt x="363444" y="146997"/>
                    <a:pt x="310454" y="146997"/>
                  </a:cubicBezTo>
                  <a:lnTo>
                    <a:pt x="95946" y="146997"/>
                  </a:lnTo>
                  <a:cubicBezTo>
                    <a:pt x="42956" y="146997"/>
                    <a:pt x="0" y="189953"/>
                    <a:pt x="0" y="242943"/>
                  </a:cubicBezTo>
                  <a:lnTo>
                    <a:pt x="0" y="457451"/>
                  </a:lnTo>
                  <a:cubicBezTo>
                    <a:pt x="0" y="510441"/>
                    <a:pt x="42956" y="553397"/>
                    <a:pt x="95946" y="553397"/>
                  </a:cubicBezTo>
                  <a:lnTo>
                    <a:pt x="310454" y="553397"/>
                  </a:lnTo>
                  <a:cubicBezTo>
                    <a:pt x="363444" y="553397"/>
                    <a:pt x="406400" y="596353"/>
                    <a:pt x="406400" y="649343"/>
                  </a:cubicBezTo>
                  <a:lnTo>
                    <a:pt x="406400" y="660651"/>
                  </a:lnTo>
                  <a:cubicBezTo>
                    <a:pt x="406400" y="676725"/>
                    <a:pt x="416083" y="691217"/>
                    <a:pt x="430933" y="697368"/>
                  </a:cubicBezTo>
                  <a:cubicBezTo>
                    <a:pt x="445784" y="703519"/>
                    <a:pt x="462878" y="700119"/>
                    <a:pt x="474244" y="688753"/>
                  </a:cubicBezTo>
                  <a:lnTo>
                    <a:pt x="744956" y="418041"/>
                  </a:lnTo>
                  <a:cubicBezTo>
                    <a:pt x="782425" y="380572"/>
                    <a:pt x="782425" y="319822"/>
                    <a:pt x="744956" y="282353"/>
                  </a:cubicBezTo>
                  <a:close/>
                </a:path>
              </a:pathLst>
            </a:custGeom>
            <a:solidFill>
              <a:srgbClr val="4E6C7E"/>
            </a:solidFill>
          </p:spPr>
          <p:txBody>
            <a:bodyPr/>
            <a:lstStyle/>
            <a:p>
              <a:endParaRPr lang="tr-TR"/>
            </a:p>
          </p:txBody>
        </p:sp>
        <p:sp>
          <p:nvSpPr>
            <p:cNvPr id="21" name="TextBox 21"/>
            <p:cNvSpPr txBox="1"/>
            <p:nvPr/>
          </p:nvSpPr>
          <p:spPr>
            <a:xfrm>
              <a:off x="0" y="174625"/>
              <a:ext cx="711200" cy="434975"/>
            </a:xfrm>
            <a:prstGeom prst="rect">
              <a:avLst/>
            </a:prstGeom>
          </p:spPr>
          <p:txBody>
            <a:bodyPr lIns="50800" tIns="50800" rIns="50800" bIns="50800" rtlCol="0" anchor="ctr"/>
            <a:lstStyle/>
            <a:p>
              <a:pPr algn="ctr">
                <a:lnSpc>
                  <a:spcPts val="2520"/>
                </a:lnSpc>
              </a:pPr>
              <a:endParaRPr/>
            </a:p>
          </p:txBody>
        </p:sp>
      </p:grpSp>
      <p:sp>
        <p:nvSpPr>
          <p:cNvPr id="22" name="Freeform 22"/>
          <p:cNvSpPr/>
          <p:nvPr/>
        </p:nvSpPr>
        <p:spPr>
          <a:xfrm>
            <a:off x="12988715" y="-10257"/>
            <a:ext cx="5299285" cy="4342224"/>
          </a:xfrm>
          <a:custGeom>
            <a:avLst/>
            <a:gdLst/>
            <a:ahLst/>
            <a:cxnLst/>
            <a:rect l="l" t="t" r="r" b="b"/>
            <a:pathLst>
              <a:path w="5299285" h="4342224">
                <a:moveTo>
                  <a:pt x="0" y="0"/>
                </a:moveTo>
                <a:lnTo>
                  <a:pt x="5299285" y="0"/>
                </a:lnTo>
                <a:lnTo>
                  <a:pt x="5299285" y="4342224"/>
                </a:lnTo>
                <a:lnTo>
                  <a:pt x="0" y="4342224"/>
                </a:lnTo>
                <a:lnTo>
                  <a:pt x="0" y="0"/>
                </a:lnTo>
                <a:close/>
              </a:path>
            </a:pathLst>
          </a:custGeom>
          <a:blipFill>
            <a:blip r:embed="rId2"/>
            <a:stretch>
              <a:fillRect/>
            </a:stretch>
          </a:blipFill>
        </p:spPr>
        <p:txBody>
          <a:bodyPr/>
          <a:lstStyle/>
          <a:p>
            <a:endParaRPr lang="tr-TR"/>
          </a:p>
        </p:txBody>
      </p:sp>
      <p:grpSp>
        <p:nvGrpSpPr>
          <p:cNvPr id="23" name="Group 23"/>
          <p:cNvGrpSpPr/>
          <p:nvPr/>
        </p:nvGrpSpPr>
        <p:grpSpPr>
          <a:xfrm>
            <a:off x="7526371" y="1516398"/>
            <a:ext cx="6247271" cy="2873258"/>
            <a:chOff x="0" y="0"/>
            <a:chExt cx="8329694" cy="3831010"/>
          </a:xfrm>
        </p:grpSpPr>
        <p:grpSp>
          <p:nvGrpSpPr>
            <p:cNvPr id="24" name="Group 24"/>
            <p:cNvGrpSpPr/>
            <p:nvPr/>
          </p:nvGrpSpPr>
          <p:grpSpPr>
            <a:xfrm>
              <a:off x="176625" y="215002"/>
              <a:ext cx="8153069" cy="3616008"/>
              <a:chOff x="0" y="0"/>
              <a:chExt cx="1714852" cy="760563"/>
            </a:xfrm>
          </p:grpSpPr>
          <p:sp>
            <p:nvSpPr>
              <p:cNvPr id="25" name="Freeform 25"/>
              <p:cNvSpPr/>
              <p:nvPr/>
            </p:nvSpPr>
            <p:spPr>
              <a:xfrm>
                <a:off x="0" y="0"/>
                <a:ext cx="1714852" cy="760563"/>
              </a:xfrm>
              <a:custGeom>
                <a:avLst/>
                <a:gdLst/>
                <a:ahLst/>
                <a:cxnLst/>
                <a:rect l="l" t="t" r="r" b="b"/>
                <a:pathLst>
                  <a:path w="1714852" h="760563">
                    <a:moveTo>
                      <a:pt x="24728" y="0"/>
                    </a:moveTo>
                    <a:lnTo>
                      <a:pt x="1690124" y="0"/>
                    </a:lnTo>
                    <a:cubicBezTo>
                      <a:pt x="1703781" y="0"/>
                      <a:pt x="1714852" y="11071"/>
                      <a:pt x="1714852" y="24728"/>
                    </a:cubicBezTo>
                    <a:lnTo>
                      <a:pt x="1714852" y="735834"/>
                    </a:lnTo>
                    <a:cubicBezTo>
                      <a:pt x="1714852" y="749491"/>
                      <a:pt x="1703781" y="760563"/>
                      <a:pt x="1690124" y="760563"/>
                    </a:cubicBezTo>
                    <a:lnTo>
                      <a:pt x="24728" y="760563"/>
                    </a:lnTo>
                    <a:cubicBezTo>
                      <a:pt x="11071" y="760563"/>
                      <a:pt x="0" y="749491"/>
                      <a:pt x="0" y="735834"/>
                    </a:cubicBezTo>
                    <a:lnTo>
                      <a:pt x="0" y="24728"/>
                    </a:lnTo>
                    <a:cubicBezTo>
                      <a:pt x="0" y="11071"/>
                      <a:pt x="11071" y="0"/>
                      <a:pt x="24728" y="0"/>
                    </a:cubicBezTo>
                    <a:close/>
                  </a:path>
                </a:pathLst>
              </a:custGeom>
              <a:solidFill>
                <a:srgbClr val="4E6C7E"/>
              </a:solidFill>
              <a:ln w="19050" cap="rnd">
                <a:solidFill>
                  <a:srgbClr val="4383D1"/>
                </a:solidFill>
                <a:prstDash val="solid"/>
                <a:round/>
              </a:ln>
            </p:spPr>
            <p:txBody>
              <a:bodyPr/>
              <a:lstStyle/>
              <a:p>
                <a:endParaRPr lang="tr-TR"/>
              </a:p>
            </p:txBody>
          </p:sp>
          <p:sp>
            <p:nvSpPr>
              <p:cNvPr id="26" name="TextBox 26"/>
              <p:cNvSpPr txBox="1"/>
              <p:nvPr/>
            </p:nvSpPr>
            <p:spPr>
              <a:xfrm>
                <a:off x="0" y="-28575"/>
                <a:ext cx="1714852" cy="789138"/>
              </a:xfrm>
              <a:prstGeom prst="rect">
                <a:avLst/>
              </a:prstGeom>
            </p:spPr>
            <p:txBody>
              <a:bodyPr lIns="37272" tIns="37272" rIns="37272" bIns="37272" rtlCol="0" anchor="ctr"/>
              <a:lstStyle/>
              <a:p>
                <a:pPr algn="ctr">
                  <a:lnSpc>
                    <a:spcPts val="2520"/>
                  </a:lnSpc>
                </a:pPr>
                <a:endParaRPr/>
              </a:p>
            </p:txBody>
          </p:sp>
        </p:grpSp>
        <p:grpSp>
          <p:nvGrpSpPr>
            <p:cNvPr id="27" name="Group 27"/>
            <p:cNvGrpSpPr/>
            <p:nvPr/>
          </p:nvGrpSpPr>
          <p:grpSpPr>
            <a:xfrm>
              <a:off x="0" y="0"/>
              <a:ext cx="8153069" cy="3616008"/>
              <a:chOff x="0" y="0"/>
              <a:chExt cx="1714852" cy="760563"/>
            </a:xfrm>
          </p:grpSpPr>
          <p:sp>
            <p:nvSpPr>
              <p:cNvPr id="28" name="Freeform 28"/>
              <p:cNvSpPr/>
              <p:nvPr/>
            </p:nvSpPr>
            <p:spPr>
              <a:xfrm>
                <a:off x="0" y="0"/>
                <a:ext cx="1714852" cy="760563"/>
              </a:xfrm>
              <a:custGeom>
                <a:avLst/>
                <a:gdLst/>
                <a:ahLst/>
                <a:cxnLst/>
                <a:rect l="l" t="t" r="r" b="b"/>
                <a:pathLst>
                  <a:path w="1714852" h="760563">
                    <a:moveTo>
                      <a:pt x="24728" y="0"/>
                    </a:moveTo>
                    <a:lnTo>
                      <a:pt x="1690124" y="0"/>
                    </a:lnTo>
                    <a:cubicBezTo>
                      <a:pt x="1703781" y="0"/>
                      <a:pt x="1714852" y="11071"/>
                      <a:pt x="1714852" y="24728"/>
                    </a:cubicBezTo>
                    <a:lnTo>
                      <a:pt x="1714852" y="735834"/>
                    </a:lnTo>
                    <a:cubicBezTo>
                      <a:pt x="1714852" y="749491"/>
                      <a:pt x="1703781" y="760563"/>
                      <a:pt x="1690124" y="760563"/>
                    </a:cubicBezTo>
                    <a:lnTo>
                      <a:pt x="24728" y="760563"/>
                    </a:lnTo>
                    <a:cubicBezTo>
                      <a:pt x="11071" y="760563"/>
                      <a:pt x="0" y="749491"/>
                      <a:pt x="0" y="735834"/>
                    </a:cubicBezTo>
                    <a:lnTo>
                      <a:pt x="0" y="24728"/>
                    </a:lnTo>
                    <a:cubicBezTo>
                      <a:pt x="0" y="11071"/>
                      <a:pt x="11071" y="0"/>
                      <a:pt x="24728" y="0"/>
                    </a:cubicBezTo>
                    <a:close/>
                  </a:path>
                </a:pathLst>
              </a:custGeom>
              <a:solidFill>
                <a:srgbClr val="FFFFFF"/>
              </a:solidFill>
              <a:ln w="19050" cap="rnd">
                <a:solidFill>
                  <a:srgbClr val="4383D1"/>
                </a:solidFill>
                <a:prstDash val="solid"/>
                <a:round/>
              </a:ln>
            </p:spPr>
            <p:txBody>
              <a:bodyPr/>
              <a:lstStyle/>
              <a:p>
                <a:endParaRPr lang="tr-TR"/>
              </a:p>
            </p:txBody>
          </p:sp>
          <p:sp>
            <p:nvSpPr>
              <p:cNvPr id="29" name="TextBox 29"/>
              <p:cNvSpPr txBox="1"/>
              <p:nvPr/>
            </p:nvSpPr>
            <p:spPr>
              <a:xfrm>
                <a:off x="0" y="-28575"/>
                <a:ext cx="1714852" cy="789138"/>
              </a:xfrm>
              <a:prstGeom prst="rect">
                <a:avLst/>
              </a:prstGeom>
            </p:spPr>
            <p:txBody>
              <a:bodyPr lIns="37272" tIns="37272" rIns="37272" bIns="37272" rtlCol="0" anchor="ctr"/>
              <a:lstStyle/>
              <a:p>
                <a:pPr algn="ctr">
                  <a:lnSpc>
                    <a:spcPts val="2520"/>
                  </a:lnSpc>
                </a:pPr>
                <a:endParaRPr/>
              </a:p>
            </p:txBody>
          </p:sp>
        </p:grpSp>
        <p:sp>
          <p:nvSpPr>
            <p:cNvPr id="30" name="TextBox 30"/>
            <p:cNvSpPr txBox="1"/>
            <p:nvPr/>
          </p:nvSpPr>
          <p:spPr>
            <a:xfrm>
              <a:off x="707215" y="248656"/>
              <a:ext cx="7137866" cy="479343"/>
            </a:xfrm>
            <a:prstGeom prst="rect">
              <a:avLst/>
            </a:prstGeom>
          </p:spPr>
          <p:txBody>
            <a:bodyPr lIns="0" tIns="0" rIns="0" bIns="0" rtlCol="0" anchor="t">
              <a:spAutoFit/>
            </a:bodyPr>
            <a:lstStyle/>
            <a:p>
              <a:pPr algn="just">
                <a:lnSpc>
                  <a:spcPts val="2700"/>
                </a:lnSpc>
              </a:pPr>
              <a:r>
                <a:rPr lang="en-US" sz="2500" b="1">
                  <a:solidFill>
                    <a:srgbClr val="000000"/>
                  </a:solidFill>
                  <a:latin typeface="Montserrat Bold"/>
                  <a:ea typeface="Montserrat Bold"/>
                  <a:cs typeface="Montserrat Bold"/>
                  <a:sym typeface="Montserrat Bold"/>
                </a:rPr>
                <a:t>Mikroskobik Detay Hassasiyeti:</a:t>
              </a:r>
            </a:p>
          </p:txBody>
        </p:sp>
        <p:sp>
          <p:nvSpPr>
            <p:cNvPr id="31" name="TextBox 31"/>
            <p:cNvSpPr txBox="1"/>
            <p:nvPr/>
          </p:nvSpPr>
          <p:spPr>
            <a:xfrm>
              <a:off x="707215" y="743875"/>
              <a:ext cx="7137866" cy="2576473"/>
            </a:xfrm>
            <a:prstGeom prst="rect">
              <a:avLst/>
            </a:prstGeom>
          </p:spPr>
          <p:txBody>
            <a:bodyPr lIns="0" tIns="0" rIns="0" bIns="0" rtlCol="0" anchor="t">
              <a:spAutoFit/>
            </a:bodyPr>
            <a:lstStyle/>
            <a:p>
              <a:pPr algn="just">
                <a:lnSpc>
                  <a:spcPts val="3079"/>
                </a:lnSpc>
              </a:pPr>
              <a:r>
                <a:rPr lang="en-US" sz="2199" b="1">
                  <a:solidFill>
                    <a:srgbClr val="000000"/>
                  </a:solidFill>
                  <a:latin typeface="Quicksand Semi-Bold"/>
                  <a:ea typeface="Quicksand Semi-Bold"/>
                  <a:cs typeface="Quicksand Semi-Bold"/>
                  <a:sym typeface="Quicksand Semi-Bold"/>
                </a:rPr>
                <a:t>Embriyo görüntülerindeki ICM ve TE dokuları arasındaki çok ince farkları, modelin sahip olduğu "Residual Block" yapısı sayesinde veri kaybı yaşamadan analiz edebildik.</a:t>
              </a:r>
            </a:p>
          </p:txBody>
        </p:sp>
        <p:grpSp>
          <p:nvGrpSpPr>
            <p:cNvPr id="32" name="Group 32"/>
            <p:cNvGrpSpPr/>
            <p:nvPr/>
          </p:nvGrpSpPr>
          <p:grpSpPr>
            <a:xfrm>
              <a:off x="170152" y="791500"/>
              <a:ext cx="461737" cy="461737"/>
              <a:chOff x="0" y="0"/>
              <a:chExt cx="812800" cy="812800"/>
            </a:xfrm>
          </p:grpSpPr>
          <p:sp>
            <p:nvSpPr>
              <p:cNvPr id="33" name="Freeform 33"/>
              <p:cNvSpPr/>
              <p:nvPr/>
            </p:nvSpPr>
            <p:spPr>
              <a:xfrm>
                <a:off x="0" y="59515"/>
                <a:ext cx="766499" cy="693771"/>
              </a:xfrm>
              <a:custGeom>
                <a:avLst/>
                <a:gdLst/>
                <a:ahLst/>
                <a:cxnLst/>
                <a:rect l="l" t="t" r="r" b="b"/>
                <a:pathLst>
                  <a:path w="766499" h="693771">
                    <a:moveTo>
                      <a:pt x="733760" y="267845"/>
                    </a:moveTo>
                    <a:lnTo>
                      <a:pt x="478242" y="12327"/>
                    </a:lnTo>
                    <a:cubicBezTo>
                      <a:pt x="466206" y="291"/>
                      <a:pt x="448105" y="-3309"/>
                      <a:pt x="432379" y="3204"/>
                    </a:cubicBezTo>
                    <a:cubicBezTo>
                      <a:pt x="416653" y="9718"/>
                      <a:pt x="406400" y="25064"/>
                      <a:pt x="406400" y="42085"/>
                    </a:cubicBezTo>
                    <a:lnTo>
                      <a:pt x="406400" y="42085"/>
                    </a:lnTo>
                    <a:cubicBezTo>
                      <a:pt x="406400" y="98197"/>
                      <a:pt x="360912" y="143685"/>
                      <a:pt x="304800" y="143685"/>
                    </a:cubicBezTo>
                    <a:lnTo>
                      <a:pt x="111780" y="143685"/>
                    </a:lnTo>
                    <a:cubicBezTo>
                      <a:pt x="50045" y="143685"/>
                      <a:pt x="0" y="193730"/>
                      <a:pt x="0" y="255465"/>
                    </a:cubicBezTo>
                    <a:lnTo>
                      <a:pt x="0" y="438305"/>
                    </a:lnTo>
                    <a:cubicBezTo>
                      <a:pt x="0" y="500040"/>
                      <a:pt x="50045" y="550085"/>
                      <a:pt x="111780" y="550085"/>
                    </a:cubicBezTo>
                    <a:lnTo>
                      <a:pt x="304800" y="550085"/>
                    </a:lnTo>
                    <a:cubicBezTo>
                      <a:pt x="360912" y="550085"/>
                      <a:pt x="406400" y="595573"/>
                      <a:pt x="406400" y="651685"/>
                    </a:cubicBezTo>
                    <a:lnTo>
                      <a:pt x="406400" y="651685"/>
                    </a:lnTo>
                    <a:cubicBezTo>
                      <a:pt x="406400" y="668706"/>
                      <a:pt x="416653" y="684052"/>
                      <a:pt x="432379" y="690566"/>
                    </a:cubicBezTo>
                    <a:cubicBezTo>
                      <a:pt x="448105" y="697079"/>
                      <a:pt x="466206" y="693479"/>
                      <a:pt x="478242" y="681443"/>
                    </a:cubicBezTo>
                    <a:lnTo>
                      <a:pt x="733760" y="425925"/>
                    </a:lnTo>
                    <a:cubicBezTo>
                      <a:pt x="777413" y="382272"/>
                      <a:pt x="777413" y="311498"/>
                      <a:pt x="733760" y="267845"/>
                    </a:cubicBezTo>
                    <a:close/>
                  </a:path>
                </a:pathLst>
              </a:custGeom>
              <a:solidFill>
                <a:srgbClr val="4E6C7E"/>
              </a:solidFill>
            </p:spPr>
            <p:txBody>
              <a:bodyPr/>
              <a:lstStyle/>
              <a:p>
                <a:endParaRPr lang="tr-TR"/>
              </a:p>
            </p:txBody>
          </p:sp>
          <p:sp>
            <p:nvSpPr>
              <p:cNvPr id="34" name="TextBox 34"/>
              <p:cNvSpPr txBox="1"/>
              <p:nvPr/>
            </p:nvSpPr>
            <p:spPr>
              <a:xfrm>
                <a:off x="0" y="174625"/>
                <a:ext cx="711200" cy="434975"/>
              </a:xfrm>
              <a:prstGeom prst="rect">
                <a:avLst/>
              </a:prstGeom>
            </p:spPr>
            <p:txBody>
              <a:bodyPr lIns="50800" tIns="50800" rIns="50800" bIns="50800" rtlCol="0" anchor="ctr"/>
              <a:lstStyle/>
              <a:p>
                <a:pPr algn="ctr">
                  <a:lnSpc>
                    <a:spcPts val="2520"/>
                  </a:lnSpc>
                </a:pPr>
                <a:endParaRPr/>
              </a:p>
            </p:txBody>
          </p:sp>
        </p:grpSp>
      </p:grpSp>
      <p:grpSp>
        <p:nvGrpSpPr>
          <p:cNvPr id="35" name="Group 35"/>
          <p:cNvGrpSpPr/>
          <p:nvPr/>
        </p:nvGrpSpPr>
        <p:grpSpPr>
          <a:xfrm>
            <a:off x="1155659" y="2032717"/>
            <a:ext cx="346303" cy="346303"/>
            <a:chOff x="0" y="0"/>
            <a:chExt cx="812800" cy="812800"/>
          </a:xfrm>
        </p:grpSpPr>
        <p:sp>
          <p:nvSpPr>
            <p:cNvPr id="36" name="Freeform 36"/>
            <p:cNvSpPr/>
            <p:nvPr/>
          </p:nvSpPr>
          <p:spPr>
            <a:xfrm>
              <a:off x="0" y="59515"/>
              <a:ext cx="766499" cy="693771"/>
            </a:xfrm>
            <a:custGeom>
              <a:avLst/>
              <a:gdLst/>
              <a:ahLst/>
              <a:cxnLst/>
              <a:rect l="l" t="t" r="r" b="b"/>
              <a:pathLst>
                <a:path w="766499" h="693771">
                  <a:moveTo>
                    <a:pt x="733760" y="267845"/>
                  </a:moveTo>
                  <a:lnTo>
                    <a:pt x="478242" y="12327"/>
                  </a:lnTo>
                  <a:cubicBezTo>
                    <a:pt x="466206" y="291"/>
                    <a:pt x="448105" y="-3309"/>
                    <a:pt x="432379" y="3204"/>
                  </a:cubicBezTo>
                  <a:cubicBezTo>
                    <a:pt x="416653" y="9718"/>
                    <a:pt x="406400" y="25064"/>
                    <a:pt x="406400" y="42085"/>
                  </a:cubicBezTo>
                  <a:lnTo>
                    <a:pt x="406400" y="42085"/>
                  </a:lnTo>
                  <a:cubicBezTo>
                    <a:pt x="406400" y="98197"/>
                    <a:pt x="360912" y="143685"/>
                    <a:pt x="304800" y="143685"/>
                  </a:cubicBezTo>
                  <a:lnTo>
                    <a:pt x="111780" y="143685"/>
                  </a:lnTo>
                  <a:cubicBezTo>
                    <a:pt x="50045" y="143685"/>
                    <a:pt x="0" y="193730"/>
                    <a:pt x="0" y="255465"/>
                  </a:cubicBezTo>
                  <a:lnTo>
                    <a:pt x="0" y="438305"/>
                  </a:lnTo>
                  <a:cubicBezTo>
                    <a:pt x="0" y="500040"/>
                    <a:pt x="50045" y="550085"/>
                    <a:pt x="111780" y="550085"/>
                  </a:cubicBezTo>
                  <a:lnTo>
                    <a:pt x="304800" y="550085"/>
                  </a:lnTo>
                  <a:cubicBezTo>
                    <a:pt x="360912" y="550085"/>
                    <a:pt x="406400" y="595573"/>
                    <a:pt x="406400" y="651685"/>
                  </a:cubicBezTo>
                  <a:lnTo>
                    <a:pt x="406400" y="651685"/>
                  </a:lnTo>
                  <a:cubicBezTo>
                    <a:pt x="406400" y="668706"/>
                    <a:pt x="416653" y="684052"/>
                    <a:pt x="432379" y="690566"/>
                  </a:cubicBezTo>
                  <a:cubicBezTo>
                    <a:pt x="448105" y="697079"/>
                    <a:pt x="466206" y="693479"/>
                    <a:pt x="478242" y="681443"/>
                  </a:cubicBezTo>
                  <a:lnTo>
                    <a:pt x="733760" y="425925"/>
                  </a:lnTo>
                  <a:cubicBezTo>
                    <a:pt x="777413" y="382272"/>
                    <a:pt x="777413" y="311498"/>
                    <a:pt x="733760" y="267845"/>
                  </a:cubicBezTo>
                  <a:close/>
                </a:path>
              </a:pathLst>
            </a:custGeom>
            <a:solidFill>
              <a:srgbClr val="4E6C7E"/>
            </a:solidFill>
          </p:spPr>
          <p:txBody>
            <a:bodyPr/>
            <a:lstStyle/>
            <a:p>
              <a:endParaRPr lang="tr-TR"/>
            </a:p>
          </p:txBody>
        </p:sp>
        <p:sp>
          <p:nvSpPr>
            <p:cNvPr id="37" name="TextBox 37"/>
            <p:cNvSpPr txBox="1"/>
            <p:nvPr/>
          </p:nvSpPr>
          <p:spPr>
            <a:xfrm>
              <a:off x="0" y="174625"/>
              <a:ext cx="711200" cy="434975"/>
            </a:xfrm>
            <a:prstGeom prst="rect">
              <a:avLst/>
            </a:prstGeom>
          </p:spPr>
          <p:txBody>
            <a:bodyPr lIns="50800" tIns="50800" rIns="50800" bIns="50800" rtlCol="0" anchor="ctr"/>
            <a:lstStyle/>
            <a:p>
              <a:pPr algn="ctr">
                <a:lnSpc>
                  <a:spcPts val="2520"/>
                </a:lnSpc>
              </a:pPr>
              <a:endParaRPr/>
            </a:p>
          </p:txBody>
        </p:sp>
      </p:grpSp>
      <p:grpSp>
        <p:nvGrpSpPr>
          <p:cNvPr id="38" name="Group 38"/>
          <p:cNvGrpSpPr/>
          <p:nvPr/>
        </p:nvGrpSpPr>
        <p:grpSpPr>
          <a:xfrm>
            <a:off x="1028700" y="4446267"/>
            <a:ext cx="6247271" cy="2873258"/>
            <a:chOff x="0" y="0"/>
            <a:chExt cx="8329694" cy="3831010"/>
          </a:xfrm>
        </p:grpSpPr>
        <p:grpSp>
          <p:nvGrpSpPr>
            <p:cNvPr id="39" name="Group 39"/>
            <p:cNvGrpSpPr/>
            <p:nvPr/>
          </p:nvGrpSpPr>
          <p:grpSpPr>
            <a:xfrm>
              <a:off x="176625" y="215002"/>
              <a:ext cx="8153069" cy="3616008"/>
              <a:chOff x="0" y="0"/>
              <a:chExt cx="1714852" cy="760563"/>
            </a:xfrm>
          </p:grpSpPr>
          <p:sp>
            <p:nvSpPr>
              <p:cNvPr id="40" name="Freeform 40"/>
              <p:cNvSpPr/>
              <p:nvPr/>
            </p:nvSpPr>
            <p:spPr>
              <a:xfrm>
                <a:off x="0" y="0"/>
                <a:ext cx="1714852" cy="760563"/>
              </a:xfrm>
              <a:custGeom>
                <a:avLst/>
                <a:gdLst/>
                <a:ahLst/>
                <a:cxnLst/>
                <a:rect l="l" t="t" r="r" b="b"/>
                <a:pathLst>
                  <a:path w="1714852" h="760563">
                    <a:moveTo>
                      <a:pt x="24728" y="0"/>
                    </a:moveTo>
                    <a:lnTo>
                      <a:pt x="1690124" y="0"/>
                    </a:lnTo>
                    <a:cubicBezTo>
                      <a:pt x="1703781" y="0"/>
                      <a:pt x="1714852" y="11071"/>
                      <a:pt x="1714852" y="24728"/>
                    </a:cubicBezTo>
                    <a:lnTo>
                      <a:pt x="1714852" y="735834"/>
                    </a:lnTo>
                    <a:cubicBezTo>
                      <a:pt x="1714852" y="749491"/>
                      <a:pt x="1703781" y="760563"/>
                      <a:pt x="1690124" y="760563"/>
                    </a:cubicBezTo>
                    <a:lnTo>
                      <a:pt x="24728" y="760563"/>
                    </a:lnTo>
                    <a:cubicBezTo>
                      <a:pt x="11071" y="760563"/>
                      <a:pt x="0" y="749491"/>
                      <a:pt x="0" y="735834"/>
                    </a:cubicBezTo>
                    <a:lnTo>
                      <a:pt x="0" y="24728"/>
                    </a:lnTo>
                    <a:cubicBezTo>
                      <a:pt x="0" y="11071"/>
                      <a:pt x="11071" y="0"/>
                      <a:pt x="24728" y="0"/>
                    </a:cubicBezTo>
                    <a:close/>
                  </a:path>
                </a:pathLst>
              </a:custGeom>
              <a:solidFill>
                <a:srgbClr val="4E6C7E"/>
              </a:solidFill>
              <a:ln w="19050" cap="rnd">
                <a:solidFill>
                  <a:srgbClr val="4383D1"/>
                </a:solidFill>
                <a:prstDash val="solid"/>
                <a:round/>
              </a:ln>
            </p:spPr>
            <p:txBody>
              <a:bodyPr/>
              <a:lstStyle/>
              <a:p>
                <a:endParaRPr lang="tr-TR"/>
              </a:p>
            </p:txBody>
          </p:sp>
          <p:sp>
            <p:nvSpPr>
              <p:cNvPr id="41" name="TextBox 41"/>
              <p:cNvSpPr txBox="1"/>
              <p:nvPr/>
            </p:nvSpPr>
            <p:spPr>
              <a:xfrm>
                <a:off x="0" y="-28575"/>
                <a:ext cx="1714852" cy="789138"/>
              </a:xfrm>
              <a:prstGeom prst="rect">
                <a:avLst/>
              </a:prstGeom>
            </p:spPr>
            <p:txBody>
              <a:bodyPr lIns="37272" tIns="37272" rIns="37272" bIns="37272" rtlCol="0" anchor="ctr"/>
              <a:lstStyle/>
              <a:p>
                <a:pPr algn="ctr">
                  <a:lnSpc>
                    <a:spcPts val="2520"/>
                  </a:lnSpc>
                </a:pPr>
                <a:endParaRPr/>
              </a:p>
            </p:txBody>
          </p:sp>
        </p:grpSp>
        <p:grpSp>
          <p:nvGrpSpPr>
            <p:cNvPr id="42" name="Group 42"/>
            <p:cNvGrpSpPr/>
            <p:nvPr/>
          </p:nvGrpSpPr>
          <p:grpSpPr>
            <a:xfrm>
              <a:off x="0" y="0"/>
              <a:ext cx="8153069" cy="3616008"/>
              <a:chOff x="0" y="0"/>
              <a:chExt cx="1714852" cy="760563"/>
            </a:xfrm>
          </p:grpSpPr>
          <p:sp>
            <p:nvSpPr>
              <p:cNvPr id="43" name="Freeform 43"/>
              <p:cNvSpPr/>
              <p:nvPr/>
            </p:nvSpPr>
            <p:spPr>
              <a:xfrm>
                <a:off x="0" y="0"/>
                <a:ext cx="1714852" cy="760563"/>
              </a:xfrm>
              <a:custGeom>
                <a:avLst/>
                <a:gdLst/>
                <a:ahLst/>
                <a:cxnLst/>
                <a:rect l="l" t="t" r="r" b="b"/>
                <a:pathLst>
                  <a:path w="1714852" h="760563">
                    <a:moveTo>
                      <a:pt x="24728" y="0"/>
                    </a:moveTo>
                    <a:lnTo>
                      <a:pt x="1690124" y="0"/>
                    </a:lnTo>
                    <a:cubicBezTo>
                      <a:pt x="1703781" y="0"/>
                      <a:pt x="1714852" y="11071"/>
                      <a:pt x="1714852" y="24728"/>
                    </a:cubicBezTo>
                    <a:lnTo>
                      <a:pt x="1714852" y="735834"/>
                    </a:lnTo>
                    <a:cubicBezTo>
                      <a:pt x="1714852" y="749491"/>
                      <a:pt x="1703781" y="760563"/>
                      <a:pt x="1690124" y="760563"/>
                    </a:cubicBezTo>
                    <a:lnTo>
                      <a:pt x="24728" y="760563"/>
                    </a:lnTo>
                    <a:cubicBezTo>
                      <a:pt x="11071" y="760563"/>
                      <a:pt x="0" y="749491"/>
                      <a:pt x="0" y="735834"/>
                    </a:cubicBezTo>
                    <a:lnTo>
                      <a:pt x="0" y="24728"/>
                    </a:lnTo>
                    <a:cubicBezTo>
                      <a:pt x="0" y="11071"/>
                      <a:pt x="11071" y="0"/>
                      <a:pt x="24728" y="0"/>
                    </a:cubicBezTo>
                    <a:close/>
                  </a:path>
                </a:pathLst>
              </a:custGeom>
              <a:solidFill>
                <a:srgbClr val="FFFFFF"/>
              </a:solidFill>
              <a:ln w="19050" cap="rnd">
                <a:solidFill>
                  <a:srgbClr val="4383D1"/>
                </a:solidFill>
                <a:prstDash val="solid"/>
                <a:round/>
              </a:ln>
            </p:spPr>
            <p:txBody>
              <a:bodyPr/>
              <a:lstStyle/>
              <a:p>
                <a:endParaRPr lang="tr-TR"/>
              </a:p>
            </p:txBody>
          </p:sp>
          <p:sp>
            <p:nvSpPr>
              <p:cNvPr id="44" name="TextBox 44"/>
              <p:cNvSpPr txBox="1"/>
              <p:nvPr/>
            </p:nvSpPr>
            <p:spPr>
              <a:xfrm>
                <a:off x="0" y="-28575"/>
                <a:ext cx="1714852" cy="789138"/>
              </a:xfrm>
              <a:prstGeom prst="rect">
                <a:avLst/>
              </a:prstGeom>
            </p:spPr>
            <p:txBody>
              <a:bodyPr lIns="37272" tIns="37272" rIns="37272" bIns="37272" rtlCol="0" anchor="ctr"/>
              <a:lstStyle/>
              <a:p>
                <a:pPr algn="ctr">
                  <a:lnSpc>
                    <a:spcPts val="2520"/>
                  </a:lnSpc>
                </a:pPr>
                <a:endParaRPr/>
              </a:p>
            </p:txBody>
          </p:sp>
        </p:grpSp>
        <p:sp>
          <p:nvSpPr>
            <p:cNvPr id="45" name="TextBox 45"/>
            <p:cNvSpPr txBox="1"/>
            <p:nvPr/>
          </p:nvSpPr>
          <p:spPr>
            <a:xfrm>
              <a:off x="707215" y="248656"/>
              <a:ext cx="7137866" cy="479343"/>
            </a:xfrm>
            <a:prstGeom prst="rect">
              <a:avLst/>
            </a:prstGeom>
          </p:spPr>
          <p:txBody>
            <a:bodyPr lIns="0" tIns="0" rIns="0" bIns="0" rtlCol="0" anchor="t">
              <a:spAutoFit/>
            </a:bodyPr>
            <a:lstStyle/>
            <a:p>
              <a:pPr algn="just">
                <a:lnSpc>
                  <a:spcPts val="2700"/>
                </a:lnSpc>
              </a:pPr>
              <a:r>
                <a:rPr lang="en-US" sz="2500" b="1">
                  <a:solidFill>
                    <a:srgbClr val="000000"/>
                  </a:solidFill>
                  <a:latin typeface="Montserrat Bold"/>
                  <a:ea typeface="Montserrat Bold"/>
                  <a:cs typeface="Montserrat Bold"/>
                  <a:sym typeface="Montserrat Bold"/>
                </a:rPr>
                <a:t>Açıklanabilirlik (XAI) Uyumu:</a:t>
              </a:r>
            </a:p>
          </p:txBody>
        </p:sp>
        <p:sp>
          <p:nvSpPr>
            <p:cNvPr id="46" name="TextBox 46"/>
            <p:cNvSpPr txBox="1"/>
            <p:nvPr/>
          </p:nvSpPr>
          <p:spPr>
            <a:xfrm>
              <a:off x="707215" y="743875"/>
              <a:ext cx="7137866" cy="2576473"/>
            </a:xfrm>
            <a:prstGeom prst="rect">
              <a:avLst/>
            </a:prstGeom>
          </p:spPr>
          <p:txBody>
            <a:bodyPr lIns="0" tIns="0" rIns="0" bIns="0" rtlCol="0" anchor="t">
              <a:spAutoFit/>
            </a:bodyPr>
            <a:lstStyle/>
            <a:p>
              <a:pPr algn="just">
                <a:lnSpc>
                  <a:spcPts val="3079"/>
                </a:lnSpc>
              </a:pPr>
              <a:r>
                <a:rPr lang="en-US" sz="2199" b="1">
                  <a:solidFill>
                    <a:srgbClr val="000000"/>
                  </a:solidFill>
                  <a:latin typeface="Quicksand Semi-Bold"/>
                  <a:ea typeface="Quicksand Semi-Bold"/>
                  <a:cs typeface="Quicksand Semi-Bold"/>
                  <a:sym typeface="Quicksand Semi-Bold"/>
                </a:rPr>
                <a:t>Modelin katman yapısı, Grad-CAM analizine mükemmel yanıt vererek; yapay zekanın embriyonun hangi hücresine baktığını bilimsel olarak kanıtlamamıza olanak tanıdı.</a:t>
              </a:r>
            </a:p>
          </p:txBody>
        </p:sp>
        <p:grpSp>
          <p:nvGrpSpPr>
            <p:cNvPr id="47" name="Group 47"/>
            <p:cNvGrpSpPr/>
            <p:nvPr/>
          </p:nvGrpSpPr>
          <p:grpSpPr>
            <a:xfrm>
              <a:off x="170152" y="791500"/>
              <a:ext cx="461737" cy="461737"/>
              <a:chOff x="0" y="0"/>
              <a:chExt cx="812800" cy="812800"/>
            </a:xfrm>
          </p:grpSpPr>
          <p:sp>
            <p:nvSpPr>
              <p:cNvPr id="48" name="Freeform 48"/>
              <p:cNvSpPr/>
              <p:nvPr/>
            </p:nvSpPr>
            <p:spPr>
              <a:xfrm>
                <a:off x="0" y="59515"/>
                <a:ext cx="766499" cy="693771"/>
              </a:xfrm>
              <a:custGeom>
                <a:avLst/>
                <a:gdLst/>
                <a:ahLst/>
                <a:cxnLst/>
                <a:rect l="l" t="t" r="r" b="b"/>
                <a:pathLst>
                  <a:path w="766499" h="693771">
                    <a:moveTo>
                      <a:pt x="733760" y="267845"/>
                    </a:moveTo>
                    <a:lnTo>
                      <a:pt x="478242" y="12327"/>
                    </a:lnTo>
                    <a:cubicBezTo>
                      <a:pt x="466206" y="291"/>
                      <a:pt x="448105" y="-3309"/>
                      <a:pt x="432379" y="3204"/>
                    </a:cubicBezTo>
                    <a:cubicBezTo>
                      <a:pt x="416653" y="9718"/>
                      <a:pt x="406400" y="25064"/>
                      <a:pt x="406400" y="42085"/>
                    </a:cubicBezTo>
                    <a:lnTo>
                      <a:pt x="406400" y="42085"/>
                    </a:lnTo>
                    <a:cubicBezTo>
                      <a:pt x="406400" y="98197"/>
                      <a:pt x="360912" y="143685"/>
                      <a:pt x="304800" y="143685"/>
                    </a:cubicBezTo>
                    <a:lnTo>
                      <a:pt x="111780" y="143685"/>
                    </a:lnTo>
                    <a:cubicBezTo>
                      <a:pt x="50045" y="143685"/>
                      <a:pt x="0" y="193730"/>
                      <a:pt x="0" y="255465"/>
                    </a:cubicBezTo>
                    <a:lnTo>
                      <a:pt x="0" y="438305"/>
                    </a:lnTo>
                    <a:cubicBezTo>
                      <a:pt x="0" y="500040"/>
                      <a:pt x="50045" y="550085"/>
                      <a:pt x="111780" y="550085"/>
                    </a:cubicBezTo>
                    <a:lnTo>
                      <a:pt x="304800" y="550085"/>
                    </a:lnTo>
                    <a:cubicBezTo>
                      <a:pt x="360912" y="550085"/>
                      <a:pt x="406400" y="595573"/>
                      <a:pt x="406400" y="651685"/>
                    </a:cubicBezTo>
                    <a:lnTo>
                      <a:pt x="406400" y="651685"/>
                    </a:lnTo>
                    <a:cubicBezTo>
                      <a:pt x="406400" y="668706"/>
                      <a:pt x="416653" y="684052"/>
                      <a:pt x="432379" y="690566"/>
                    </a:cubicBezTo>
                    <a:cubicBezTo>
                      <a:pt x="448105" y="697079"/>
                      <a:pt x="466206" y="693479"/>
                      <a:pt x="478242" y="681443"/>
                    </a:cubicBezTo>
                    <a:lnTo>
                      <a:pt x="733760" y="425925"/>
                    </a:lnTo>
                    <a:cubicBezTo>
                      <a:pt x="777413" y="382272"/>
                      <a:pt x="777413" y="311498"/>
                      <a:pt x="733760" y="267845"/>
                    </a:cubicBezTo>
                    <a:close/>
                  </a:path>
                </a:pathLst>
              </a:custGeom>
              <a:solidFill>
                <a:srgbClr val="4E6C7E"/>
              </a:solidFill>
            </p:spPr>
            <p:txBody>
              <a:bodyPr/>
              <a:lstStyle/>
              <a:p>
                <a:endParaRPr lang="tr-TR"/>
              </a:p>
            </p:txBody>
          </p:sp>
          <p:sp>
            <p:nvSpPr>
              <p:cNvPr id="49" name="TextBox 49"/>
              <p:cNvSpPr txBox="1"/>
              <p:nvPr/>
            </p:nvSpPr>
            <p:spPr>
              <a:xfrm>
                <a:off x="0" y="174625"/>
                <a:ext cx="711200" cy="434975"/>
              </a:xfrm>
              <a:prstGeom prst="rect">
                <a:avLst/>
              </a:prstGeom>
            </p:spPr>
            <p:txBody>
              <a:bodyPr lIns="50800" tIns="50800" rIns="50800" bIns="50800" rtlCol="0" anchor="ctr"/>
              <a:lstStyle/>
              <a:p>
                <a:pPr algn="ctr">
                  <a:lnSpc>
                    <a:spcPts val="2520"/>
                  </a:lnSpc>
                </a:pPr>
                <a:endParaRPr/>
              </a:p>
            </p:txBody>
          </p:sp>
        </p:grpSp>
      </p:grpSp>
      <p:grpSp>
        <p:nvGrpSpPr>
          <p:cNvPr id="50" name="Group 50"/>
          <p:cNvGrpSpPr/>
          <p:nvPr/>
        </p:nvGrpSpPr>
        <p:grpSpPr>
          <a:xfrm>
            <a:off x="7526371" y="4446267"/>
            <a:ext cx="6247271" cy="2880763"/>
            <a:chOff x="0" y="0"/>
            <a:chExt cx="8329694" cy="3841018"/>
          </a:xfrm>
        </p:grpSpPr>
        <p:grpSp>
          <p:nvGrpSpPr>
            <p:cNvPr id="51" name="Group 51"/>
            <p:cNvGrpSpPr/>
            <p:nvPr/>
          </p:nvGrpSpPr>
          <p:grpSpPr>
            <a:xfrm>
              <a:off x="176625" y="215002"/>
              <a:ext cx="8153069" cy="3616008"/>
              <a:chOff x="0" y="0"/>
              <a:chExt cx="1714852" cy="760563"/>
            </a:xfrm>
          </p:grpSpPr>
          <p:sp>
            <p:nvSpPr>
              <p:cNvPr id="52" name="Freeform 52"/>
              <p:cNvSpPr/>
              <p:nvPr/>
            </p:nvSpPr>
            <p:spPr>
              <a:xfrm>
                <a:off x="0" y="0"/>
                <a:ext cx="1714852" cy="760563"/>
              </a:xfrm>
              <a:custGeom>
                <a:avLst/>
                <a:gdLst/>
                <a:ahLst/>
                <a:cxnLst/>
                <a:rect l="l" t="t" r="r" b="b"/>
                <a:pathLst>
                  <a:path w="1714852" h="760563">
                    <a:moveTo>
                      <a:pt x="24728" y="0"/>
                    </a:moveTo>
                    <a:lnTo>
                      <a:pt x="1690124" y="0"/>
                    </a:lnTo>
                    <a:cubicBezTo>
                      <a:pt x="1703781" y="0"/>
                      <a:pt x="1714852" y="11071"/>
                      <a:pt x="1714852" y="24728"/>
                    </a:cubicBezTo>
                    <a:lnTo>
                      <a:pt x="1714852" y="735834"/>
                    </a:lnTo>
                    <a:cubicBezTo>
                      <a:pt x="1714852" y="749491"/>
                      <a:pt x="1703781" y="760563"/>
                      <a:pt x="1690124" y="760563"/>
                    </a:cubicBezTo>
                    <a:lnTo>
                      <a:pt x="24728" y="760563"/>
                    </a:lnTo>
                    <a:cubicBezTo>
                      <a:pt x="11071" y="760563"/>
                      <a:pt x="0" y="749491"/>
                      <a:pt x="0" y="735834"/>
                    </a:cubicBezTo>
                    <a:lnTo>
                      <a:pt x="0" y="24728"/>
                    </a:lnTo>
                    <a:cubicBezTo>
                      <a:pt x="0" y="11071"/>
                      <a:pt x="11071" y="0"/>
                      <a:pt x="24728" y="0"/>
                    </a:cubicBezTo>
                    <a:close/>
                  </a:path>
                </a:pathLst>
              </a:custGeom>
              <a:solidFill>
                <a:srgbClr val="4E6C7E"/>
              </a:solidFill>
              <a:ln w="19050" cap="rnd">
                <a:solidFill>
                  <a:srgbClr val="4383D1"/>
                </a:solidFill>
                <a:prstDash val="solid"/>
                <a:round/>
              </a:ln>
            </p:spPr>
            <p:txBody>
              <a:bodyPr/>
              <a:lstStyle/>
              <a:p>
                <a:endParaRPr lang="tr-TR"/>
              </a:p>
            </p:txBody>
          </p:sp>
          <p:sp>
            <p:nvSpPr>
              <p:cNvPr id="53" name="TextBox 53"/>
              <p:cNvSpPr txBox="1"/>
              <p:nvPr/>
            </p:nvSpPr>
            <p:spPr>
              <a:xfrm>
                <a:off x="0" y="-28575"/>
                <a:ext cx="1714852" cy="789138"/>
              </a:xfrm>
              <a:prstGeom prst="rect">
                <a:avLst/>
              </a:prstGeom>
            </p:spPr>
            <p:txBody>
              <a:bodyPr lIns="37272" tIns="37272" rIns="37272" bIns="37272" rtlCol="0" anchor="ctr"/>
              <a:lstStyle/>
              <a:p>
                <a:pPr algn="ctr">
                  <a:lnSpc>
                    <a:spcPts val="2520"/>
                  </a:lnSpc>
                </a:pPr>
                <a:endParaRPr/>
              </a:p>
            </p:txBody>
          </p:sp>
        </p:grpSp>
        <p:grpSp>
          <p:nvGrpSpPr>
            <p:cNvPr id="54" name="Group 54"/>
            <p:cNvGrpSpPr/>
            <p:nvPr/>
          </p:nvGrpSpPr>
          <p:grpSpPr>
            <a:xfrm>
              <a:off x="0" y="0"/>
              <a:ext cx="8153069" cy="3616008"/>
              <a:chOff x="0" y="0"/>
              <a:chExt cx="1714852" cy="760563"/>
            </a:xfrm>
          </p:grpSpPr>
          <p:sp>
            <p:nvSpPr>
              <p:cNvPr id="55" name="Freeform 55"/>
              <p:cNvSpPr/>
              <p:nvPr/>
            </p:nvSpPr>
            <p:spPr>
              <a:xfrm>
                <a:off x="0" y="0"/>
                <a:ext cx="1714852" cy="760563"/>
              </a:xfrm>
              <a:custGeom>
                <a:avLst/>
                <a:gdLst/>
                <a:ahLst/>
                <a:cxnLst/>
                <a:rect l="l" t="t" r="r" b="b"/>
                <a:pathLst>
                  <a:path w="1714852" h="760563">
                    <a:moveTo>
                      <a:pt x="24728" y="0"/>
                    </a:moveTo>
                    <a:lnTo>
                      <a:pt x="1690124" y="0"/>
                    </a:lnTo>
                    <a:cubicBezTo>
                      <a:pt x="1703781" y="0"/>
                      <a:pt x="1714852" y="11071"/>
                      <a:pt x="1714852" y="24728"/>
                    </a:cubicBezTo>
                    <a:lnTo>
                      <a:pt x="1714852" y="735834"/>
                    </a:lnTo>
                    <a:cubicBezTo>
                      <a:pt x="1714852" y="749491"/>
                      <a:pt x="1703781" y="760563"/>
                      <a:pt x="1690124" y="760563"/>
                    </a:cubicBezTo>
                    <a:lnTo>
                      <a:pt x="24728" y="760563"/>
                    </a:lnTo>
                    <a:cubicBezTo>
                      <a:pt x="11071" y="760563"/>
                      <a:pt x="0" y="749491"/>
                      <a:pt x="0" y="735834"/>
                    </a:cubicBezTo>
                    <a:lnTo>
                      <a:pt x="0" y="24728"/>
                    </a:lnTo>
                    <a:cubicBezTo>
                      <a:pt x="0" y="11071"/>
                      <a:pt x="11071" y="0"/>
                      <a:pt x="24728" y="0"/>
                    </a:cubicBezTo>
                    <a:close/>
                  </a:path>
                </a:pathLst>
              </a:custGeom>
              <a:solidFill>
                <a:srgbClr val="FFFFFF"/>
              </a:solidFill>
              <a:ln w="19050" cap="rnd">
                <a:solidFill>
                  <a:srgbClr val="4383D1"/>
                </a:solidFill>
                <a:prstDash val="solid"/>
                <a:round/>
              </a:ln>
            </p:spPr>
            <p:txBody>
              <a:bodyPr/>
              <a:lstStyle/>
              <a:p>
                <a:endParaRPr lang="tr-TR"/>
              </a:p>
            </p:txBody>
          </p:sp>
          <p:sp>
            <p:nvSpPr>
              <p:cNvPr id="56" name="TextBox 56"/>
              <p:cNvSpPr txBox="1"/>
              <p:nvPr/>
            </p:nvSpPr>
            <p:spPr>
              <a:xfrm>
                <a:off x="0" y="-28575"/>
                <a:ext cx="1714852" cy="789138"/>
              </a:xfrm>
              <a:prstGeom prst="rect">
                <a:avLst/>
              </a:prstGeom>
            </p:spPr>
            <p:txBody>
              <a:bodyPr lIns="37272" tIns="37272" rIns="37272" bIns="37272" rtlCol="0" anchor="ctr"/>
              <a:lstStyle/>
              <a:p>
                <a:pPr algn="ctr">
                  <a:lnSpc>
                    <a:spcPts val="2520"/>
                  </a:lnSpc>
                </a:pPr>
                <a:endParaRPr/>
              </a:p>
            </p:txBody>
          </p:sp>
        </p:grpSp>
        <p:sp>
          <p:nvSpPr>
            <p:cNvPr id="57" name="TextBox 57"/>
            <p:cNvSpPr txBox="1"/>
            <p:nvPr/>
          </p:nvSpPr>
          <p:spPr>
            <a:xfrm>
              <a:off x="707215" y="248656"/>
              <a:ext cx="7137866" cy="479343"/>
            </a:xfrm>
            <a:prstGeom prst="rect">
              <a:avLst/>
            </a:prstGeom>
          </p:spPr>
          <p:txBody>
            <a:bodyPr lIns="0" tIns="0" rIns="0" bIns="0" rtlCol="0" anchor="t">
              <a:spAutoFit/>
            </a:bodyPr>
            <a:lstStyle/>
            <a:p>
              <a:pPr algn="just">
                <a:lnSpc>
                  <a:spcPts val="2700"/>
                </a:lnSpc>
              </a:pPr>
              <a:r>
                <a:rPr lang="en-US" sz="2500" b="1">
                  <a:solidFill>
                    <a:srgbClr val="000000"/>
                  </a:solidFill>
                  <a:latin typeface="Montserrat Bold"/>
                  <a:ea typeface="Montserrat Bold"/>
                  <a:cs typeface="Montserrat Bold"/>
                  <a:sym typeface="Montserrat Bold"/>
                </a:rPr>
                <a:t>Klinik Standart:</a:t>
              </a:r>
            </a:p>
          </p:txBody>
        </p:sp>
        <p:sp>
          <p:nvSpPr>
            <p:cNvPr id="58" name="TextBox 58"/>
            <p:cNvSpPr txBox="1"/>
            <p:nvPr/>
          </p:nvSpPr>
          <p:spPr>
            <a:xfrm>
              <a:off x="707215" y="743875"/>
              <a:ext cx="7137866" cy="3097143"/>
            </a:xfrm>
            <a:prstGeom prst="rect">
              <a:avLst/>
            </a:prstGeom>
          </p:spPr>
          <p:txBody>
            <a:bodyPr lIns="0" tIns="0" rIns="0" bIns="0" rtlCol="0" anchor="t">
              <a:spAutoFit/>
            </a:bodyPr>
            <a:lstStyle/>
            <a:p>
              <a:pPr algn="just">
                <a:lnSpc>
                  <a:spcPts val="3079"/>
                </a:lnSpc>
              </a:pPr>
              <a:r>
                <a:rPr lang="en-US" sz="2199" b="1">
                  <a:solidFill>
                    <a:srgbClr val="000000"/>
                  </a:solidFill>
                  <a:latin typeface="Quicksand Semi-Bold"/>
                  <a:ea typeface="Quicksand Semi-Bold"/>
                  <a:cs typeface="Quicksand Semi-Bold"/>
                  <a:sym typeface="Quicksand Semi-Bold"/>
                </a:rPr>
                <a:t>Tıbbi yapay zeka literatüründe en güvenilir ve hata payı en düşük modellerden biri olduğu için klinik karar destek sistemi prototipimize temel olarak seçilmiştir.</a:t>
              </a:r>
            </a:p>
            <a:p>
              <a:pPr algn="just">
                <a:lnSpc>
                  <a:spcPts val="3079"/>
                </a:lnSpc>
              </a:pPr>
              <a:endParaRPr lang="en-US" sz="2199" b="1">
                <a:solidFill>
                  <a:srgbClr val="000000"/>
                </a:solidFill>
                <a:latin typeface="Quicksand Semi-Bold"/>
                <a:ea typeface="Quicksand Semi-Bold"/>
                <a:cs typeface="Quicksand Semi-Bold"/>
                <a:sym typeface="Quicksand Semi-Bold"/>
              </a:endParaRPr>
            </a:p>
          </p:txBody>
        </p:sp>
        <p:grpSp>
          <p:nvGrpSpPr>
            <p:cNvPr id="59" name="Group 59"/>
            <p:cNvGrpSpPr/>
            <p:nvPr/>
          </p:nvGrpSpPr>
          <p:grpSpPr>
            <a:xfrm>
              <a:off x="170152" y="791500"/>
              <a:ext cx="461737" cy="461737"/>
              <a:chOff x="0" y="0"/>
              <a:chExt cx="812800" cy="812800"/>
            </a:xfrm>
          </p:grpSpPr>
          <p:sp>
            <p:nvSpPr>
              <p:cNvPr id="60" name="Freeform 60"/>
              <p:cNvSpPr/>
              <p:nvPr/>
            </p:nvSpPr>
            <p:spPr>
              <a:xfrm>
                <a:off x="0" y="59515"/>
                <a:ext cx="766499" cy="693771"/>
              </a:xfrm>
              <a:custGeom>
                <a:avLst/>
                <a:gdLst/>
                <a:ahLst/>
                <a:cxnLst/>
                <a:rect l="l" t="t" r="r" b="b"/>
                <a:pathLst>
                  <a:path w="766499" h="693771">
                    <a:moveTo>
                      <a:pt x="733760" y="267845"/>
                    </a:moveTo>
                    <a:lnTo>
                      <a:pt x="478242" y="12327"/>
                    </a:lnTo>
                    <a:cubicBezTo>
                      <a:pt x="466206" y="291"/>
                      <a:pt x="448105" y="-3309"/>
                      <a:pt x="432379" y="3204"/>
                    </a:cubicBezTo>
                    <a:cubicBezTo>
                      <a:pt x="416653" y="9718"/>
                      <a:pt x="406400" y="25064"/>
                      <a:pt x="406400" y="42085"/>
                    </a:cubicBezTo>
                    <a:lnTo>
                      <a:pt x="406400" y="42085"/>
                    </a:lnTo>
                    <a:cubicBezTo>
                      <a:pt x="406400" y="98197"/>
                      <a:pt x="360912" y="143685"/>
                      <a:pt x="304800" y="143685"/>
                    </a:cubicBezTo>
                    <a:lnTo>
                      <a:pt x="111780" y="143685"/>
                    </a:lnTo>
                    <a:cubicBezTo>
                      <a:pt x="50045" y="143685"/>
                      <a:pt x="0" y="193730"/>
                      <a:pt x="0" y="255465"/>
                    </a:cubicBezTo>
                    <a:lnTo>
                      <a:pt x="0" y="438305"/>
                    </a:lnTo>
                    <a:cubicBezTo>
                      <a:pt x="0" y="500040"/>
                      <a:pt x="50045" y="550085"/>
                      <a:pt x="111780" y="550085"/>
                    </a:cubicBezTo>
                    <a:lnTo>
                      <a:pt x="304800" y="550085"/>
                    </a:lnTo>
                    <a:cubicBezTo>
                      <a:pt x="360912" y="550085"/>
                      <a:pt x="406400" y="595573"/>
                      <a:pt x="406400" y="651685"/>
                    </a:cubicBezTo>
                    <a:lnTo>
                      <a:pt x="406400" y="651685"/>
                    </a:lnTo>
                    <a:cubicBezTo>
                      <a:pt x="406400" y="668706"/>
                      <a:pt x="416653" y="684052"/>
                      <a:pt x="432379" y="690566"/>
                    </a:cubicBezTo>
                    <a:cubicBezTo>
                      <a:pt x="448105" y="697079"/>
                      <a:pt x="466206" y="693479"/>
                      <a:pt x="478242" y="681443"/>
                    </a:cubicBezTo>
                    <a:lnTo>
                      <a:pt x="733760" y="425925"/>
                    </a:lnTo>
                    <a:cubicBezTo>
                      <a:pt x="777413" y="382272"/>
                      <a:pt x="777413" y="311498"/>
                      <a:pt x="733760" y="267845"/>
                    </a:cubicBezTo>
                    <a:close/>
                  </a:path>
                </a:pathLst>
              </a:custGeom>
              <a:solidFill>
                <a:srgbClr val="4E6C7E"/>
              </a:solidFill>
            </p:spPr>
            <p:txBody>
              <a:bodyPr/>
              <a:lstStyle/>
              <a:p>
                <a:endParaRPr lang="tr-TR"/>
              </a:p>
            </p:txBody>
          </p:sp>
          <p:sp>
            <p:nvSpPr>
              <p:cNvPr id="61" name="TextBox 61"/>
              <p:cNvSpPr txBox="1"/>
              <p:nvPr/>
            </p:nvSpPr>
            <p:spPr>
              <a:xfrm>
                <a:off x="0" y="174625"/>
                <a:ext cx="711200" cy="434975"/>
              </a:xfrm>
              <a:prstGeom prst="rect">
                <a:avLst/>
              </a:prstGeom>
            </p:spPr>
            <p:txBody>
              <a:bodyPr lIns="50800" tIns="50800" rIns="50800" bIns="50800" rtlCol="0" anchor="ctr"/>
              <a:lstStyle/>
              <a:p>
                <a:pPr algn="ctr">
                  <a:lnSpc>
                    <a:spcPts val="2520"/>
                  </a:lnSpc>
                </a:pPr>
                <a:endParaRPr/>
              </a:p>
            </p:txBody>
          </p:sp>
        </p:grpSp>
      </p:grpSp>
      <p:sp>
        <p:nvSpPr>
          <p:cNvPr id="62" name="Freeform 62"/>
          <p:cNvSpPr/>
          <p:nvPr/>
        </p:nvSpPr>
        <p:spPr>
          <a:xfrm>
            <a:off x="12988715" y="6732822"/>
            <a:ext cx="5299285" cy="3530649"/>
          </a:xfrm>
          <a:custGeom>
            <a:avLst/>
            <a:gdLst/>
            <a:ahLst/>
            <a:cxnLst/>
            <a:rect l="l" t="t" r="r" b="b"/>
            <a:pathLst>
              <a:path w="5299285" h="3530649">
                <a:moveTo>
                  <a:pt x="0" y="0"/>
                </a:moveTo>
                <a:lnTo>
                  <a:pt x="5299285" y="0"/>
                </a:lnTo>
                <a:lnTo>
                  <a:pt x="5299285" y="3530649"/>
                </a:lnTo>
                <a:lnTo>
                  <a:pt x="0" y="3530649"/>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tr-TR"/>
          </a:p>
        </p:txBody>
      </p:sp>
      <p:sp>
        <p:nvSpPr>
          <p:cNvPr id="63" name="TextBox 63"/>
          <p:cNvSpPr txBox="1"/>
          <p:nvPr/>
        </p:nvSpPr>
        <p:spPr>
          <a:xfrm>
            <a:off x="1559112" y="1652346"/>
            <a:ext cx="5353399" cy="352364"/>
          </a:xfrm>
          <a:prstGeom prst="rect">
            <a:avLst/>
          </a:prstGeom>
        </p:spPr>
        <p:txBody>
          <a:bodyPr lIns="0" tIns="0" rIns="0" bIns="0" rtlCol="0" anchor="t">
            <a:spAutoFit/>
          </a:bodyPr>
          <a:lstStyle/>
          <a:p>
            <a:pPr algn="just">
              <a:lnSpc>
                <a:spcPts val="2700"/>
              </a:lnSpc>
            </a:pPr>
            <a:r>
              <a:rPr lang="en-US" sz="2500" b="1">
                <a:solidFill>
                  <a:srgbClr val="000000"/>
                </a:solidFill>
                <a:latin typeface="Montserrat Bold"/>
                <a:ea typeface="Montserrat Bold"/>
                <a:cs typeface="Montserrat Bold"/>
                <a:sym typeface="Montserrat Bold"/>
              </a:rPr>
              <a:t>Sınırlı Veriyle Maksimum Verim:</a:t>
            </a:r>
          </a:p>
        </p:txBody>
      </p:sp>
      <p:sp>
        <p:nvSpPr>
          <p:cNvPr id="64" name="TextBox 64"/>
          <p:cNvSpPr txBox="1"/>
          <p:nvPr/>
        </p:nvSpPr>
        <p:spPr>
          <a:xfrm>
            <a:off x="1559112" y="2004709"/>
            <a:ext cx="5353399" cy="1944261"/>
          </a:xfrm>
          <a:prstGeom prst="rect">
            <a:avLst/>
          </a:prstGeom>
        </p:spPr>
        <p:txBody>
          <a:bodyPr lIns="0" tIns="0" rIns="0" bIns="0" rtlCol="0" anchor="t">
            <a:spAutoFit/>
          </a:bodyPr>
          <a:lstStyle/>
          <a:p>
            <a:pPr algn="just">
              <a:lnSpc>
                <a:spcPts val="3079"/>
              </a:lnSpc>
            </a:pPr>
            <a:r>
              <a:rPr lang="en-US" sz="2199" b="1">
                <a:solidFill>
                  <a:srgbClr val="000000"/>
                </a:solidFill>
                <a:latin typeface="Quicksand Semi-Bold"/>
                <a:ea typeface="Quicksand Semi-Bold"/>
                <a:cs typeface="Quicksand Semi-Bold"/>
                <a:sym typeface="Quicksand Semi-Bold"/>
              </a:rPr>
              <a:t>Projemizdeki kısıtlı veri setiyle sıfırdan öğrenmek yerine, ResNet50’nin milyonlarca görselden gelen "ön bilgisini" (Transfer Learning) kullanarak aşırı öğrenme (overfitting) engellendi.</a:t>
            </a:r>
          </a:p>
        </p:txBody>
      </p:sp>
      <p:sp>
        <p:nvSpPr>
          <p:cNvPr id="65" name="TextBox 65"/>
          <p:cNvSpPr txBox="1"/>
          <p:nvPr/>
        </p:nvSpPr>
        <p:spPr>
          <a:xfrm>
            <a:off x="1028700" y="346724"/>
            <a:ext cx="15262208" cy="995620"/>
          </a:xfrm>
          <a:prstGeom prst="rect">
            <a:avLst/>
          </a:prstGeom>
        </p:spPr>
        <p:txBody>
          <a:bodyPr lIns="0" tIns="0" rIns="0" bIns="0" rtlCol="0" anchor="t">
            <a:spAutoFit/>
          </a:bodyPr>
          <a:lstStyle/>
          <a:p>
            <a:pPr marL="0" lvl="0" indent="0" algn="l">
              <a:lnSpc>
                <a:spcPts val="8119"/>
              </a:lnSpc>
              <a:spcBef>
                <a:spcPct val="0"/>
              </a:spcBef>
            </a:pPr>
            <a:r>
              <a:rPr lang="en-US" sz="5799" b="1">
                <a:solidFill>
                  <a:srgbClr val="154562"/>
                </a:solidFill>
                <a:latin typeface="Montserrat Ultra-Bold"/>
                <a:ea typeface="Montserrat Ultra-Bold"/>
                <a:cs typeface="Montserrat Ultra-Bold"/>
                <a:sym typeface="Montserrat Ultra-Bold"/>
              </a:rPr>
              <a:t>N</a:t>
            </a:r>
            <a:r>
              <a:rPr lang="en-US" sz="5799" b="1" u="none" strike="noStrike">
                <a:solidFill>
                  <a:srgbClr val="154562"/>
                </a:solidFill>
                <a:latin typeface="Montserrat Ultra-Bold"/>
                <a:ea typeface="Montserrat Ultra-Bold"/>
                <a:cs typeface="Montserrat Ultra-Bold"/>
                <a:sym typeface="Montserrat Ultra-Bold"/>
              </a:rPr>
              <a:t>eden ResNet50 Seçildi?</a:t>
            </a:r>
          </a:p>
        </p:txBody>
      </p:sp>
      <p:sp>
        <p:nvSpPr>
          <p:cNvPr id="66" name="TextBox 66"/>
          <p:cNvSpPr txBox="1"/>
          <p:nvPr/>
        </p:nvSpPr>
        <p:spPr>
          <a:xfrm>
            <a:off x="1687052" y="8026822"/>
            <a:ext cx="6244839" cy="396599"/>
          </a:xfrm>
          <a:prstGeom prst="rect">
            <a:avLst/>
          </a:prstGeom>
        </p:spPr>
        <p:txBody>
          <a:bodyPr lIns="0" tIns="0" rIns="0" bIns="0" rtlCol="0" anchor="t">
            <a:spAutoFit/>
          </a:bodyPr>
          <a:lstStyle/>
          <a:p>
            <a:pPr algn="just">
              <a:lnSpc>
                <a:spcPts val="3132"/>
              </a:lnSpc>
            </a:pPr>
            <a:r>
              <a:rPr lang="en-US" sz="2900" b="1">
                <a:solidFill>
                  <a:srgbClr val="000000"/>
                </a:solidFill>
                <a:latin typeface="Montserrat Bold"/>
                <a:ea typeface="Montserrat Bold"/>
                <a:cs typeface="Montserrat Bold"/>
                <a:sym typeface="Montserrat Bold"/>
              </a:rPr>
              <a:t>Optimum Derinlik:</a:t>
            </a:r>
          </a:p>
        </p:txBody>
      </p:sp>
      <p:sp>
        <p:nvSpPr>
          <p:cNvPr id="67" name="TextBox 67"/>
          <p:cNvSpPr txBox="1"/>
          <p:nvPr/>
        </p:nvSpPr>
        <p:spPr>
          <a:xfrm>
            <a:off x="1687052" y="8423421"/>
            <a:ext cx="11177838" cy="798852"/>
          </a:xfrm>
          <a:prstGeom prst="rect">
            <a:avLst/>
          </a:prstGeom>
        </p:spPr>
        <p:txBody>
          <a:bodyPr lIns="0" tIns="0" rIns="0" bIns="0" rtlCol="0" anchor="t">
            <a:spAutoFit/>
          </a:bodyPr>
          <a:lstStyle/>
          <a:p>
            <a:pPr algn="just">
              <a:lnSpc>
                <a:spcPts val="3219"/>
              </a:lnSpc>
            </a:pPr>
            <a:r>
              <a:rPr lang="en-US" sz="2299" b="1">
                <a:solidFill>
                  <a:srgbClr val="000000"/>
                </a:solidFill>
                <a:latin typeface="Quicksand Semi-Bold"/>
                <a:ea typeface="Quicksand Semi-Bold"/>
                <a:cs typeface="Quicksand Semi-Bold"/>
                <a:sym typeface="Quicksand Semi-Bold"/>
              </a:rPr>
              <a:t>50 katmanlık yapısı, embriyo sınıflandırma gibi karmaşık bir görev için gereken derinliği sağlarken, işlem süresini ve kaynak kullanımını dengede tutar.</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561132" y="6535415"/>
            <a:ext cx="5581577" cy="5581577"/>
            <a:chOff x="0" y="0"/>
            <a:chExt cx="812800" cy="812800"/>
          </a:xfrm>
        </p:grpSpPr>
        <p:sp>
          <p:nvSpPr>
            <p:cNvPr id="3" name="Freeform 3"/>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1">
              <a:gsLst>
                <a:gs pos="0">
                  <a:srgbClr val="377FD6">
                    <a:alpha val="31000"/>
                  </a:srgbClr>
                </a:gs>
                <a:gs pos="100000">
                  <a:srgbClr val="CBE2FF">
                    <a:alpha val="31000"/>
                  </a:srgbClr>
                </a:gs>
              </a:gsLst>
              <a:lin ang="5400000"/>
            </a:gradFill>
          </p:spPr>
          <p:txBody>
            <a:bodyPr/>
            <a:lstStyle/>
            <a:p>
              <a:endParaRPr lang="tr-TR"/>
            </a:p>
          </p:txBody>
        </p:sp>
        <p:sp>
          <p:nvSpPr>
            <p:cNvPr id="4" name="TextBox 4"/>
            <p:cNvSpPr txBox="1"/>
            <p:nvPr/>
          </p:nvSpPr>
          <p:spPr>
            <a:xfrm>
              <a:off x="76200" y="47625"/>
              <a:ext cx="660400" cy="688975"/>
            </a:xfrm>
            <a:prstGeom prst="rect">
              <a:avLst/>
            </a:prstGeom>
          </p:spPr>
          <p:txBody>
            <a:bodyPr lIns="50800" tIns="50800" rIns="50800" bIns="50800" rtlCol="0" anchor="ctr"/>
            <a:lstStyle/>
            <a:p>
              <a:pPr algn="ctr">
                <a:lnSpc>
                  <a:spcPts val="2520"/>
                </a:lnSpc>
              </a:pPr>
              <a:endParaRPr/>
            </a:p>
          </p:txBody>
        </p:sp>
      </p:grpSp>
      <p:grpSp>
        <p:nvGrpSpPr>
          <p:cNvPr id="5" name="Group 5"/>
          <p:cNvGrpSpPr/>
          <p:nvPr/>
        </p:nvGrpSpPr>
        <p:grpSpPr>
          <a:xfrm>
            <a:off x="-2926725" y="4084088"/>
            <a:ext cx="6278646" cy="6278646"/>
            <a:chOff x="0" y="0"/>
            <a:chExt cx="812800" cy="812800"/>
          </a:xfrm>
        </p:grpSpPr>
        <p:sp>
          <p:nvSpPr>
            <p:cNvPr id="6" name="Freeform 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1">
              <a:gsLst>
                <a:gs pos="0">
                  <a:srgbClr val="377FD6">
                    <a:alpha val="31000"/>
                  </a:srgbClr>
                </a:gs>
                <a:gs pos="100000">
                  <a:srgbClr val="CBE2FF">
                    <a:alpha val="31000"/>
                  </a:srgbClr>
                </a:gs>
              </a:gsLst>
              <a:lin ang="5400000"/>
            </a:gradFill>
          </p:spPr>
          <p:txBody>
            <a:bodyPr/>
            <a:lstStyle/>
            <a:p>
              <a:endParaRPr lang="tr-TR"/>
            </a:p>
          </p:txBody>
        </p:sp>
        <p:sp>
          <p:nvSpPr>
            <p:cNvPr id="7" name="TextBox 7"/>
            <p:cNvSpPr txBox="1"/>
            <p:nvPr/>
          </p:nvSpPr>
          <p:spPr>
            <a:xfrm>
              <a:off x="76200" y="47625"/>
              <a:ext cx="660400" cy="688975"/>
            </a:xfrm>
            <a:prstGeom prst="rect">
              <a:avLst/>
            </a:prstGeom>
          </p:spPr>
          <p:txBody>
            <a:bodyPr lIns="50800" tIns="50800" rIns="50800" bIns="50800" rtlCol="0" anchor="ctr"/>
            <a:lstStyle/>
            <a:p>
              <a:pPr algn="ctr">
                <a:lnSpc>
                  <a:spcPts val="2520"/>
                </a:lnSpc>
              </a:pPr>
              <a:endParaRPr/>
            </a:p>
          </p:txBody>
        </p:sp>
      </p:grpSp>
      <p:grpSp>
        <p:nvGrpSpPr>
          <p:cNvPr id="8" name="Group 8"/>
          <p:cNvGrpSpPr/>
          <p:nvPr/>
        </p:nvGrpSpPr>
        <p:grpSpPr>
          <a:xfrm>
            <a:off x="14428420" y="-1193467"/>
            <a:ext cx="4896206" cy="4896206"/>
            <a:chOff x="0" y="0"/>
            <a:chExt cx="812800" cy="812800"/>
          </a:xfrm>
        </p:grpSpPr>
        <p:sp>
          <p:nvSpPr>
            <p:cNvPr id="9" name="Freeform 9"/>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1">
              <a:gsLst>
                <a:gs pos="0">
                  <a:srgbClr val="377FD6">
                    <a:alpha val="31000"/>
                  </a:srgbClr>
                </a:gs>
                <a:gs pos="100000">
                  <a:srgbClr val="CBE2FF">
                    <a:alpha val="31000"/>
                  </a:srgbClr>
                </a:gs>
              </a:gsLst>
              <a:lin ang="5400000"/>
            </a:gradFill>
          </p:spPr>
          <p:txBody>
            <a:bodyPr/>
            <a:lstStyle/>
            <a:p>
              <a:endParaRPr lang="tr-TR"/>
            </a:p>
          </p:txBody>
        </p:sp>
        <p:sp>
          <p:nvSpPr>
            <p:cNvPr id="10" name="TextBox 10"/>
            <p:cNvSpPr txBox="1"/>
            <p:nvPr/>
          </p:nvSpPr>
          <p:spPr>
            <a:xfrm>
              <a:off x="76200" y="47625"/>
              <a:ext cx="660400" cy="688975"/>
            </a:xfrm>
            <a:prstGeom prst="rect">
              <a:avLst/>
            </a:prstGeom>
          </p:spPr>
          <p:txBody>
            <a:bodyPr lIns="50800" tIns="50800" rIns="50800" bIns="50800" rtlCol="0" anchor="ctr"/>
            <a:lstStyle/>
            <a:p>
              <a:pPr algn="ctr">
                <a:lnSpc>
                  <a:spcPts val="2520"/>
                </a:lnSpc>
              </a:pPr>
              <a:endParaRPr/>
            </a:p>
          </p:txBody>
        </p:sp>
      </p:grpSp>
      <p:grpSp>
        <p:nvGrpSpPr>
          <p:cNvPr id="11" name="Group 11"/>
          <p:cNvGrpSpPr/>
          <p:nvPr/>
        </p:nvGrpSpPr>
        <p:grpSpPr>
          <a:xfrm>
            <a:off x="1028700" y="1632760"/>
            <a:ext cx="6716565" cy="5106593"/>
            <a:chOff x="0" y="0"/>
            <a:chExt cx="8955420" cy="6808791"/>
          </a:xfrm>
        </p:grpSpPr>
        <p:grpSp>
          <p:nvGrpSpPr>
            <p:cNvPr id="12" name="Group 12"/>
            <p:cNvGrpSpPr/>
            <p:nvPr/>
          </p:nvGrpSpPr>
          <p:grpSpPr>
            <a:xfrm>
              <a:off x="189893" y="382119"/>
              <a:ext cx="8765527" cy="6426671"/>
              <a:chOff x="0" y="0"/>
              <a:chExt cx="1770042" cy="1297752"/>
            </a:xfrm>
          </p:grpSpPr>
          <p:sp>
            <p:nvSpPr>
              <p:cNvPr id="13" name="Freeform 13"/>
              <p:cNvSpPr/>
              <p:nvPr/>
            </p:nvSpPr>
            <p:spPr>
              <a:xfrm>
                <a:off x="0" y="0"/>
                <a:ext cx="1770042" cy="1297752"/>
              </a:xfrm>
              <a:custGeom>
                <a:avLst/>
                <a:gdLst/>
                <a:ahLst/>
                <a:cxnLst/>
                <a:rect l="l" t="t" r="r" b="b"/>
                <a:pathLst>
                  <a:path w="1770042" h="1297752">
                    <a:moveTo>
                      <a:pt x="17578" y="0"/>
                    </a:moveTo>
                    <a:lnTo>
                      <a:pt x="1752465" y="0"/>
                    </a:lnTo>
                    <a:cubicBezTo>
                      <a:pt x="1757127" y="0"/>
                      <a:pt x="1761598" y="1852"/>
                      <a:pt x="1764894" y="5148"/>
                    </a:cubicBezTo>
                    <a:cubicBezTo>
                      <a:pt x="1768191" y="8445"/>
                      <a:pt x="1770042" y="12916"/>
                      <a:pt x="1770042" y="17578"/>
                    </a:cubicBezTo>
                    <a:lnTo>
                      <a:pt x="1770042" y="1280175"/>
                    </a:lnTo>
                    <a:cubicBezTo>
                      <a:pt x="1770042" y="1284836"/>
                      <a:pt x="1768191" y="1289307"/>
                      <a:pt x="1764894" y="1292604"/>
                    </a:cubicBezTo>
                    <a:cubicBezTo>
                      <a:pt x="1761598" y="1295900"/>
                      <a:pt x="1757127" y="1297752"/>
                      <a:pt x="1752465" y="1297752"/>
                    </a:cubicBezTo>
                    <a:lnTo>
                      <a:pt x="17578" y="1297752"/>
                    </a:lnTo>
                    <a:cubicBezTo>
                      <a:pt x="12916" y="1297752"/>
                      <a:pt x="8445" y="1295900"/>
                      <a:pt x="5148" y="1292604"/>
                    </a:cubicBezTo>
                    <a:cubicBezTo>
                      <a:pt x="1852" y="1289307"/>
                      <a:pt x="0" y="1284836"/>
                      <a:pt x="0" y="1280175"/>
                    </a:cubicBezTo>
                    <a:lnTo>
                      <a:pt x="0" y="17578"/>
                    </a:lnTo>
                    <a:cubicBezTo>
                      <a:pt x="0" y="12916"/>
                      <a:pt x="1852" y="8445"/>
                      <a:pt x="5148" y="5148"/>
                    </a:cubicBezTo>
                    <a:cubicBezTo>
                      <a:pt x="8445" y="1852"/>
                      <a:pt x="12916" y="0"/>
                      <a:pt x="17578" y="0"/>
                    </a:cubicBezTo>
                    <a:close/>
                  </a:path>
                </a:pathLst>
              </a:custGeom>
              <a:solidFill>
                <a:srgbClr val="4E6C7E"/>
              </a:solidFill>
              <a:ln w="19050" cap="rnd">
                <a:solidFill>
                  <a:srgbClr val="4383D1"/>
                </a:solidFill>
                <a:prstDash val="solid"/>
                <a:round/>
              </a:ln>
            </p:spPr>
            <p:txBody>
              <a:bodyPr/>
              <a:lstStyle/>
              <a:p>
                <a:endParaRPr lang="tr-TR"/>
              </a:p>
            </p:txBody>
          </p:sp>
          <p:sp>
            <p:nvSpPr>
              <p:cNvPr id="14" name="TextBox 14"/>
              <p:cNvSpPr txBox="1"/>
              <p:nvPr/>
            </p:nvSpPr>
            <p:spPr>
              <a:xfrm>
                <a:off x="0" y="-28575"/>
                <a:ext cx="1770042" cy="1326327"/>
              </a:xfrm>
              <a:prstGeom prst="rect">
                <a:avLst/>
              </a:prstGeom>
            </p:spPr>
            <p:txBody>
              <a:bodyPr lIns="50800" tIns="50800" rIns="50800" bIns="50800" rtlCol="0" anchor="ctr"/>
              <a:lstStyle/>
              <a:p>
                <a:pPr algn="ctr">
                  <a:lnSpc>
                    <a:spcPts val="2519"/>
                  </a:lnSpc>
                </a:pPr>
                <a:endParaRPr/>
              </a:p>
            </p:txBody>
          </p:sp>
        </p:grpSp>
        <p:grpSp>
          <p:nvGrpSpPr>
            <p:cNvPr id="15" name="Group 15"/>
            <p:cNvGrpSpPr/>
            <p:nvPr/>
          </p:nvGrpSpPr>
          <p:grpSpPr>
            <a:xfrm>
              <a:off x="0" y="0"/>
              <a:ext cx="8765527" cy="6426671"/>
              <a:chOff x="0" y="0"/>
              <a:chExt cx="1770042" cy="1297752"/>
            </a:xfrm>
          </p:grpSpPr>
          <p:sp>
            <p:nvSpPr>
              <p:cNvPr id="16" name="Freeform 16"/>
              <p:cNvSpPr/>
              <p:nvPr/>
            </p:nvSpPr>
            <p:spPr>
              <a:xfrm>
                <a:off x="0" y="0"/>
                <a:ext cx="1770042" cy="1297752"/>
              </a:xfrm>
              <a:custGeom>
                <a:avLst/>
                <a:gdLst/>
                <a:ahLst/>
                <a:cxnLst/>
                <a:rect l="l" t="t" r="r" b="b"/>
                <a:pathLst>
                  <a:path w="1770042" h="1297752">
                    <a:moveTo>
                      <a:pt x="17578" y="0"/>
                    </a:moveTo>
                    <a:lnTo>
                      <a:pt x="1752465" y="0"/>
                    </a:lnTo>
                    <a:cubicBezTo>
                      <a:pt x="1757127" y="0"/>
                      <a:pt x="1761598" y="1852"/>
                      <a:pt x="1764894" y="5148"/>
                    </a:cubicBezTo>
                    <a:cubicBezTo>
                      <a:pt x="1768191" y="8445"/>
                      <a:pt x="1770042" y="12916"/>
                      <a:pt x="1770042" y="17578"/>
                    </a:cubicBezTo>
                    <a:lnTo>
                      <a:pt x="1770042" y="1280175"/>
                    </a:lnTo>
                    <a:cubicBezTo>
                      <a:pt x="1770042" y="1284836"/>
                      <a:pt x="1768191" y="1289307"/>
                      <a:pt x="1764894" y="1292604"/>
                    </a:cubicBezTo>
                    <a:cubicBezTo>
                      <a:pt x="1761598" y="1295900"/>
                      <a:pt x="1757127" y="1297752"/>
                      <a:pt x="1752465" y="1297752"/>
                    </a:cubicBezTo>
                    <a:lnTo>
                      <a:pt x="17578" y="1297752"/>
                    </a:lnTo>
                    <a:cubicBezTo>
                      <a:pt x="12916" y="1297752"/>
                      <a:pt x="8445" y="1295900"/>
                      <a:pt x="5148" y="1292604"/>
                    </a:cubicBezTo>
                    <a:cubicBezTo>
                      <a:pt x="1852" y="1289307"/>
                      <a:pt x="0" y="1284836"/>
                      <a:pt x="0" y="1280175"/>
                    </a:cubicBezTo>
                    <a:lnTo>
                      <a:pt x="0" y="17578"/>
                    </a:lnTo>
                    <a:cubicBezTo>
                      <a:pt x="0" y="12916"/>
                      <a:pt x="1852" y="8445"/>
                      <a:pt x="5148" y="5148"/>
                    </a:cubicBezTo>
                    <a:cubicBezTo>
                      <a:pt x="8445" y="1852"/>
                      <a:pt x="12916" y="0"/>
                      <a:pt x="17578" y="0"/>
                    </a:cubicBezTo>
                    <a:close/>
                  </a:path>
                </a:pathLst>
              </a:custGeom>
              <a:solidFill>
                <a:srgbClr val="FFFFFF"/>
              </a:solidFill>
              <a:ln w="19050" cap="rnd">
                <a:solidFill>
                  <a:srgbClr val="4383D1"/>
                </a:solidFill>
                <a:prstDash val="solid"/>
                <a:round/>
              </a:ln>
            </p:spPr>
            <p:txBody>
              <a:bodyPr/>
              <a:lstStyle/>
              <a:p>
                <a:endParaRPr lang="tr-TR"/>
              </a:p>
            </p:txBody>
          </p:sp>
          <p:sp>
            <p:nvSpPr>
              <p:cNvPr id="17" name="TextBox 17"/>
              <p:cNvSpPr txBox="1"/>
              <p:nvPr/>
            </p:nvSpPr>
            <p:spPr>
              <a:xfrm>
                <a:off x="0" y="-28575"/>
                <a:ext cx="1770042" cy="1326327"/>
              </a:xfrm>
              <a:prstGeom prst="rect">
                <a:avLst/>
              </a:prstGeom>
            </p:spPr>
            <p:txBody>
              <a:bodyPr lIns="50800" tIns="50800" rIns="50800" bIns="50800" rtlCol="0" anchor="ctr"/>
              <a:lstStyle/>
              <a:p>
                <a:pPr algn="ctr">
                  <a:lnSpc>
                    <a:spcPts val="2519"/>
                  </a:lnSpc>
                </a:pPr>
                <a:endParaRPr/>
              </a:p>
            </p:txBody>
          </p:sp>
        </p:grpSp>
        <p:grpSp>
          <p:nvGrpSpPr>
            <p:cNvPr id="18" name="Group 18"/>
            <p:cNvGrpSpPr/>
            <p:nvPr/>
          </p:nvGrpSpPr>
          <p:grpSpPr>
            <a:xfrm>
              <a:off x="276605" y="1100570"/>
              <a:ext cx="547086" cy="547086"/>
              <a:chOff x="0" y="0"/>
              <a:chExt cx="812800" cy="812800"/>
            </a:xfrm>
          </p:grpSpPr>
          <p:sp>
            <p:nvSpPr>
              <p:cNvPr id="19" name="Freeform 19"/>
              <p:cNvSpPr/>
              <p:nvPr/>
            </p:nvSpPr>
            <p:spPr>
              <a:xfrm>
                <a:off x="0" y="42233"/>
                <a:ext cx="782936" cy="728334"/>
              </a:xfrm>
              <a:custGeom>
                <a:avLst/>
                <a:gdLst/>
                <a:ahLst/>
                <a:cxnLst/>
                <a:rect l="l" t="t" r="r" b="b"/>
                <a:pathLst>
                  <a:path w="782936" h="728334">
                    <a:moveTo>
                      <a:pt x="761819" y="313186"/>
                    </a:moveTo>
                    <a:lnTo>
                      <a:pt x="457381" y="8748"/>
                    </a:lnTo>
                    <a:cubicBezTo>
                      <a:pt x="448840" y="207"/>
                      <a:pt x="435995" y="-2348"/>
                      <a:pt x="424835" y="2274"/>
                    </a:cubicBezTo>
                    <a:cubicBezTo>
                      <a:pt x="413676" y="6896"/>
                      <a:pt x="406400" y="17786"/>
                      <a:pt x="406400" y="29865"/>
                    </a:cubicBezTo>
                    <a:lnTo>
                      <a:pt x="406400" y="88869"/>
                    </a:lnTo>
                    <a:cubicBezTo>
                      <a:pt x="406400" y="107991"/>
                      <a:pt x="398804" y="126329"/>
                      <a:pt x="385283" y="139850"/>
                    </a:cubicBezTo>
                    <a:cubicBezTo>
                      <a:pt x="371762" y="153371"/>
                      <a:pt x="353424" y="160967"/>
                      <a:pt x="334302" y="160967"/>
                    </a:cubicBezTo>
                    <a:lnTo>
                      <a:pt x="72098" y="160967"/>
                    </a:lnTo>
                    <a:cubicBezTo>
                      <a:pt x="52976" y="160967"/>
                      <a:pt x="34638" y="168563"/>
                      <a:pt x="21117" y="182084"/>
                    </a:cubicBezTo>
                    <a:cubicBezTo>
                      <a:pt x="7596" y="195605"/>
                      <a:pt x="0" y="213943"/>
                      <a:pt x="0" y="233065"/>
                    </a:cubicBezTo>
                    <a:lnTo>
                      <a:pt x="0" y="495269"/>
                    </a:lnTo>
                    <a:cubicBezTo>
                      <a:pt x="0" y="514391"/>
                      <a:pt x="7596" y="532729"/>
                      <a:pt x="21117" y="546250"/>
                    </a:cubicBezTo>
                    <a:cubicBezTo>
                      <a:pt x="34638" y="559771"/>
                      <a:pt x="52976" y="567367"/>
                      <a:pt x="72098" y="567367"/>
                    </a:cubicBezTo>
                    <a:lnTo>
                      <a:pt x="334302" y="567367"/>
                    </a:lnTo>
                    <a:cubicBezTo>
                      <a:pt x="353424" y="567367"/>
                      <a:pt x="371762" y="574963"/>
                      <a:pt x="385283" y="588484"/>
                    </a:cubicBezTo>
                    <a:cubicBezTo>
                      <a:pt x="398804" y="602005"/>
                      <a:pt x="406400" y="620343"/>
                      <a:pt x="406400" y="639465"/>
                    </a:cubicBezTo>
                    <a:lnTo>
                      <a:pt x="406400" y="698469"/>
                    </a:lnTo>
                    <a:cubicBezTo>
                      <a:pt x="406400" y="710548"/>
                      <a:pt x="413676" y="721438"/>
                      <a:pt x="424835" y="726060"/>
                    </a:cubicBezTo>
                    <a:cubicBezTo>
                      <a:pt x="435995" y="730682"/>
                      <a:pt x="448840" y="728127"/>
                      <a:pt x="457381" y="719586"/>
                    </a:cubicBezTo>
                    <a:lnTo>
                      <a:pt x="761819" y="415148"/>
                    </a:lnTo>
                    <a:cubicBezTo>
                      <a:pt x="775340" y="401627"/>
                      <a:pt x="782936" y="383289"/>
                      <a:pt x="782936" y="364167"/>
                    </a:cubicBezTo>
                    <a:cubicBezTo>
                      <a:pt x="782936" y="345046"/>
                      <a:pt x="775340" y="326707"/>
                      <a:pt x="761819" y="313186"/>
                    </a:cubicBezTo>
                    <a:close/>
                  </a:path>
                </a:pathLst>
              </a:custGeom>
              <a:solidFill>
                <a:srgbClr val="4E6C7E"/>
              </a:solidFill>
            </p:spPr>
            <p:txBody>
              <a:bodyPr/>
              <a:lstStyle/>
              <a:p>
                <a:endParaRPr lang="tr-TR"/>
              </a:p>
            </p:txBody>
          </p:sp>
          <p:sp>
            <p:nvSpPr>
              <p:cNvPr id="20" name="TextBox 20"/>
              <p:cNvSpPr txBox="1"/>
              <p:nvPr/>
            </p:nvSpPr>
            <p:spPr>
              <a:xfrm>
                <a:off x="0" y="174625"/>
                <a:ext cx="711200" cy="434975"/>
              </a:xfrm>
              <a:prstGeom prst="rect">
                <a:avLst/>
              </a:prstGeom>
            </p:spPr>
            <p:txBody>
              <a:bodyPr lIns="69238" tIns="69238" rIns="69238" bIns="69238" rtlCol="0" anchor="ctr"/>
              <a:lstStyle/>
              <a:p>
                <a:pPr algn="ctr">
                  <a:lnSpc>
                    <a:spcPts val="2519"/>
                  </a:lnSpc>
                </a:pPr>
                <a:endParaRPr/>
              </a:p>
            </p:txBody>
          </p:sp>
        </p:grpSp>
        <p:grpSp>
          <p:nvGrpSpPr>
            <p:cNvPr id="21" name="Group 21"/>
            <p:cNvGrpSpPr/>
            <p:nvPr/>
          </p:nvGrpSpPr>
          <p:grpSpPr>
            <a:xfrm>
              <a:off x="276605" y="3946365"/>
              <a:ext cx="547086" cy="547086"/>
              <a:chOff x="0" y="0"/>
              <a:chExt cx="812800" cy="812800"/>
            </a:xfrm>
          </p:grpSpPr>
          <p:sp>
            <p:nvSpPr>
              <p:cNvPr id="22" name="Freeform 22"/>
              <p:cNvSpPr/>
              <p:nvPr/>
            </p:nvSpPr>
            <p:spPr>
              <a:xfrm>
                <a:off x="0" y="42233"/>
                <a:ext cx="782936" cy="728334"/>
              </a:xfrm>
              <a:custGeom>
                <a:avLst/>
                <a:gdLst/>
                <a:ahLst/>
                <a:cxnLst/>
                <a:rect l="l" t="t" r="r" b="b"/>
                <a:pathLst>
                  <a:path w="782936" h="728334">
                    <a:moveTo>
                      <a:pt x="761819" y="313186"/>
                    </a:moveTo>
                    <a:lnTo>
                      <a:pt x="457381" y="8748"/>
                    </a:lnTo>
                    <a:cubicBezTo>
                      <a:pt x="448840" y="207"/>
                      <a:pt x="435995" y="-2348"/>
                      <a:pt x="424835" y="2274"/>
                    </a:cubicBezTo>
                    <a:cubicBezTo>
                      <a:pt x="413676" y="6896"/>
                      <a:pt x="406400" y="17786"/>
                      <a:pt x="406400" y="29865"/>
                    </a:cubicBezTo>
                    <a:lnTo>
                      <a:pt x="406400" y="88869"/>
                    </a:lnTo>
                    <a:cubicBezTo>
                      <a:pt x="406400" y="107991"/>
                      <a:pt x="398804" y="126329"/>
                      <a:pt x="385283" y="139850"/>
                    </a:cubicBezTo>
                    <a:cubicBezTo>
                      <a:pt x="371762" y="153371"/>
                      <a:pt x="353424" y="160967"/>
                      <a:pt x="334302" y="160967"/>
                    </a:cubicBezTo>
                    <a:lnTo>
                      <a:pt x="72098" y="160967"/>
                    </a:lnTo>
                    <a:cubicBezTo>
                      <a:pt x="52976" y="160967"/>
                      <a:pt x="34638" y="168563"/>
                      <a:pt x="21117" y="182084"/>
                    </a:cubicBezTo>
                    <a:cubicBezTo>
                      <a:pt x="7596" y="195605"/>
                      <a:pt x="0" y="213943"/>
                      <a:pt x="0" y="233065"/>
                    </a:cubicBezTo>
                    <a:lnTo>
                      <a:pt x="0" y="495269"/>
                    </a:lnTo>
                    <a:cubicBezTo>
                      <a:pt x="0" y="514391"/>
                      <a:pt x="7596" y="532729"/>
                      <a:pt x="21117" y="546250"/>
                    </a:cubicBezTo>
                    <a:cubicBezTo>
                      <a:pt x="34638" y="559771"/>
                      <a:pt x="52976" y="567367"/>
                      <a:pt x="72098" y="567367"/>
                    </a:cubicBezTo>
                    <a:lnTo>
                      <a:pt x="334302" y="567367"/>
                    </a:lnTo>
                    <a:cubicBezTo>
                      <a:pt x="353424" y="567367"/>
                      <a:pt x="371762" y="574963"/>
                      <a:pt x="385283" y="588484"/>
                    </a:cubicBezTo>
                    <a:cubicBezTo>
                      <a:pt x="398804" y="602005"/>
                      <a:pt x="406400" y="620343"/>
                      <a:pt x="406400" y="639465"/>
                    </a:cubicBezTo>
                    <a:lnTo>
                      <a:pt x="406400" y="698469"/>
                    </a:lnTo>
                    <a:cubicBezTo>
                      <a:pt x="406400" y="710548"/>
                      <a:pt x="413676" y="721438"/>
                      <a:pt x="424835" y="726060"/>
                    </a:cubicBezTo>
                    <a:cubicBezTo>
                      <a:pt x="435995" y="730682"/>
                      <a:pt x="448840" y="728127"/>
                      <a:pt x="457381" y="719586"/>
                    </a:cubicBezTo>
                    <a:lnTo>
                      <a:pt x="761819" y="415148"/>
                    </a:lnTo>
                    <a:cubicBezTo>
                      <a:pt x="775340" y="401627"/>
                      <a:pt x="782936" y="383289"/>
                      <a:pt x="782936" y="364167"/>
                    </a:cubicBezTo>
                    <a:cubicBezTo>
                      <a:pt x="782936" y="345046"/>
                      <a:pt x="775340" y="326707"/>
                      <a:pt x="761819" y="313186"/>
                    </a:cubicBezTo>
                    <a:close/>
                  </a:path>
                </a:pathLst>
              </a:custGeom>
              <a:solidFill>
                <a:srgbClr val="4E6C7E"/>
              </a:solidFill>
            </p:spPr>
            <p:txBody>
              <a:bodyPr/>
              <a:lstStyle/>
              <a:p>
                <a:endParaRPr lang="tr-TR"/>
              </a:p>
            </p:txBody>
          </p:sp>
          <p:sp>
            <p:nvSpPr>
              <p:cNvPr id="23" name="TextBox 23"/>
              <p:cNvSpPr txBox="1"/>
              <p:nvPr/>
            </p:nvSpPr>
            <p:spPr>
              <a:xfrm>
                <a:off x="0" y="174625"/>
                <a:ext cx="711200" cy="434975"/>
              </a:xfrm>
              <a:prstGeom prst="rect">
                <a:avLst/>
              </a:prstGeom>
            </p:spPr>
            <p:txBody>
              <a:bodyPr lIns="69238" tIns="69238" rIns="69238" bIns="69238" rtlCol="0" anchor="ctr"/>
              <a:lstStyle/>
              <a:p>
                <a:pPr algn="ctr">
                  <a:lnSpc>
                    <a:spcPts val="2519"/>
                  </a:lnSpc>
                </a:pPr>
                <a:endParaRPr/>
              </a:p>
            </p:txBody>
          </p:sp>
        </p:grpSp>
        <p:sp>
          <p:nvSpPr>
            <p:cNvPr id="24" name="TextBox 24"/>
            <p:cNvSpPr txBox="1"/>
            <p:nvPr/>
          </p:nvSpPr>
          <p:spPr>
            <a:xfrm>
              <a:off x="823690" y="349766"/>
              <a:ext cx="3592029" cy="565609"/>
            </a:xfrm>
            <a:prstGeom prst="rect">
              <a:avLst/>
            </a:prstGeom>
          </p:spPr>
          <p:txBody>
            <a:bodyPr lIns="0" tIns="0" rIns="0" bIns="0" rtlCol="0" anchor="t">
              <a:spAutoFit/>
            </a:bodyPr>
            <a:lstStyle/>
            <a:p>
              <a:pPr algn="just">
                <a:lnSpc>
                  <a:spcPts val="3262"/>
                </a:lnSpc>
              </a:pPr>
              <a:r>
                <a:rPr lang="en-US" sz="3020" b="1">
                  <a:solidFill>
                    <a:srgbClr val="000000"/>
                  </a:solidFill>
                  <a:latin typeface="Montserrat Bold"/>
                  <a:ea typeface="Montserrat Bold"/>
                  <a:cs typeface="Montserrat Bold"/>
                  <a:sym typeface="Montserrat Bold"/>
                </a:rPr>
                <a:t>Veri Setimiz: </a:t>
              </a:r>
            </a:p>
          </p:txBody>
        </p:sp>
        <p:sp>
          <p:nvSpPr>
            <p:cNvPr id="25" name="TextBox 25"/>
            <p:cNvSpPr txBox="1"/>
            <p:nvPr/>
          </p:nvSpPr>
          <p:spPr>
            <a:xfrm>
              <a:off x="1073744" y="1043420"/>
              <a:ext cx="7091944" cy="2691192"/>
            </a:xfrm>
            <a:prstGeom prst="rect">
              <a:avLst/>
            </a:prstGeom>
          </p:spPr>
          <p:txBody>
            <a:bodyPr lIns="0" tIns="0" rIns="0" bIns="0" rtlCol="0" anchor="t">
              <a:spAutoFit/>
            </a:bodyPr>
            <a:lstStyle/>
            <a:p>
              <a:pPr algn="just">
                <a:lnSpc>
                  <a:spcPts val="3208"/>
                </a:lnSpc>
              </a:pPr>
              <a:r>
                <a:rPr lang="en-US" sz="2291" b="1">
                  <a:solidFill>
                    <a:srgbClr val="000000"/>
                  </a:solidFill>
                  <a:latin typeface="Quicksand Semi-Bold"/>
                  <a:ea typeface="Quicksand Semi-Bold"/>
                  <a:cs typeface="Quicksand Semi-Bold"/>
                  <a:sym typeface="Quicksand Semi-Bold"/>
                </a:rPr>
                <a:t>Projemizde, Time-lapse inkübatör sistemlerinden elde edilmiş olan yüksek çözünürlüklü mikroskop görüntüleri (EMBRIO GRADE DATASET) kullanılmıştır.</a:t>
              </a:r>
            </a:p>
          </p:txBody>
        </p:sp>
        <p:sp>
          <p:nvSpPr>
            <p:cNvPr id="26" name="TextBox 26"/>
            <p:cNvSpPr txBox="1"/>
            <p:nvPr/>
          </p:nvSpPr>
          <p:spPr>
            <a:xfrm>
              <a:off x="1073744" y="3889215"/>
              <a:ext cx="7091944" cy="2148862"/>
            </a:xfrm>
            <a:prstGeom prst="rect">
              <a:avLst/>
            </a:prstGeom>
          </p:spPr>
          <p:txBody>
            <a:bodyPr lIns="0" tIns="0" rIns="0" bIns="0" rtlCol="0" anchor="t">
              <a:spAutoFit/>
            </a:bodyPr>
            <a:lstStyle/>
            <a:p>
              <a:pPr algn="just">
                <a:lnSpc>
                  <a:spcPts val="3208"/>
                </a:lnSpc>
              </a:pPr>
              <a:r>
                <a:rPr lang="en-US" sz="2291" b="1">
                  <a:solidFill>
                    <a:srgbClr val="000000"/>
                  </a:solidFill>
                  <a:latin typeface="Quicksand Semi-Bold"/>
                  <a:ea typeface="Quicksand Semi-Bold"/>
                  <a:cs typeface="Quicksand Semi-Bold"/>
                  <a:sym typeface="Quicksand Semi-Bold"/>
                </a:rPr>
                <a:t>Görüntüler model eğitimi için 224x224 boyutlarına getirilmiş ve piksel değerleri ImageNet standartlarına çekilmiştir.</a:t>
              </a:r>
            </a:p>
          </p:txBody>
        </p:sp>
      </p:grpSp>
      <p:grpSp>
        <p:nvGrpSpPr>
          <p:cNvPr id="27" name="Group 27"/>
          <p:cNvGrpSpPr/>
          <p:nvPr/>
        </p:nvGrpSpPr>
        <p:grpSpPr>
          <a:xfrm>
            <a:off x="8351966" y="1632760"/>
            <a:ext cx="9124752" cy="4902655"/>
            <a:chOff x="0" y="0"/>
            <a:chExt cx="2136841" cy="1148107"/>
          </a:xfrm>
        </p:grpSpPr>
        <p:sp>
          <p:nvSpPr>
            <p:cNvPr id="28" name="Freeform 28"/>
            <p:cNvSpPr/>
            <p:nvPr/>
          </p:nvSpPr>
          <p:spPr>
            <a:xfrm>
              <a:off x="0" y="0"/>
              <a:ext cx="2136841" cy="1148107"/>
            </a:xfrm>
            <a:custGeom>
              <a:avLst/>
              <a:gdLst/>
              <a:ahLst/>
              <a:cxnLst/>
              <a:rect l="l" t="t" r="r" b="b"/>
              <a:pathLst>
                <a:path w="2136841" h="1148107">
                  <a:moveTo>
                    <a:pt x="67028" y="0"/>
                  </a:moveTo>
                  <a:lnTo>
                    <a:pt x="2069813" y="0"/>
                  </a:lnTo>
                  <a:cubicBezTo>
                    <a:pt x="2106832" y="0"/>
                    <a:pt x="2136841" y="30009"/>
                    <a:pt x="2136841" y="67028"/>
                  </a:cubicBezTo>
                  <a:lnTo>
                    <a:pt x="2136841" y="1081079"/>
                  </a:lnTo>
                  <a:cubicBezTo>
                    <a:pt x="2136841" y="1118098"/>
                    <a:pt x="2106832" y="1148107"/>
                    <a:pt x="2069813" y="1148107"/>
                  </a:cubicBezTo>
                  <a:lnTo>
                    <a:pt x="67028" y="1148107"/>
                  </a:lnTo>
                  <a:cubicBezTo>
                    <a:pt x="30009" y="1148107"/>
                    <a:pt x="0" y="1118098"/>
                    <a:pt x="0" y="1081079"/>
                  </a:cubicBezTo>
                  <a:lnTo>
                    <a:pt x="0" y="67028"/>
                  </a:lnTo>
                  <a:cubicBezTo>
                    <a:pt x="0" y="30009"/>
                    <a:pt x="30009" y="0"/>
                    <a:pt x="67028" y="0"/>
                  </a:cubicBezTo>
                  <a:close/>
                </a:path>
              </a:pathLst>
            </a:custGeom>
            <a:blipFill>
              <a:blip r:embed="rId2"/>
              <a:stretch>
                <a:fillRect t="-12000" b="-12000"/>
              </a:stretch>
            </a:blipFill>
          </p:spPr>
          <p:txBody>
            <a:bodyPr/>
            <a:lstStyle/>
            <a:p>
              <a:endParaRPr lang="tr-TR"/>
            </a:p>
          </p:txBody>
        </p:sp>
      </p:grpSp>
      <p:grpSp>
        <p:nvGrpSpPr>
          <p:cNvPr id="29" name="Group 29"/>
          <p:cNvGrpSpPr/>
          <p:nvPr/>
        </p:nvGrpSpPr>
        <p:grpSpPr>
          <a:xfrm>
            <a:off x="8351966" y="5650459"/>
            <a:ext cx="9124752" cy="4422131"/>
            <a:chOff x="0" y="0"/>
            <a:chExt cx="12166336" cy="5896175"/>
          </a:xfrm>
        </p:grpSpPr>
        <p:grpSp>
          <p:nvGrpSpPr>
            <p:cNvPr id="30" name="Group 30"/>
            <p:cNvGrpSpPr/>
            <p:nvPr/>
          </p:nvGrpSpPr>
          <p:grpSpPr>
            <a:xfrm>
              <a:off x="257978" y="330902"/>
              <a:ext cx="11908357" cy="5565273"/>
              <a:chOff x="0" y="0"/>
              <a:chExt cx="2352161" cy="1099263"/>
            </a:xfrm>
          </p:grpSpPr>
          <p:sp>
            <p:nvSpPr>
              <p:cNvPr id="31" name="Freeform 31"/>
              <p:cNvSpPr/>
              <p:nvPr/>
            </p:nvSpPr>
            <p:spPr>
              <a:xfrm>
                <a:off x="0" y="0"/>
                <a:ext cx="2352161" cy="1099263"/>
              </a:xfrm>
              <a:custGeom>
                <a:avLst/>
                <a:gdLst/>
                <a:ahLst/>
                <a:cxnLst/>
                <a:rect l="l" t="t" r="r" b="b"/>
                <a:pathLst>
                  <a:path w="2352161" h="1099263">
                    <a:moveTo>
                      <a:pt x="16930" y="0"/>
                    </a:moveTo>
                    <a:lnTo>
                      <a:pt x="2335231" y="0"/>
                    </a:lnTo>
                    <a:cubicBezTo>
                      <a:pt x="2339721" y="0"/>
                      <a:pt x="2344028" y="1784"/>
                      <a:pt x="2347203" y="4959"/>
                    </a:cubicBezTo>
                    <a:cubicBezTo>
                      <a:pt x="2350378" y="8134"/>
                      <a:pt x="2352161" y="12440"/>
                      <a:pt x="2352161" y="16930"/>
                    </a:cubicBezTo>
                    <a:lnTo>
                      <a:pt x="2352161" y="1082333"/>
                    </a:lnTo>
                    <a:cubicBezTo>
                      <a:pt x="2352161" y="1091683"/>
                      <a:pt x="2344582" y="1099263"/>
                      <a:pt x="2335231" y="1099263"/>
                    </a:cubicBezTo>
                    <a:lnTo>
                      <a:pt x="16930" y="1099263"/>
                    </a:lnTo>
                    <a:cubicBezTo>
                      <a:pt x="12440" y="1099263"/>
                      <a:pt x="8134" y="1097480"/>
                      <a:pt x="4959" y="1094305"/>
                    </a:cubicBezTo>
                    <a:cubicBezTo>
                      <a:pt x="1784" y="1091130"/>
                      <a:pt x="0" y="1086823"/>
                      <a:pt x="0" y="1082333"/>
                    </a:cubicBezTo>
                    <a:lnTo>
                      <a:pt x="0" y="16930"/>
                    </a:lnTo>
                    <a:cubicBezTo>
                      <a:pt x="0" y="12440"/>
                      <a:pt x="1784" y="8134"/>
                      <a:pt x="4959" y="4959"/>
                    </a:cubicBezTo>
                    <a:cubicBezTo>
                      <a:pt x="8134" y="1784"/>
                      <a:pt x="12440" y="0"/>
                      <a:pt x="16930" y="0"/>
                    </a:cubicBezTo>
                    <a:close/>
                  </a:path>
                </a:pathLst>
              </a:custGeom>
              <a:solidFill>
                <a:srgbClr val="4E6C7E"/>
              </a:solidFill>
              <a:ln w="19050" cap="rnd">
                <a:solidFill>
                  <a:srgbClr val="4383D1"/>
                </a:solidFill>
                <a:prstDash val="solid"/>
                <a:round/>
              </a:ln>
            </p:spPr>
            <p:txBody>
              <a:bodyPr/>
              <a:lstStyle/>
              <a:p>
                <a:endParaRPr lang="tr-TR"/>
              </a:p>
            </p:txBody>
          </p:sp>
          <p:sp>
            <p:nvSpPr>
              <p:cNvPr id="32" name="TextBox 32"/>
              <p:cNvSpPr txBox="1"/>
              <p:nvPr/>
            </p:nvSpPr>
            <p:spPr>
              <a:xfrm>
                <a:off x="0" y="-28575"/>
                <a:ext cx="2352161" cy="1127838"/>
              </a:xfrm>
              <a:prstGeom prst="rect">
                <a:avLst/>
              </a:prstGeom>
            </p:spPr>
            <p:txBody>
              <a:bodyPr lIns="39689" tIns="39689" rIns="39689" bIns="39689" rtlCol="0" anchor="ctr"/>
              <a:lstStyle/>
              <a:p>
                <a:pPr algn="ctr">
                  <a:lnSpc>
                    <a:spcPts val="2519"/>
                  </a:lnSpc>
                </a:pPr>
                <a:endParaRPr/>
              </a:p>
            </p:txBody>
          </p:sp>
        </p:grpSp>
        <p:grpSp>
          <p:nvGrpSpPr>
            <p:cNvPr id="33" name="Group 33"/>
            <p:cNvGrpSpPr/>
            <p:nvPr/>
          </p:nvGrpSpPr>
          <p:grpSpPr>
            <a:xfrm>
              <a:off x="0" y="0"/>
              <a:ext cx="11908357" cy="5565273"/>
              <a:chOff x="0" y="0"/>
              <a:chExt cx="2352161" cy="1099263"/>
            </a:xfrm>
          </p:grpSpPr>
          <p:sp>
            <p:nvSpPr>
              <p:cNvPr id="34" name="Freeform 34"/>
              <p:cNvSpPr/>
              <p:nvPr/>
            </p:nvSpPr>
            <p:spPr>
              <a:xfrm>
                <a:off x="0" y="0"/>
                <a:ext cx="2352161" cy="1099263"/>
              </a:xfrm>
              <a:custGeom>
                <a:avLst/>
                <a:gdLst/>
                <a:ahLst/>
                <a:cxnLst/>
                <a:rect l="l" t="t" r="r" b="b"/>
                <a:pathLst>
                  <a:path w="2352161" h="1099263">
                    <a:moveTo>
                      <a:pt x="16930" y="0"/>
                    </a:moveTo>
                    <a:lnTo>
                      <a:pt x="2335231" y="0"/>
                    </a:lnTo>
                    <a:cubicBezTo>
                      <a:pt x="2339721" y="0"/>
                      <a:pt x="2344028" y="1784"/>
                      <a:pt x="2347203" y="4959"/>
                    </a:cubicBezTo>
                    <a:cubicBezTo>
                      <a:pt x="2350378" y="8134"/>
                      <a:pt x="2352161" y="12440"/>
                      <a:pt x="2352161" y="16930"/>
                    </a:cubicBezTo>
                    <a:lnTo>
                      <a:pt x="2352161" y="1082333"/>
                    </a:lnTo>
                    <a:cubicBezTo>
                      <a:pt x="2352161" y="1091683"/>
                      <a:pt x="2344582" y="1099263"/>
                      <a:pt x="2335231" y="1099263"/>
                    </a:cubicBezTo>
                    <a:lnTo>
                      <a:pt x="16930" y="1099263"/>
                    </a:lnTo>
                    <a:cubicBezTo>
                      <a:pt x="12440" y="1099263"/>
                      <a:pt x="8134" y="1097480"/>
                      <a:pt x="4959" y="1094305"/>
                    </a:cubicBezTo>
                    <a:cubicBezTo>
                      <a:pt x="1784" y="1091130"/>
                      <a:pt x="0" y="1086823"/>
                      <a:pt x="0" y="1082333"/>
                    </a:cubicBezTo>
                    <a:lnTo>
                      <a:pt x="0" y="16930"/>
                    </a:lnTo>
                    <a:cubicBezTo>
                      <a:pt x="0" y="12440"/>
                      <a:pt x="1784" y="8134"/>
                      <a:pt x="4959" y="4959"/>
                    </a:cubicBezTo>
                    <a:cubicBezTo>
                      <a:pt x="8134" y="1784"/>
                      <a:pt x="12440" y="0"/>
                      <a:pt x="16930" y="0"/>
                    </a:cubicBezTo>
                    <a:close/>
                  </a:path>
                </a:pathLst>
              </a:custGeom>
              <a:solidFill>
                <a:srgbClr val="FFFFFF"/>
              </a:solidFill>
              <a:ln w="19050" cap="rnd">
                <a:solidFill>
                  <a:srgbClr val="4383D1"/>
                </a:solidFill>
                <a:prstDash val="solid"/>
                <a:round/>
              </a:ln>
            </p:spPr>
            <p:txBody>
              <a:bodyPr/>
              <a:lstStyle/>
              <a:p>
                <a:endParaRPr lang="tr-TR"/>
              </a:p>
            </p:txBody>
          </p:sp>
          <p:sp>
            <p:nvSpPr>
              <p:cNvPr id="35" name="TextBox 35"/>
              <p:cNvSpPr txBox="1"/>
              <p:nvPr/>
            </p:nvSpPr>
            <p:spPr>
              <a:xfrm>
                <a:off x="0" y="-28575"/>
                <a:ext cx="2352161" cy="1127838"/>
              </a:xfrm>
              <a:prstGeom prst="rect">
                <a:avLst/>
              </a:prstGeom>
            </p:spPr>
            <p:txBody>
              <a:bodyPr lIns="39689" tIns="39689" rIns="39689" bIns="39689" rtlCol="0" anchor="ctr"/>
              <a:lstStyle/>
              <a:p>
                <a:pPr algn="ctr">
                  <a:lnSpc>
                    <a:spcPts val="2519"/>
                  </a:lnSpc>
                </a:pPr>
                <a:endParaRPr/>
              </a:p>
            </p:txBody>
          </p:sp>
        </p:grpSp>
      </p:grpSp>
      <p:grpSp>
        <p:nvGrpSpPr>
          <p:cNvPr id="36" name="Group 36"/>
          <p:cNvGrpSpPr/>
          <p:nvPr/>
        </p:nvGrpSpPr>
        <p:grpSpPr>
          <a:xfrm>
            <a:off x="8628771" y="6611615"/>
            <a:ext cx="547483" cy="419476"/>
            <a:chOff x="0" y="0"/>
            <a:chExt cx="1060833" cy="812800"/>
          </a:xfrm>
        </p:grpSpPr>
        <p:sp>
          <p:nvSpPr>
            <p:cNvPr id="37" name="Freeform 37"/>
            <p:cNvSpPr/>
            <p:nvPr/>
          </p:nvSpPr>
          <p:spPr>
            <a:xfrm>
              <a:off x="0" y="41417"/>
              <a:ext cx="1031546" cy="729966"/>
            </a:xfrm>
            <a:custGeom>
              <a:avLst/>
              <a:gdLst/>
              <a:ahLst/>
              <a:cxnLst/>
              <a:rect l="l" t="t" r="r" b="b"/>
              <a:pathLst>
                <a:path w="1031546" h="729966">
                  <a:moveTo>
                    <a:pt x="1010837" y="314987"/>
                  </a:moveTo>
                  <a:lnTo>
                    <a:pt x="704429" y="8579"/>
                  </a:lnTo>
                  <a:cubicBezTo>
                    <a:pt x="696053" y="203"/>
                    <a:pt x="683456" y="-2303"/>
                    <a:pt x="672512" y="2230"/>
                  </a:cubicBezTo>
                  <a:cubicBezTo>
                    <a:pt x="661568" y="6763"/>
                    <a:pt x="654433" y="17442"/>
                    <a:pt x="654433" y="29288"/>
                  </a:cubicBezTo>
                  <a:lnTo>
                    <a:pt x="654433" y="91078"/>
                  </a:lnTo>
                  <a:cubicBezTo>
                    <a:pt x="654433" y="109830"/>
                    <a:pt x="646984" y="127814"/>
                    <a:pt x="633724" y="141074"/>
                  </a:cubicBezTo>
                  <a:cubicBezTo>
                    <a:pt x="620464" y="154334"/>
                    <a:pt x="602480" y="161783"/>
                    <a:pt x="583728" y="161783"/>
                  </a:cubicBezTo>
                  <a:lnTo>
                    <a:pt x="70705" y="161783"/>
                  </a:lnTo>
                  <a:cubicBezTo>
                    <a:pt x="51953" y="161783"/>
                    <a:pt x="33969" y="169232"/>
                    <a:pt x="20709" y="182492"/>
                  </a:cubicBezTo>
                  <a:cubicBezTo>
                    <a:pt x="7449" y="195752"/>
                    <a:pt x="0" y="213736"/>
                    <a:pt x="0" y="232488"/>
                  </a:cubicBezTo>
                  <a:lnTo>
                    <a:pt x="0" y="497478"/>
                  </a:lnTo>
                  <a:cubicBezTo>
                    <a:pt x="0" y="516230"/>
                    <a:pt x="7449" y="534214"/>
                    <a:pt x="20709" y="547474"/>
                  </a:cubicBezTo>
                  <a:cubicBezTo>
                    <a:pt x="33969" y="560734"/>
                    <a:pt x="51953" y="568183"/>
                    <a:pt x="70705" y="568183"/>
                  </a:cubicBezTo>
                  <a:lnTo>
                    <a:pt x="583728" y="568183"/>
                  </a:lnTo>
                  <a:cubicBezTo>
                    <a:pt x="622777" y="568183"/>
                    <a:pt x="654433" y="599839"/>
                    <a:pt x="654433" y="638888"/>
                  </a:cubicBezTo>
                  <a:lnTo>
                    <a:pt x="654433" y="700678"/>
                  </a:lnTo>
                  <a:cubicBezTo>
                    <a:pt x="654433" y="712524"/>
                    <a:pt x="661568" y="723203"/>
                    <a:pt x="672512" y="727736"/>
                  </a:cubicBezTo>
                  <a:cubicBezTo>
                    <a:pt x="683456" y="732269"/>
                    <a:pt x="696053" y="729763"/>
                    <a:pt x="704429" y="721387"/>
                  </a:cubicBezTo>
                  <a:lnTo>
                    <a:pt x="1010837" y="414979"/>
                  </a:lnTo>
                  <a:cubicBezTo>
                    <a:pt x="1038449" y="387367"/>
                    <a:pt x="1038449" y="342599"/>
                    <a:pt x="1010837" y="314987"/>
                  </a:cubicBezTo>
                  <a:close/>
                </a:path>
              </a:pathLst>
            </a:custGeom>
            <a:solidFill>
              <a:srgbClr val="4E6C7E"/>
            </a:solidFill>
          </p:spPr>
          <p:txBody>
            <a:bodyPr/>
            <a:lstStyle/>
            <a:p>
              <a:endParaRPr lang="tr-TR"/>
            </a:p>
          </p:txBody>
        </p:sp>
        <p:sp>
          <p:nvSpPr>
            <p:cNvPr id="38" name="TextBox 38"/>
            <p:cNvSpPr txBox="1"/>
            <p:nvPr/>
          </p:nvSpPr>
          <p:spPr>
            <a:xfrm>
              <a:off x="0" y="174625"/>
              <a:ext cx="959233" cy="434975"/>
            </a:xfrm>
            <a:prstGeom prst="rect">
              <a:avLst/>
            </a:prstGeom>
          </p:spPr>
          <p:txBody>
            <a:bodyPr lIns="54095" tIns="54095" rIns="54095" bIns="54095" rtlCol="0" anchor="ctr"/>
            <a:lstStyle/>
            <a:p>
              <a:pPr algn="ctr">
                <a:lnSpc>
                  <a:spcPts val="2519"/>
                </a:lnSpc>
              </a:pPr>
              <a:endParaRPr/>
            </a:p>
          </p:txBody>
        </p:sp>
      </p:grpSp>
      <p:sp>
        <p:nvSpPr>
          <p:cNvPr id="39" name="TextBox 39"/>
          <p:cNvSpPr txBox="1"/>
          <p:nvPr/>
        </p:nvSpPr>
        <p:spPr>
          <a:xfrm>
            <a:off x="9320872" y="6554465"/>
            <a:ext cx="7555651" cy="2902317"/>
          </a:xfrm>
          <a:prstGeom prst="rect">
            <a:avLst/>
          </a:prstGeom>
        </p:spPr>
        <p:txBody>
          <a:bodyPr lIns="0" tIns="0" rIns="0" bIns="0" rtlCol="0" anchor="t">
            <a:spAutoFit/>
          </a:bodyPr>
          <a:lstStyle/>
          <a:p>
            <a:pPr algn="just">
              <a:lnSpc>
                <a:spcPts val="3848"/>
              </a:lnSpc>
            </a:pPr>
            <a:r>
              <a:rPr lang="en-US" sz="2749" b="1">
                <a:solidFill>
                  <a:srgbClr val="000000"/>
                </a:solidFill>
                <a:latin typeface="Quicksand Semi-Bold"/>
                <a:ea typeface="Quicksand Semi-Bold"/>
                <a:cs typeface="Quicksand Semi-Bold"/>
                <a:sym typeface="Quicksand Semi-Bold"/>
              </a:rPr>
              <a:t>İlk aşamada </a:t>
            </a:r>
            <a:r>
              <a:rPr lang="en-US" sz="2749" b="1">
                <a:solidFill>
                  <a:srgbClr val="D95051"/>
                </a:solidFill>
                <a:latin typeface="Quicksand Semi-Bold"/>
                <a:ea typeface="Quicksand Semi-Bold"/>
                <a:cs typeface="Quicksand Semi-Bold"/>
                <a:sym typeface="Quicksand Semi-Bold"/>
              </a:rPr>
              <a:t>170</a:t>
            </a:r>
            <a:r>
              <a:rPr lang="en-US" sz="2749" b="1">
                <a:solidFill>
                  <a:srgbClr val="000000"/>
                </a:solidFill>
                <a:latin typeface="Quicksand Semi-Bold"/>
                <a:ea typeface="Quicksand Semi-Bold"/>
                <a:cs typeface="Quicksand Semi-Bold"/>
                <a:sym typeface="Quicksand Semi-Bold"/>
              </a:rPr>
              <a:t> adet görüntü </a:t>
            </a:r>
            <a:r>
              <a:rPr lang="en-US" sz="2749" b="1">
                <a:solidFill>
                  <a:srgbClr val="D95051"/>
                </a:solidFill>
                <a:latin typeface="Quicksand Semi-Bold"/>
                <a:ea typeface="Quicksand Semi-Bold"/>
                <a:cs typeface="Quicksand Semi-Bold"/>
                <a:sym typeface="Quicksand Semi-Bold"/>
              </a:rPr>
              <a:t>13</a:t>
            </a:r>
            <a:r>
              <a:rPr lang="en-US" sz="2749" b="1">
                <a:solidFill>
                  <a:srgbClr val="000000"/>
                </a:solidFill>
                <a:latin typeface="Quicksand Semi-Bold"/>
                <a:ea typeface="Quicksand Semi-Bold"/>
                <a:cs typeface="Quicksand Semi-Bold"/>
                <a:sym typeface="Quicksand Semi-Bold"/>
              </a:rPr>
              <a:t> farklı Gardner sınıfa ayrıldı. Ancak sınıflar arasında </a:t>
            </a:r>
            <a:r>
              <a:rPr lang="en-US" sz="2749" b="1">
                <a:solidFill>
                  <a:srgbClr val="D95051"/>
                </a:solidFill>
                <a:latin typeface="Quicksand Semi-Bold"/>
                <a:ea typeface="Quicksand Semi-Bold"/>
                <a:cs typeface="Quicksand Semi-Bold"/>
                <a:sym typeface="Quicksand Semi-Bold"/>
              </a:rPr>
              <a:t>14.67</a:t>
            </a:r>
            <a:r>
              <a:rPr lang="en-US" sz="2749" b="1">
                <a:solidFill>
                  <a:srgbClr val="000000"/>
                </a:solidFill>
                <a:latin typeface="Quicksand Semi-Bold"/>
                <a:ea typeface="Quicksand Semi-Bold"/>
                <a:cs typeface="Quicksand Semi-Bold"/>
                <a:sym typeface="Quicksand Semi-Bold"/>
              </a:rPr>
              <a:t> gibi çok yüksek bir veri dengesizliği vardı. Veri eksikliği nedeniyle modelimiz örüntü öğrenemedi ve doğruluğumuz </a:t>
            </a:r>
            <a:r>
              <a:rPr lang="en-US" sz="2749" b="1">
                <a:solidFill>
                  <a:srgbClr val="D95051"/>
                </a:solidFill>
                <a:latin typeface="Quicksand Semi-Bold"/>
                <a:ea typeface="Quicksand Semi-Bold"/>
                <a:cs typeface="Quicksand Semi-Bold"/>
                <a:sym typeface="Quicksand Semi-Bold"/>
              </a:rPr>
              <a:t>%20</a:t>
            </a:r>
            <a:r>
              <a:rPr lang="en-US" sz="2749" b="1">
                <a:solidFill>
                  <a:srgbClr val="000000"/>
                </a:solidFill>
                <a:latin typeface="Quicksand Semi-Bold"/>
                <a:ea typeface="Quicksand Semi-Bold"/>
                <a:cs typeface="Quicksand Semi-Bold"/>
                <a:sym typeface="Quicksand Semi-Bold"/>
              </a:rPr>
              <a:t> seviyelerinde kalarak başarısız oldu.</a:t>
            </a:r>
          </a:p>
        </p:txBody>
      </p:sp>
      <p:sp>
        <p:nvSpPr>
          <p:cNvPr id="40" name="TextBox 40"/>
          <p:cNvSpPr txBox="1"/>
          <p:nvPr/>
        </p:nvSpPr>
        <p:spPr>
          <a:xfrm>
            <a:off x="9320872" y="5993627"/>
            <a:ext cx="6525674" cy="434316"/>
          </a:xfrm>
          <a:prstGeom prst="rect">
            <a:avLst/>
          </a:prstGeom>
        </p:spPr>
        <p:txBody>
          <a:bodyPr lIns="0" tIns="0" rIns="0" bIns="0" rtlCol="0" anchor="t">
            <a:spAutoFit/>
          </a:bodyPr>
          <a:lstStyle/>
          <a:p>
            <a:pPr algn="just">
              <a:lnSpc>
                <a:spcPts val="3335"/>
              </a:lnSpc>
            </a:pPr>
            <a:r>
              <a:rPr lang="en-US" sz="3088" b="1">
                <a:solidFill>
                  <a:srgbClr val="000000"/>
                </a:solidFill>
                <a:latin typeface="Montserrat Bold"/>
                <a:ea typeface="Montserrat Bold"/>
                <a:cs typeface="Montserrat Bold"/>
                <a:sym typeface="Montserrat Bold"/>
              </a:rPr>
              <a:t>İlk Deneme ve Çöküş:</a:t>
            </a:r>
          </a:p>
        </p:txBody>
      </p:sp>
      <p:sp>
        <p:nvSpPr>
          <p:cNvPr id="41" name="TextBox 41"/>
          <p:cNvSpPr txBox="1"/>
          <p:nvPr/>
        </p:nvSpPr>
        <p:spPr>
          <a:xfrm>
            <a:off x="1028700" y="456166"/>
            <a:ext cx="13813887" cy="995620"/>
          </a:xfrm>
          <a:prstGeom prst="rect">
            <a:avLst/>
          </a:prstGeom>
        </p:spPr>
        <p:txBody>
          <a:bodyPr lIns="0" tIns="0" rIns="0" bIns="0" rtlCol="0" anchor="t">
            <a:spAutoFit/>
          </a:bodyPr>
          <a:lstStyle/>
          <a:p>
            <a:pPr marL="0" lvl="0" indent="0" algn="l">
              <a:lnSpc>
                <a:spcPts val="8119"/>
              </a:lnSpc>
              <a:spcBef>
                <a:spcPct val="0"/>
              </a:spcBef>
            </a:pPr>
            <a:r>
              <a:rPr lang="en-US" sz="5799" b="1" u="none" strike="noStrike">
                <a:solidFill>
                  <a:srgbClr val="154562"/>
                </a:solidFill>
                <a:latin typeface="Montserrat Ultra-Bold"/>
                <a:ea typeface="Montserrat Ultra-Bold"/>
                <a:cs typeface="Montserrat Ultra-Bold"/>
                <a:sym typeface="Montserrat Ultra-Bold"/>
              </a:rPr>
              <a:t>Veri Seti ve Başlangıç Fazı (V1)</a:t>
            </a:r>
          </a:p>
        </p:txBody>
      </p:sp>
      <p:sp>
        <p:nvSpPr>
          <p:cNvPr id="42" name="Freeform 42"/>
          <p:cNvSpPr/>
          <p:nvPr/>
        </p:nvSpPr>
        <p:spPr>
          <a:xfrm>
            <a:off x="1176788" y="7071518"/>
            <a:ext cx="4350947" cy="4350947"/>
          </a:xfrm>
          <a:custGeom>
            <a:avLst/>
            <a:gdLst/>
            <a:ahLst/>
            <a:cxnLst/>
            <a:rect l="l" t="t" r="r" b="b"/>
            <a:pathLst>
              <a:path w="4350947" h="4350947">
                <a:moveTo>
                  <a:pt x="0" y="0"/>
                </a:moveTo>
                <a:lnTo>
                  <a:pt x="4350947" y="0"/>
                </a:lnTo>
                <a:lnTo>
                  <a:pt x="4350947" y="4350946"/>
                </a:lnTo>
                <a:lnTo>
                  <a:pt x="0" y="4350946"/>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tr-T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2054891" y="5853725"/>
            <a:ext cx="5581577" cy="5581577"/>
            <a:chOff x="0" y="0"/>
            <a:chExt cx="812800" cy="812800"/>
          </a:xfrm>
        </p:grpSpPr>
        <p:sp>
          <p:nvSpPr>
            <p:cNvPr id="3" name="Freeform 3"/>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1">
              <a:gsLst>
                <a:gs pos="0">
                  <a:srgbClr val="377FD6">
                    <a:alpha val="31000"/>
                  </a:srgbClr>
                </a:gs>
                <a:gs pos="100000">
                  <a:srgbClr val="CBE2FF">
                    <a:alpha val="31000"/>
                  </a:srgbClr>
                </a:gs>
              </a:gsLst>
              <a:lin ang="5400000"/>
            </a:gradFill>
          </p:spPr>
          <p:txBody>
            <a:bodyPr/>
            <a:lstStyle/>
            <a:p>
              <a:endParaRPr lang="tr-TR"/>
            </a:p>
          </p:txBody>
        </p:sp>
        <p:sp>
          <p:nvSpPr>
            <p:cNvPr id="4" name="TextBox 4"/>
            <p:cNvSpPr txBox="1"/>
            <p:nvPr/>
          </p:nvSpPr>
          <p:spPr>
            <a:xfrm>
              <a:off x="76200" y="47625"/>
              <a:ext cx="660400" cy="688975"/>
            </a:xfrm>
            <a:prstGeom prst="rect">
              <a:avLst/>
            </a:prstGeom>
          </p:spPr>
          <p:txBody>
            <a:bodyPr lIns="50800" tIns="50800" rIns="50800" bIns="50800" rtlCol="0" anchor="ctr"/>
            <a:lstStyle/>
            <a:p>
              <a:pPr algn="ctr">
                <a:lnSpc>
                  <a:spcPts val="2520"/>
                </a:lnSpc>
              </a:pPr>
              <a:endParaRPr/>
            </a:p>
          </p:txBody>
        </p:sp>
      </p:grpSp>
      <p:grpSp>
        <p:nvGrpSpPr>
          <p:cNvPr id="5" name="Group 5"/>
          <p:cNvGrpSpPr/>
          <p:nvPr/>
        </p:nvGrpSpPr>
        <p:grpSpPr>
          <a:xfrm>
            <a:off x="-1345766" y="5457640"/>
            <a:ext cx="5581577" cy="5581577"/>
            <a:chOff x="0" y="0"/>
            <a:chExt cx="812800" cy="812800"/>
          </a:xfrm>
        </p:grpSpPr>
        <p:sp>
          <p:nvSpPr>
            <p:cNvPr id="6" name="Freeform 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1">
              <a:gsLst>
                <a:gs pos="0">
                  <a:srgbClr val="377FD6">
                    <a:alpha val="31000"/>
                  </a:srgbClr>
                </a:gs>
                <a:gs pos="100000">
                  <a:srgbClr val="CBE2FF">
                    <a:alpha val="31000"/>
                  </a:srgbClr>
                </a:gs>
              </a:gsLst>
              <a:lin ang="5400000"/>
            </a:gradFill>
          </p:spPr>
          <p:txBody>
            <a:bodyPr/>
            <a:lstStyle/>
            <a:p>
              <a:endParaRPr lang="tr-TR"/>
            </a:p>
          </p:txBody>
        </p:sp>
        <p:sp>
          <p:nvSpPr>
            <p:cNvPr id="7" name="TextBox 7"/>
            <p:cNvSpPr txBox="1"/>
            <p:nvPr/>
          </p:nvSpPr>
          <p:spPr>
            <a:xfrm>
              <a:off x="76200" y="47625"/>
              <a:ext cx="660400" cy="688975"/>
            </a:xfrm>
            <a:prstGeom prst="rect">
              <a:avLst/>
            </a:prstGeom>
          </p:spPr>
          <p:txBody>
            <a:bodyPr lIns="50800" tIns="50800" rIns="50800" bIns="50800" rtlCol="0" anchor="ctr"/>
            <a:lstStyle/>
            <a:p>
              <a:pPr algn="ctr">
                <a:lnSpc>
                  <a:spcPts val="2520"/>
                </a:lnSpc>
              </a:pPr>
              <a:endParaRPr/>
            </a:p>
          </p:txBody>
        </p:sp>
      </p:grpSp>
      <p:grpSp>
        <p:nvGrpSpPr>
          <p:cNvPr id="8" name="Group 8"/>
          <p:cNvGrpSpPr/>
          <p:nvPr/>
        </p:nvGrpSpPr>
        <p:grpSpPr>
          <a:xfrm>
            <a:off x="-751593" y="-598137"/>
            <a:ext cx="1928382" cy="1928382"/>
            <a:chOff x="0" y="0"/>
            <a:chExt cx="812800" cy="812800"/>
          </a:xfrm>
        </p:grpSpPr>
        <p:sp>
          <p:nvSpPr>
            <p:cNvPr id="9" name="Freeform 9"/>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1">
              <a:gsLst>
                <a:gs pos="0">
                  <a:srgbClr val="377FD6">
                    <a:alpha val="31000"/>
                  </a:srgbClr>
                </a:gs>
                <a:gs pos="100000">
                  <a:srgbClr val="CBE2FF">
                    <a:alpha val="31000"/>
                  </a:srgbClr>
                </a:gs>
              </a:gsLst>
              <a:lin ang="5400000"/>
            </a:gradFill>
          </p:spPr>
          <p:txBody>
            <a:bodyPr/>
            <a:lstStyle/>
            <a:p>
              <a:endParaRPr lang="tr-TR"/>
            </a:p>
          </p:txBody>
        </p:sp>
        <p:sp>
          <p:nvSpPr>
            <p:cNvPr id="10" name="TextBox 10"/>
            <p:cNvSpPr txBox="1"/>
            <p:nvPr/>
          </p:nvSpPr>
          <p:spPr>
            <a:xfrm>
              <a:off x="76200" y="47625"/>
              <a:ext cx="660400" cy="688975"/>
            </a:xfrm>
            <a:prstGeom prst="rect">
              <a:avLst/>
            </a:prstGeom>
          </p:spPr>
          <p:txBody>
            <a:bodyPr lIns="50800" tIns="50800" rIns="50800" bIns="50800" rtlCol="0" anchor="ctr"/>
            <a:lstStyle/>
            <a:p>
              <a:pPr algn="ctr">
                <a:lnSpc>
                  <a:spcPts val="2520"/>
                </a:lnSpc>
              </a:pPr>
              <a:endParaRPr/>
            </a:p>
          </p:txBody>
        </p:sp>
      </p:grpSp>
      <p:graphicFrame>
        <p:nvGraphicFramePr>
          <p:cNvPr id="11" name="Table 11"/>
          <p:cNvGraphicFramePr>
            <a:graphicFrameLocks noGrp="1"/>
          </p:cNvGraphicFramePr>
          <p:nvPr/>
        </p:nvGraphicFramePr>
        <p:xfrm>
          <a:off x="1028700" y="662831"/>
          <a:ext cx="16230600" cy="8961339"/>
        </p:xfrm>
        <a:graphic>
          <a:graphicData uri="http://schemas.openxmlformats.org/drawingml/2006/table">
            <a:tbl>
              <a:tblPr/>
              <a:tblGrid>
                <a:gridCol w="5410200">
                  <a:extLst>
                    <a:ext uri="{9D8B030D-6E8A-4147-A177-3AD203B41FA5}">
                      <a16:colId xmlns:a16="http://schemas.microsoft.com/office/drawing/2014/main" val="20000"/>
                    </a:ext>
                  </a:extLst>
                </a:gridCol>
                <a:gridCol w="5410200">
                  <a:extLst>
                    <a:ext uri="{9D8B030D-6E8A-4147-A177-3AD203B41FA5}">
                      <a16:colId xmlns:a16="http://schemas.microsoft.com/office/drawing/2014/main" val="20001"/>
                    </a:ext>
                  </a:extLst>
                </a:gridCol>
                <a:gridCol w="5410200">
                  <a:extLst>
                    <a:ext uri="{9D8B030D-6E8A-4147-A177-3AD203B41FA5}">
                      <a16:colId xmlns:a16="http://schemas.microsoft.com/office/drawing/2014/main" val="20002"/>
                    </a:ext>
                  </a:extLst>
                </a:gridCol>
              </a:tblGrid>
              <a:tr h="1009774">
                <a:tc>
                  <a:txBody>
                    <a:bodyPr/>
                    <a:lstStyle/>
                    <a:p>
                      <a:pPr marL="0" lvl="0" indent="0" algn="ctr">
                        <a:lnSpc>
                          <a:spcPts val="3079"/>
                        </a:lnSpc>
                        <a:spcBef>
                          <a:spcPct val="0"/>
                        </a:spcBef>
                        <a:defRPr/>
                      </a:pPr>
                      <a:r>
                        <a:rPr lang="en-US" sz="2199" b="1" u="none" strike="noStrike">
                          <a:solidFill>
                            <a:srgbClr val="FFFFFF"/>
                          </a:solidFill>
                          <a:latin typeface="Montserrat Bold"/>
                          <a:ea typeface="Montserrat Bold"/>
                          <a:cs typeface="Montserrat Bold"/>
                          <a:sym typeface="Montserrat Bold"/>
                        </a:rPr>
                        <a:t>Uygulanan İşlem / Teknik</a:t>
                      </a:r>
                      <a:endParaRPr lang="en-US" sz="1100"/>
                    </a:p>
                  </a:txBody>
                  <a:tcPr marL="190500" marR="190500" marT="190500" marB="190500" anchor="ctr">
                    <a:lnL w="28575"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gradFill rotWithShape="1">
                      <a:gsLst>
                        <a:gs pos="0">
                          <a:srgbClr val="154562">
                            <a:alpha val="100000"/>
                          </a:srgbClr>
                        </a:gs>
                        <a:gs pos="100000">
                          <a:srgbClr val="6A8DA2">
                            <a:alpha val="100000"/>
                          </a:srgbClr>
                        </a:gs>
                      </a:gsLst>
                      <a:lin ang="5400000"/>
                    </a:gradFill>
                  </a:tcPr>
                </a:tc>
                <a:tc>
                  <a:txBody>
                    <a:bodyPr/>
                    <a:lstStyle/>
                    <a:p>
                      <a:pPr marL="0" lvl="0" indent="0" algn="ctr">
                        <a:lnSpc>
                          <a:spcPts val="3079"/>
                        </a:lnSpc>
                        <a:spcBef>
                          <a:spcPct val="0"/>
                        </a:spcBef>
                        <a:defRPr/>
                      </a:pPr>
                      <a:r>
                        <a:rPr lang="en-US" sz="2199" b="1" u="none" strike="noStrike">
                          <a:solidFill>
                            <a:srgbClr val="FFFFFF"/>
                          </a:solidFill>
                          <a:latin typeface="Montserrat Bold"/>
                          <a:ea typeface="Montserrat Bold"/>
                          <a:cs typeface="Montserrat Bold"/>
                          <a:sym typeface="Montserrat Bold"/>
                        </a:rPr>
                        <a:t>Ön İşleme Adımı</a:t>
                      </a:r>
                      <a:endParaRPr lang="en-US" sz="1100"/>
                    </a:p>
                  </a:txBody>
                  <a:tcPr marL="190500" marR="190500" marT="190500" marB="190500" anchor="ctr">
                    <a:lnL w="28575"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gradFill rotWithShape="1">
                      <a:gsLst>
                        <a:gs pos="0">
                          <a:srgbClr val="154562">
                            <a:alpha val="100000"/>
                          </a:srgbClr>
                        </a:gs>
                        <a:gs pos="100000">
                          <a:srgbClr val="6A8DA2">
                            <a:alpha val="100000"/>
                          </a:srgbClr>
                        </a:gs>
                      </a:gsLst>
                      <a:lin ang="5400000"/>
                    </a:gradFill>
                  </a:tcPr>
                </a:tc>
                <a:tc>
                  <a:txBody>
                    <a:bodyPr/>
                    <a:lstStyle/>
                    <a:p>
                      <a:pPr marL="0" lvl="0" indent="0" algn="ctr">
                        <a:lnSpc>
                          <a:spcPts val="3079"/>
                        </a:lnSpc>
                        <a:spcBef>
                          <a:spcPct val="0"/>
                        </a:spcBef>
                        <a:defRPr/>
                      </a:pPr>
                      <a:r>
                        <a:rPr lang="en-US" sz="2199" b="1" u="none" strike="noStrike">
                          <a:solidFill>
                            <a:srgbClr val="FFFFFF"/>
                          </a:solidFill>
                          <a:latin typeface="Montserrat Bold"/>
                          <a:ea typeface="Montserrat Bold"/>
                          <a:cs typeface="Montserrat Bold"/>
                          <a:sym typeface="Montserrat Bold"/>
                        </a:rPr>
                        <a:t>Amaç</a:t>
                      </a:r>
                      <a:endParaRPr lang="en-US" sz="1100"/>
                    </a:p>
                  </a:txBody>
                  <a:tcPr marL="190500" marR="190500" marT="190500" marB="190500" anchor="ctr">
                    <a:lnL w="28575"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gradFill rotWithShape="1">
                      <a:gsLst>
                        <a:gs pos="0">
                          <a:srgbClr val="154562">
                            <a:alpha val="100000"/>
                          </a:srgbClr>
                        </a:gs>
                        <a:gs pos="100000">
                          <a:srgbClr val="6A8DA2">
                            <a:alpha val="100000"/>
                          </a:srgbClr>
                        </a:gs>
                      </a:gsLst>
                      <a:lin ang="5400000"/>
                    </a:gradFill>
                  </a:tcPr>
                </a:tc>
                <a:extLst>
                  <a:ext uri="{0D108BD9-81ED-4DB2-BD59-A6C34878D82A}">
                    <a16:rowId xmlns:a16="http://schemas.microsoft.com/office/drawing/2014/main" val="10000"/>
                  </a:ext>
                </a:extLst>
              </a:tr>
              <a:tr h="1703079">
                <a:tc>
                  <a:txBody>
                    <a:bodyPr/>
                    <a:lstStyle/>
                    <a:p>
                      <a:pPr algn="ctr">
                        <a:lnSpc>
                          <a:spcPts val="3079"/>
                        </a:lnSpc>
                        <a:defRPr/>
                      </a:pPr>
                      <a:r>
                        <a:rPr lang="en-US" sz="2199">
                          <a:solidFill>
                            <a:srgbClr val="000000"/>
                          </a:solidFill>
                          <a:latin typeface="Montserrat"/>
                          <a:ea typeface="Montserrat"/>
                          <a:cs typeface="Montserrat"/>
                          <a:sym typeface="Montserrat"/>
                        </a:rPr>
                        <a:t>224x224 piksel</a:t>
                      </a:r>
                      <a:endParaRPr lang="en-US" sz="1100"/>
                    </a:p>
                  </a:txBody>
                  <a:tcPr marL="190500" marR="190500" marT="190500" marB="190500" anchor="ctr">
                    <a:lnL w="28575"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gradFill rotWithShape="1">
                      <a:gsLst>
                        <a:gs pos="0">
                          <a:srgbClr val="9BC4DD">
                            <a:alpha val="100000"/>
                          </a:srgbClr>
                        </a:gs>
                        <a:gs pos="100000">
                          <a:srgbClr val="CCDFEB">
                            <a:alpha val="100000"/>
                          </a:srgbClr>
                        </a:gs>
                      </a:gsLst>
                      <a:lin ang="5400000"/>
                    </a:gradFill>
                  </a:tcPr>
                </a:tc>
                <a:tc>
                  <a:txBody>
                    <a:bodyPr/>
                    <a:lstStyle/>
                    <a:p>
                      <a:pPr marL="0" lvl="0" indent="0" algn="ctr">
                        <a:lnSpc>
                          <a:spcPts val="3079"/>
                        </a:lnSpc>
                        <a:spcBef>
                          <a:spcPct val="0"/>
                        </a:spcBef>
                        <a:defRPr/>
                      </a:pPr>
                      <a:r>
                        <a:rPr lang="en-US" sz="2199" b="1" u="none" strike="noStrike">
                          <a:solidFill>
                            <a:srgbClr val="FFFFFF"/>
                          </a:solidFill>
                          <a:latin typeface="Montserrat Bold"/>
                          <a:ea typeface="Montserrat Bold"/>
                          <a:cs typeface="Montserrat Bold"/>
                          <a:sym typeface="Montserrat Bold"/>
                        </a:rPr>
                        <a:t>Görüntü Boyutlandırma</a:t>
                      </a:r>
                      <a:endParaRPr lang="en-US" sz="1100"/>
                    </a:p>
                  </a:txBody>
                  <a:tcPr marL="190500" marR="190500" marT="190500" marB="190500" anchor="ctr">
                    <a:lnL w="28575"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gradFill rotWithShape="1">
                      <a:gsLst>
                        <a:gs pos="0">
                          <a:srgbClr val="154562">
                            <a:alpha val="100000"/>
                          </a:srgbClr>
                        </a:gs>
                        <a:gs pos="100000">
                          <a:srgbClr val="6A8DA2">
                            <a:alpha val="100000"/>
                          </a:srgbClr>
                        </a:gs>
                      </a:gsLst>
                      <a:lin ang="5400000"/>
                    </a:gradFill>
                  </a:tcPr>
                </a:tc>
                <a:tc>
                  <a:txBody>
                    <a:bodyPr/>
                    <a:lstStyle/>
                    <a:p>
                      <a:pPr algn="ctr">
                        <a:lnSpc>
                          <a:spcPts val="3079"/>
                        </a:lnSpc>
                        <a:defRPr/>
                      </a:pPr>
                      <a:r>
                        <a:rPr lang="en-US" sz="2199">
                          <a:solidFill>
                            <a:srgbClr val="000000"/>
                          </a:solidFill>
                          <a:latin typeface="Montserrat"/>
                          <a:ea typeface="Montserrat"/>
                          <a:cs typeface="Montserrat"/>
                          <a:sym typeface="Montserrat"/>
                        </a:rPr>
                        <a:t>Tüm görüntüleri model giriş katmanına uygun standart boyuta getirmek.</a:t>
                      </a:r>
                      <a:endParaRPr lang="en-US" sz="1100"/>
                    </a:p>
                  </a:txBody>
                  <a:tcPr marL="190500" marR="190500" marT="190500" marB="190500" anchor="ctr">
                    <a:lnL w="28575"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gradFill rotWithShape="1">
                      <a:gsLst>
                        <a:gs pos="0">
                          <a:srgbClr val="9BC4DD">
                            <a:alpha val="100000"/>
                          </a:srgbClr>
                        </a:gs>
                        <a:gs pos="100000">
                          <a:srgbClr val="CCDFEB">
                            <a:alpha val="100000"/>
                          </a:srgbClr>
                        </a:gs>
                      </a:gsLst>
                      <a:lin ang="5400000"/>
                    </a:gradFill>
                  </a:tcPr>
                </a:tc>
                <a:extLst>
                  <a:ext uri="{0D108BD9-81ED-4DB2-BD59-A6C34878D82A}">
                    <a16:rowId xmlns:a16="http://schemas.microsoft.com/office/drawing/2014/main" val="10001"/>
                  </a:ext>
                </a:extLst>
              </a:tr>
              <a:tr h="1421164">
                <a:tc>
                  <a:txBody>
                    <a:bodyPr/>
                    <a:lstStyle/>
                    <a:p>
                      <a:pPr algn="ctr">
                        <a:lnSpc>
                          <a:spcPts val="3079"/>
                        </a:lnSpc>
                        <a:defRPr/>
                      </a:pPr>
                      <a:r>
                        <a:rPr lang="en-US" sz="2199">
                          <a:solidFill>
                            <a:srgbClr val="000000"/>
                          </a:solidFill>
                          <a:latin typeface="Montserrat"/>
                          <a:ea typeface="Montserrat"/>
                          <a:cs typeface="Montserrat"/>
                          <a:sym typeface="Montserrat"/>
                        </a:rPr>
                        <a:t>Piksel değerlerini [0, 1] aralığına çekme</a:t>
                      </a:r>
                      <a:endParaRPr lang="en-US" sz="1100"/>
                    </a:p>
                  </a:txBody>
                  <a:tcPr marL="190500" marR="190500" marT="190500" marB="190500" anchor="ctr">
                    <a:lnL w="28575"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gradFill rotWithShape="1">
                      <a:gsLst>
                        <a:gs pos="0">
                          <a:srgbClr val="9BC4DD">
                            <a:alpha val="100000"/>
                          </a:srgbClr>
                        </a:gs>
                        <a:gs pos="100000">
                          <a:srgbClr val="CCDFEB">
                            <a:alpha val="100000"/>
                          </a:srgbClr>
                        </a:gs>
                      </a:gsLst>
                      <a:lin ang="5400000"/>
                    </a:gradFill>
                  </a:tcPr>
                </a:tc>
                <a:tc>
                  <a:txBody>
                    <a:bodyPr/>
                    <a:lstStyle/>
                    <a:p>
                      <a:pPr algn="ctr">
                        <a:lnSpc>
                          <a:spcPts val="3079"/>
                        </a:lnSpc>
                        <a:defRPr/>
                      </a:pPr>
                      <a:r>
                        <a:rPr lang="en-US" sz="2199" b="1">
                          <a:solidFill>
                            <a:srgbClr val="FFFFFF"/>
                          </a:solidFill>
                          <a:latin typeface="Montserrat Bold"/>
                          <a:ea typeface="Montserrat Bold"/>
                          <a:cs typeface="Montserrat Bold"/>
                          <a:sym typeface="Montserrat Bold"/>
                        </a:rPr>
                        <a:t>Normalizasyon</a:t>
                      </a:r>
                      <a:endParaRPr lang="en-US" sz="1100"/>
                    </a:p>
                  </a:txBody>
                  <a:tcPr marL="190500" marR="190500" marT="190500" marB="190500" anchor="ctr">
                    <a:lnL w="28575"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gradFill rotWithShape="1">
                      <a:gsLst>
                        <a:gs pos="0">
                          <a:srgbClr val="154562">
                            <a:alpha val="100000"/>
                          </a:srgbClr>
                        </a:gs>
                        <a:gs pos="100000">
                          <a:srgbClr val="6A8DA2">
                            <a:alpha val="100000"/>
                          </a:srgbClr>
                        </a:gs>
                      </a:gsLst>
                      <a:lin ang="5400000"/>
                    </a:gradFill>
                  </a:tcPr>
                </a:tc>
                <a:tc>
                  <a:txBody>
                    <a:bodyPr/>
                    <a:lstStyle/>
                    <a:p>
                      <a:pPr algn="ctr">
                        <a:lnSpc>
                          <a:spcPts val="3079"/>
                        </a:lnSpc>
                        <a:defRPr/>
                      </a:pPr>
                      <a:r>
                        <a:rPr lang="en-US" sz="2199">
                          <a:solidFill>
                            <a:srgbClr val="000000"/>
                          </a:solidFill>
                          <a:latin typeface="Montserrat"/>
                          <a:ea typeface="Montserrat"/>
                          <a:cs typeface="Montserrat"/>
                          <a:sym typeface="Montserrat"/>
                        </a:rPr>
                        <a:t>Modelin daha hızlı, dengeli ve stabil öğrenmesini sağlamak.</a:t>
                      </a:r>
                      <a:endParaRPr lang="en-US" sz="1100"/>
                    </a:p>
                  </a:txBody>
                  <a:tcPr marL="190500" marR="190500" marT="190500" marB="190500" anchor="ctr">
                    <a:lnL w="28575"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gradFill rotWithShape="1">
                      <a:gsLst>
                        <a:gs pos="0">
                          <a:srgbClr val="9BC4DD">
                            <a:alpha val="100000"/>
                          </a:srgbClr>
                        </a:gs>
                        <a:gs pos="100000">
                          <a:srgbClr val="CCDFEB">
                            <a:alpha val="100000"/>
                          </a:srgbClr>
                        </a:gs>
                      </a:gsLst>
                      <a:lin ang="5400000"/>
                    </a:gradFill>
                  </a:tcPr>
                </a:tc>
                <a:extLst>
                  <a:ext uri="{0D108BD9-81ED-4DB2-BD59-A6C34878D82A}">
                    <a16:rowId xmlns:a16="http://schemas.microsoft.com/office/drawing/2014/main" val="10002"/>
                  </a:ext>
                </a:extLst>
              </a:tr>
              <a:tr h="1703079">
                <a:tc>
                  <a:txBody>
                    <a:bodyPr/>
                    <a:lstStyle/>
                    <a:p>
                      <a:pPr algn="ctr">
                        <a:lnSpc>
                          <a:spcPts val="3079"/>
                        </a:lnSpc>
                        <a:defRPr/>
                      </a:pPr>
                      <a:r>
                        <a:rPr lang="en-US" sz="2199">
                          <a:solidFill>
                            <a:srgbClr val="000000"/>
                          </a:solidFill>
                          <a:latin typeface="Montserrat"/>
                          <a:ea typeface="Montserrat"/>
                          <a:cs typeface="Montserrat"/>
                          <a:sym typeface="Montserrat"/>
                        </a:rPr>
                        <a:t>Yatay/Dikey çevirme, 15° döndürme, %10 parlaklık ayarı</a:t>
                      </a:r>
                      <a:endParaRPr lang="en-US" sz="1100"/>
                    </a:p>
                  </a:txBody>
                  <a:tcPr marL="190500" marR="190500" marT="190500" marB="190500" anchor="ctr">
                    <a:lnL w="28575"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gradFill rotWithShape="1">
                      <a:gsLst>
                        <a:gs pos="0">
                          <a:srgbClr val="9BC4DD">
                            <a:alpha val="100000"/>
                          </a:srgbClr>
                        </a:gs>
                        <a:gs pos="100000">
                          <a:srgbClr val="CCDFEB">
                            <a:alpha val="100000"/>
                          </a:srgbClr>
                        </a:gs>
                      </a:gsLst>
                      <a:lin ang="5400000"/>
                    </a:gradFill>
                  </a:tcPr>
                </a:tc>
                <a:tc>
                  <a:txBody>
                    <a:bodyPr/>
                    <a:lstStyle/>
                    <a:p>
                      <a:pPr marL="0" lvl="0" indent="0" algn="ctr">
                        <a:lnSpc>
                          <a:spcPts val="3079"/>
                        </a:lnSpc>
                        <a:spcBef>
                          <a:spcPct val="0"/>
                        </a:spcBef>
                        <a:defRPr/>
                      </a:pPr>
                      <a:r>
                        <a:rPr lang="en-US" sz="2199" b="1" u="none" strike="noStrike">
                          <a:solidFill>
                            <a:srgbClr val="FFFFFF"/>
                          </a:solidFill>
                          <a:latin typeface="Montserrat Bold"/>
                          <a:ea typeface="Montserrat Bold"/>
                          <a:cs typeface="Montserrat Bold"/>
                          <a:sym typeface="Montserrat Bold"/>
                        </a:rPr>
                        <a:t>Data Augmentation</a:t>
                      </a:r>
                      <a:endParaRPr lang="en-US" sz="1100"/>
                    </a:p>
                  </a:txBody>
                  <a:tcPr marL="190500" marR="190500" marT="190500" marB="190500" anchor="ctr">
                    <a:lnL w="28575"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gradFill rotWithShape="1">
                      <a:gsLst>
                        <a:gs pos="0">
                          <a:srgbClr val="154562">
                            <a:alpha val="100000"/>
                          </a:srgbClr>
                        </a:gs>
                        <a:gs pos="100000">
                          <a:srgbClr val="6A8DA2">
                            <a:alpha val="100000"/>
                          </a:srgbClr>
                        </a:gs>
                      </a:gsLst>
                      <a:lin ang="5400000"/>
                    </a:gradFill>
                  </a:tcPr>
                </a:tc>
                <a:tc>
                  <a:txBody>
                    <a:bodyPr/>
                    <a:lstStyle/>
                    <a:p>
                      <a:pPr algn="ctr">
                        <a:lnSpc>
                          <a:spcPts val="3079"/>
                        </a:lnSpc>
                        <a:defRPr/>
                      </a:pPr>
                      <a:r>
                        <a:rPr lang="en-US" sz="2199">
                          <a:solidFill>
                            <a:srgbClr val="000000"/>
                          </a:solidFill>
                          <a:latin typeface="Montserrat"/>
                          <a:ea typeface="Montserrat"/>
                          <a:cs typeface="Montserrat"/>
                          <a:sym typeface="Montserrat"/>
                        </a:rPr>
                        <a:t>Eğitim verisini çeşitlendirerek modelin ezberlemesini (overfitting) önlemek.</a:t>
                      </a:r>
                      <a:endParaRPr lang="en-US" sz="1100"/>
                    </a:p>
                  </a:txBody>
                  <a:tcPr marL="190500" marR="190500" marT="190500" marB="190500" anchor="ctr">
                    <a:lnL w="28575"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gradFill rotWithShape="1">
                      <a:gsLst>
                        <a:gs pos="0">
                          <a:srgbClr val="9BC4DD">
                            <a:alpha val="100000"/>
                          </a:srgbClr>
                        </a:gs>
                        <a:gs pos="100000">
                          <a:srgbClr val="CCDFEB">
                            <a:alpha val="100000"/>
                          </a:srgbClr>
                        </a:gs>
                      </a:gsLst>
                      <a:lin ang="5400000"/>
                    </a:gradFill>
                  </a:tcPr>
                </a:tc>
                <a:extLst>
                  <a:ext uri="{0D108BD9-81ED-4DB2-BD59-A6C34878D82A}">
                    <a16:rowId xmlns:a16="http://schemas.microsoft.com/office/drawing/2014/main" val="10003"/>
                  </a:ext>
                </a:extLst>
              </a:tr>
              <a:tr h="1703079">
                <a:tc>
                  <a:txBody>
                    <a:bodyPr/>
                    <a:lstStyle/>
                    <a:p>
                      <a:pPr algn="ctr">
                        <a:lnSpc>
                          <a:spcPts val="3079"/>
                        </a:lnSpc>
                        <a:defRPr/>
                      </a:pPr>
                      <a:r>
                        <a:rPr lang="en-US" sz="2199">
                          <a:solidFill>
                            <a:srgbClr val="000000"/>
                          </a:solidFill>
                          <a:latin typeface="Montserrat"/>
                          <a:ea typeface="Montserrat"/>
                          <a:cs typeface="Montserrat"/>
                          <a:sym typeface="Montserrat"/>
                        </a:rPr>
                        <a:t>Manual Oversampling (Azınlık sınıfların kopyalanması)</a:t>
                      </a:r>
                      <a:endParaRPr lang="en-US" sz="1100"/>
                    </a:p>
                  </a:txBody>
                  <a:tcPr marL="190500" marR="190500" marT="190500" marB="190500" anchor="ctr">
                    <a:lnL w="28575"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gradFill rotWithShape="1">
                      <a:gsLst>
                        <a:gs pos="0">
                          <a:srgbClr val="9BC4DD">
                            <a:alpha val="100000"/>
                          </a:srgbClr>
                        </a:gs>
                        <a:gs pos="100000">
                          <a:srgbClr val="CCDFEB">
                            <a:alpha val="100000"/>
                          </a:srgbClr>
                        </a:gs>
                      </a:gsLst>
                      <a:lin ang="5400000"/>
                    </a:gradFill>
                  </a:tcPr>
                </a:tc>
                <a:tc>
                  <a:txBody>
                    <a:bodyPr/>
                    <a:lstStyle/>
                    <a:p>
                      <a:pPr marL="0" lvl="0" indent="0" algn="ctr">
                        <a:lnSpc>
                          <a:spcPts val="3079"/>
                        </a:lnSpc>
                        <a:spcBef>
                          <a:spcPct val="0"/>
                        </a:spcBef>
                        <a:defRPr/>
                      </a:pPr>
                      <a:r>
                        <a:rPr lang="en-US" sz="2199" b="1" u="none" strike="noStrike">
                          <a:solidFill>
                            <a:srgbClr val="FFFFFF"/>
                          </a:solidFill>
                          <a:latin typeface="Montserrat Bold"/>
                          <a:ea typeface="Montserrat Bold"/>
                          <a:cs typeface="Montserrat Bold"/>
                          <a:sym typeface="Montserrat Bold"/>
                        </a:rPr>
                        <a:t>Sınıf Dengeleme</a:t>
                      </a:r>
                      <a:endParaRPr lang="en-US" sz="1100"/>
                    </a:p>
                  </a:txBody>
                  <a:tcPr marL="190500" marR="190500" marT="190500" marB="190500" anchor="ctr">
                    <a:lnL w="28575"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gradFill rotWithShape="1">
                      <a:gsLst>
                        <a:gs pos="0">
                          <a:srgbClr val="154562">
                            <a:alpha val="100000"/>
                          </a:srgbClr>
                        </a:gs>
                        <a:gs pos="100000">
                          <a:srgbClr val="6A8DA2">
                            <a:alpha val="100000"/>
                          </a:srgbClr>
                        </a:gs>
                      </a:gsLst>
                      <a:lin ang="5400000"/>
                    </a:gradFill>
                  </a:tcPr>
                </a:tc>
                <a:tc>
                  <a:txBody>
                    <a:bodyPr/>
                    <a:lstStyle/>
                    <a:p>
                      <a:pPr algn="ctr">
                        <a:lnSpc>
                          <a:spcPts val="3079"/>
                        </a:lnSpc>
                        <a:defRPr/>
                      </a:pPr>
                      <a:r>
                        <a:rPr lang="en-US" sz="2199">
                          <a:solidFill>
                            <a:srgbClr val="000000"/>
                          </a:solidFill>
                          <a:latin typeface="Montserrat"/>
                          <a:ea typeface="Montserrat"/>
                          <a:cs typeface="Montserrat"/>
                          <a:sym typeface="Montserrat"/>
                        </a:rPr>
                        <a:t>Sınıflar arası (Good, Fair, Poor) veri eşitsizliğini (bias) ortadan kaldırmak.</a:t>
                      </a:r>
                      <a:endParaRPr lang="en-US" sz="1100"/>
                    </a:p>
                  </a:txBody>
                  <a:tcPr marL="190500" marR="190500" marT="190500" marB="190500" anchor="ctr">
                    <a:lnL w="28575"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gradFill rotWithShape="1">
                      <a:gsLst>
                        <a:gs pos="0">
                          <a:srgbClr val="9BC4DD">
                            <a:alpha val="100000"/>
                          </a:srgbClr>
                        </a:gs>
                        <a:gs pos="100000">
                          <a:srgbClr val="CCDFEB">
                            <a:alpha val="100000"/>
                          </a:srgbClr>
                        </a:gs>
                      </a:gsLst>
                      <a:lin ang="5400000"/>
                    </a:gradFill>
                  </a:tcPr>
                </a:tc>
                <a:extLst>
                  <a:ext uri="{0D108BD9-81ED-4DB2-BD59-A6C34878D82A}">
                    <a16:rowId xmlns:a16="http://schemas.microsoft.com/office/drawing/2014/main" val="10004"/>
                  </a:ext>
                </a:extLst>
              </a:tr>
              <a:tr h="1421164">
                <a:tc>
                  <a:txBody>
                    <a:bodyPr/>
                    <a:lstStyle/>
                    <a:p>
                      <a:pPr algn="ctr">
                        <a:lnSpc>
                          <a:spcPts val="3079"/>
                        </a:lnSpc>
                        <a:defRPr/>
                      </a:pPr>
                      <a:r>
                        <a:rPr lang="en-US" sz="2199">
                          <a:solidFill>
                            <a:srgbClr val="000000"/>
                          </a:solidFill>
                          <a:latin typeface="Montserrat"/>
                          <a:ea typeface="Montserrat"/>
                          <a:cs typeface="Montserrat"/>
                          <a:sym typeface="Montserrat"/>
                        </a:rPr>
                        <a:t>%70 Eğitim, %15 Doğrulama, %15 Test (Tabakalı / Stratified)</a:t>
                      </a:r>
                      <a:endParaRPr lang="en-US" sz="1100"/>
                    </a:p>
                  </a:txBody>
                  <a:tcPr marL="190500" marR="190500" marT="190500" marB="190500" anchor="ctr">
                    <a:lnL w="28575"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gradFill rotWithShape="1">
                      <a:gsLst>
                        <a:gs pos="0">
                          <a:srgbClr val="9BC4DD">
                            <a:alpha val="100000"/>
                          </a:srgbClr>
                        </a:gs>
                        <a:gs pos="100000">
                          <a:srgbClr val="CCDFEB">
                            <a:alpha val="100000"/>
                          </a:srgbClr>
                        </a:gs>
                      </a:gsLst>
                      <a:lin ang="5400000"/>
                    </a:gradFill>
                  </a:tcPr>
                </a:tc>
                <a:tc>
                  <a:txBody>
                    <a:bodyPr/>
                    <a:lstStyle/>
                    <a:p>
                      <a:pPr marL="0" lvl="0" indent="0" algn="ctr">
                        <a:lnSpc>
                          <a:spcPts val="3079"/>
                        </a:lnSpc>
                        <a:spcBef>
                          <a:spcPct val="0"/>
                        </a:spcBef>
                        <a:defRPr/>
                      </a:pPr>
                      <a:r>
                        <a:rPr lang="en-US" sz="2199" b="1" u="none" strike="noStrike">
                          <a:solidFill>
                            <a:srgbClr val="FFFFFF"/>
                          </a:solidFill>
                          <a:latin typeface="Montserrat Bold"/>
                          <a:ea typeface="Montserrat Bold"/>
                          <a:cs typeface="Montserrat Bold"/>
                          <a:sym typeface="Montserrat Bold"/>
                        </a:rPr>
                        <a:t>Veri Bölme (Split)</a:t>
                      </a:r>
                      <a:endParaRPr lang="en-US" sz="1100"/>
                    </a:p>
                  </a:txBody>
                  <a:tcPr marL="190500" marR="190500" marT="190500" marB="190500" anchor="ctr">
                    <a:lnL w="28575"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gradFill rotWithShape="1">
                      <a:gsLst>
                        <a:gs pos="0">
                          <a:srgbClr val="154562">
                            <a:alpha val="100000"/>
                          </a:srgbClr>
                        </a:gs>
                        <a:gs pos="100000">
                          <a:srgbClr val="6A8DA2">
                            <a:alpha val="100000"/>
                          </a:srgbClr>
                        </a:gs>
                      </a:gsLst>
                      <a:lin ang="5400000"/>
                    </a:gradFill>
                  </a:tcPr>
                </a:tc>
                <a:tc>
                  <a:txBody>
                    <a:bodyPr/>
                    <a:lstStyle/>
                    <a:p>
                      <a:pPr algn="ctr">
                        <a:lnSpc>
                          <a:spcPts val="3079"/>
                        </a:lnSpc>
                        <a:defRPr/>
                      </a:pPr>
                      <a:r>
                        <a:rPr lang="en-US" sz="2199">
                          <a:solidFill>
                            <a:srgbClr val="000000"/>
                          </a:solidFill>
                          <a:latin typeface="Montserrat"/>
                          <a:ea typeface="Montserrat"/>
                          <a:cs typeface="Montserrat"/>
                          <a:sym typeface="Montserrat"/>
                        </a:rPr>
                        <a:t>Modelin görmediği verilerle adil şekilde test edilmesini sağlamak.</a:t>
                      </a:r>
                      <a:endParaRPr lang="en-US" sz="1100"/>
                    </a:p>
                  </a:txBody>
                  <a:tcPr marL="190500" marR="190500" marT="190500" marB="190500" anchor="ctr">
                    <a:lnL w="28575"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gradFill rotWithShape="1">
                      <a:gsLst>
                        <a:gs pos="0">
                          <a:srgbClr val="9BC4DD">
                            <a:alpha val="100000"/>
                          </a:srgbClr>
                        </a:gs>
                        <a:gs pos="100000">
                          <a:srgbClr val="CCDFEB">
                            <a:alpha val="100000"/>
                          </a:srgbClr>
                        </a:gs>
                      </a:gsLst>
                      <a:lin ang="5400000"/>
                    </a:gradFill>
                  </a:tcPr>
                </a:tc>
                <a:extLst>
                  <a:ext uri="{0D108BD9-81ED-4DB2-BD59-A6C34878D82A}">
                    <a16:rowId xmlns:a16="http://schemas.microsoft.com/office/drawing/2014/main" val="10005"/>
                  </a:ext>
                </a:extLst>
              </a:tr>
            </a:tbl>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345766" y="5457640"/>
            <a:ext cx="5581577" cy="5581577"/>
            <a:chOff x="0" y="0"/>
            <a:chExt cx="812800" cy="812800"/>
          </a:xfrm>
        </p:grpSpPr>
        <p:sp>
          <p:nvSpPr>
            <p:cNvPr id="3" name="Freeform 3"/>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1">
              <a:gsLst>
                <a:gs pos="0">
                  <a:srgbClr val="377FD6">
                    <a:alpha val="31000"/>
                  </a:srgbClr>
                </a:gs>
                <a:gs pos="100000">
                  <a:srgbClr val="CBE2FF">
                    <a:alpha val="31000"/>
                  </a:srgbClr>
                </a:gs>
              </a:gsLst>
              <a:lin ang="5400000"/>
            </a:gradFill>
          </p:spPr>
          <p:txBody>
            <a:bodyPr/>
            <a:lstStyle/>
            <a:p>
              <a:endParaRPr lang="tr-TR"/>
            </a:p>
          </p:txBody>
        </p:sp>
        <p:sp>
          <p:nvSpPr>
            <p:cNvPr id="4" name="TextBox 4"/>
            <p:cNvSpPr txBox="1"/>
            <p:nvPr/>
          </p:nvSpPr>
          <p:spPr>
            <a:xfrm>
              <a:off x="76200" y="47625"/>
              <a:ext cx="660400" cy="688975"/>
            </a:xfrm>
            <a:prstGeom prst="rect">
              <a:avLst/>
            </a:prstGeom>
          </p:spPr>
          <p:txBody>
            <a:bodyPr lIns="50800" tIns="50800" rIns="50800" bIns="50800" rtlCol="0" anchor="ctr"/>
            <a:lstStyle/>
            <a:p>
              <a:pPr algn="ctr">
                <a:lnSpc>
                  <a:spcPts val="2520"/>
                </a:lnSpc>
              </a:pPr>
              <a:endParaRPr/>
            </a:p>
          </p:txBody>
        </p:sp>
      </p:grpSp>
      <p:grpSp>
        <p:nvGrpSpPr>
          <p:cNvPr id="5" name="Group 5"/>
          <p:cNvGrpSpPr/>
          <p:nvPr/>
        </p:nvGrpSpPr>
        <p:grpSpPr>
          <a:xfrm>
            <a:off x="1165432" y="2481012"/>
            <a:ext cx="6311599" cy="4627511"/>
            <a:chOff x="0" y="0"/>
            <a:chExt cx="1770042" cy="1297752"/>
          </a:xfrm>
        </p:grpSpPr>
        <p:sp>
          <p:nvSpPr>
            <p:cNvPr id="6" name="Freeform 6"/>
            <p:cNvSpPr/>
            <p:nvPr/>
          </p:nvSpPr>
          <p:spPr>
            <a:xfrm>
              <a:off x="0" y="0"/>
              <a:ext cx="1770042" cy="1297752"/>
            </a:xfrm>
            <a:custGeom>
              <a:avLst/>
              <a:gdLst/>
              <a:ahLst/>
              <a:cxnLst/>
              <a:rect l="l" t="t" r="r" b="b"/>
              <a:pathLst>
                <a:path w="1770042" h="1297752">
                  <a:moveTo>
                    <a:pt x="23957" y="0"/>
                  </a:moveTo>
                  <a:lnTo>
                    <a:pt x="1746085" y="0"/>
                  </a:lnTo>
                  <a:cubicBezTo>
                    <a:pt x="1752439" y="0"/>
                    <a:pt x="1758533" y="2524"/>
                    <a:pt x="1763025" y="7017"/>
                  </a:cubicBezTo>
                  <a:cubicBezTo>
                    <a:pt x="1767518" y="11510"/>
                    <a:pt x="1770042" y="17603"/>
                    <a:pt x="1770042" y="23957"/>
                  </a:cubicBezTo>
                  <a:lnTo>
                    <a:pt x="1770042" y="1273795"/>
                  </a:lnTo>
                  <a:cubicBezTo>
                    <a:pt x="1770042" y="1280149"/>
                    <a:pt x="1767518" y="1286242"/>
                    <a:pt x="1763025" y="1290735"/>
                  </a:cubicBezTo>
                  <a:cubicBezTo>
                    <a:pt x="1758533" y="1295228"/>
                    <a:pt x="1752439" y="1297752"/>
                    <a:pt x="1746085" y="1297752"/>
                  </a:cubicBezTo>
                  <a:lnTo>
                    <a:pt x="23957" y="1297752"/>
                  </a:lnTo>
                  <a:cubicBezTo>
                    <a:pt x="17603" y="1297752"/>
                    <a:pt x="11510" y="1295228"/>
                    <a:pt x="7017" y="1290735"/>
                  </a:cubicBezTo>
                  <a:cubicBezTo>
                    <a:pt x="2524" y="1286242"/>
                    <a:pt x="0" y="1280149"/>
                    <a:pt x="0" y="1273795"/>
                  </a:cubicBezTo>
                  <a:lnTo>
                    <a:pt x="0" y="23957"/>
                  </a:lnTo>
                  <a:cubicBezTo>
                    <a:pt x="0" y="17603"/>
                    <a:pt x="2524" y="11510"/>
                    <a:pt x="7017" y="7017"/>
                  </a:cubicBezTo>
                  <a:cubicBezTo>
                    <a:pt x="11510" y="2524"/>
                    <a:pt x="17603" y="0"/>
                    <a:pt x="23957" y="0"/>
                  </a:cubicBezTo>
                  <a:close/>
                </a:path>
              </a:pathLst>
            </a:custGeom>
            <a:solidFill>
              <a:srgbClr val="4E6C7E"/>
            </a:solidFill>
            <a:ln w="19050" cap="rnd">
              <a:solidFill>
                <a:srgbClr val="4383D1"/>
              </a:solidFill>
              <a:prstDash val="solid"/>
              <a:round/>
            </a:ln>
          </p:spPr>
          <p:txBody>
            <a:bodyPr/>
            <a:lstStyle/>
            <a:p>
              <a:endParaRPr lang="tr-TR"/>
            </a:p>
          </p:txBody>
        </p:sp>
        <p:sp>
          <p:nvSpPr>
            <p:cNvPr id="7" name="TextBox 7"/>
            <p:cNvSpPr txBox="1"/>
            <p:nvPr/>
          </p:nvSpPr>
          <p:spPr>
            <a:xfrm>
              <a:off x="0" y="-28575"/>
              <a:ext cx="1770042" cy="1326327"/>
            </a:xfrm>
            <a:prstGeom prst="rect">
              <a:avLst/>
            </a:prstGeom>
          </p:spPr>
          <p:txBody>
            <a:bodyPr lIns="37272" tIns="37272" rIns="37272" bIns="37272" rtlCol="0" anchor="ctr"/>
            <a:lstStyle/>
            <a:p>
              <a:pPr algn="ctr">
                <a:lnSpc>
                  <a:spcPts val="2520"/>
                </a:lnSpc>
              </a:pPr>
              <a:endParaRPr/>
            </a:p>
          </p:txBody>
        </p:sp>
      </p:grpSp>
      <p:grpSp>
        <p:nvGrpSpPr>
          <p:cNvPr id="8" name="Group 8"/>
          <p:cNvGrpSpPr/>
          <p:nvPr/>
        </p:nvGrpSpPr>
        <p:grpSpPr>
          <a:xfrm>
            <a:off x="1028700" y="2205868"/>
            <a:ext cx="6311599" cy="4627511"/>
            <a:chOff x="0" y="0"/>
            <a:chExt cx="1770042" cy="1297752"/>
          </a:xfrm>
        </p:grpSpPr>
        <p:sp>
          <p:nvSpPr>
            <p:cNvPr id="9" name="Freeform 9"/>
            <p:cNvSpPr/>
            <p:nvPr/>
          </p:nvSpPr>
          <p:spPr>
            <a:xfrm>
              <a:off x="0" y="0"/>
              <a:ext cx="1770042" cy="1297752"/>
            </a:xfrm>
            <a:custGeom>
              <a:avLst/>
              <a:gdLst/>
              <a:ahLst/>
              <a:cxnLst/>
              <a:rect l="l" t="t" r="r" b="b"/>
              <a:pathLst>
                <a:path w="1770042" h="1297752">
                  <a:moveTo>
                    <a:pt x="23957" y="0"/>
                  </a:moveTo>
                  <a:lnTo>
                    <a:pt x="1746085" y="0"/>
                  </a:lnTo>
                  <a:cubicBezTo>
                    <a:pt x="1752439" y="0"/>
                    <a:pt x="1758533" y="2524"/>
                    <a:pt x="1763025" y="7017"/>
                  </a:cubicBezTo>
                  <a:cubicBezTo>
                    <a:pt x="1767518" y="11510"/>
                    <a:pt x="1770042" y="17603"/>
                    <a:pt x="1770042" y="23957"/>
                  </a:cubicBezTo>
                  <a:lnTo>
                    <a:pt x="1770042" y="1273795"/>
                  </a:lnTo>
                  <a:cubicBezTo>
                    <a:pt x="1770042" y="1280149"/>
                    <a:pt x="1767518" y="1286242"/>
                    <a:pt x="1763025" y="1290735"/>
                  </a:cubicBezTo>
                  <a:cubicBezTo>
                    <a:pt x="1758533" y="1295228"/>
                    <a:pt x="1752439" y="1297752"/>
                    <a:pt x="1746085" y="1297752"/>
                  </a:cubicBezTo>
                  <a:lnTo>
                    <a:pt x="23957" y="1297752"/>
                  </a:lnTo>
                  <a:cubicBezTo>
                    <a:pt x="17603" y="1297752"/>
                    <a:pt x="11510" y="1295228"/>
                    <a:pt x="7017" y="1290735"/>
                  </a:cubicBezTo>
                  <a:cubicBezTo>
                    <a:pt x="2524" y="1286242"/>
                    <a:pt x="0" y="1280149"/>
                    <a:pt x="0" y="1273795"/>
                  </a:cubicBezTo>
                  <a:lnTo>
                    <a:pt x="0" y="23957"/>
                  </a:lnTo>
                  <a:cubicBezTo>
                    <a:pt x="0" y="17603"/>
                    <a:pt x="2524" y="11510"/>
                    <a:pt x="7017" y="7017"/>
                  </a:cubicBezTo>
                  <a:cubicBezTo>
                    <a:pt x="11510" y="2524"/>
                    <a:pt x="17603" y="0"/>
                    <a:pt x="23957" y="0"/>
                  </a:cubicBezTo>
                  <a:close/>
                </a:path>
              </a:pathLst>
            </a:custGeom>
            <a:solidFill>
              <a:srgbClr val="FFFFFF"/>
            </a:solidFill>
            <a:ln w="19050" cap="rnd">
              <a:solidFill>
                <a:srgbClr val="4383D1"/>
              </a:solidFill>
              <a:prstDash val="solid"/>
              <a:round/>
            </a:ln>
          </p:spPr>
          <p:txBody>
            <a:bodyPr/>
            <a:lstStyle/>
            <a:p>
              <a:endParaRPr lang="tr-TR"/>
            </a:p>
          </p:txBody>
        </p:sp>
        <p:sp>
          <p:nvSpPr>
            <p:cNvPr id="10" name="TextBox 10"/>
            <p:cNvSpPr txBox="1"/>
            <p:nvPr/>
          </p:nvSpPr>
          <p:spPr>
            <a:xfrm>
              <a:off x="0" y="-28575"/>
              <a:ext cx="1770042" cy="1326327"/>
            </a:xfrm>
            <a:prstGeom prst="rect">
              <a:avLst/>
            </a:prstGeom>
          </p:spPr>
          <p:txBody>
            <a:bodyPr lIns="37272" tIns="37272" rIns="37272" bIns="37272" rtlCol="0" anchor="ctr"/>
            <a:lstStyle/>
            <a:p>
              <a:pPr algn="ctr">
                <a:lnSpc>
                  <a:spcPts val="2520"/>
                </a:lnSpc>
              </a:pPr>
              <a:endParaRPr/>
            </a:p>
          </p:txBody>
        </p:sp>
      </p:grpSp>
      <p:grpSp>
        <p:nvGrpSpPr>
          <p:cNvPr id="11" name="Group 11"/>
          <p:cNvGrpSpPr/>
          <p:nvPr/>
        </p:nvGrpSpPr>
        <p:grpSpPr>
          <a:xfrm>
            <a:off x="1227869" y="2998332"/>
            <a:ext cx="393928" cy="393928"/>
            <a:chOff x="0" y="0"/>
            <a:chExt cx="812800" cy="812800"/>
          </a:xfrm>
        </p:grpSpPr>
        <p:sp>
          <p:nvSpPr>
            <p:cNvPr id="12" name="Freeform 12"/>
            <p:cNvSpPr/>
            <p:nvPr/>
          </p:nvSpPr>
          <p:spPr>
            <a:xfrm>
              <a:off x="0" y="57562"/>
              <a:ext cx="772097" cy="697677"/>
            </a:xfrm>
            <a:custGeom>
              <a:avLst/>
              <a:gdLst/>
              <a:ahLst/>
              <a:cxnLst/>
              <a:rect l="l" t="t" r="r" b="b"/>
              <a:pathLst>
                <a:path w="772097" h="697677">
                  <a:moveTo>
                    <a:pt x="743316" y="279354"/>
                  </a:moveTo>
                  <a:lnTo>
                    <a:pt x="475884" y="11922"/>
                  </a:lnTo>
                  <a:cubicBezTo>
                    <a:pt x="464243" y="281"/>
                    <a:pt x="446736" y="-3201"/>
                    <a:pt x="431527" y="3099"/>
                  </a:cubicBezTo>
                  <a:cubicBezTo>
                    <a:pt x="416317" y="9399"/>
                    <a:pt x="406400" y="24241"/>
                    <a:pt x="406400" y="40704"/>
                  </a:cubicBezTo>
                  <a:lnTo>
                    <a:pt x="406400" y="47372"/>
                  </a:lnTo>
                  <a:cubicBezTo>
                    <a:pt x="406400" y="101643"/>
                    <a:pt x="362405" y="145638"/>
                    <a:pt x="308134" y="145638"/>
                  </a:cubicBezTo>
                  <a:lnTo>
                    <a:pt x="98266" y="145638"/>
                  </a:lnTo>
                  <a:cubicBezTo>
                    <a:pt x="43995" y="145638"/>
                    <a:pt x="0" y="189633"/>
                    <a:pt x="0" y="243904"/>
                  </a:cubicBezTo>
                  <a:lnTo>
                    <a:pt x="0" y="453772"/>
                  </a:lnTo>
                  <a:cubicBezTo>
                    <a:pt x="0" y="508043"/>
                    <a:pt x="43995" y="552038"/>
                    <a:pt x="98266" y="552038"/>
                  </a:cubicBezTo>
                  <a:lnTo>
                    <a:pt x="308134" y="552038"/>
                  </a:lnTo>
                  <a:cubicBezTo>
                    <a:pt x="362405" y="552038"/>
                    <a:pt x="406400" y="596033"/>
                    <a:pt x="406400" y="650304"/>
                  </a:cubicBezTo>
                  <a:lnTo>
                    <a:pt x="406400" y="656972"/>
                  </a:lnTo>
                  <a:cubicBezTo>
                    <a:pt x="406400" y="673435"/>
                    <a:pt x="416317" y="688277"/>
                    <a:pt x="431527" y="694577"/>
                  </a:cubicBezTo>
                  <a:cubicBezTo>
                    <a:pt x="446736" y="700877"/>
                    <a:pt x="464243" y="697395"/>
                    <a:pt x="475884" y="685754"/>
                  </a:cubicBezTo>
                  <a:lnTo>
                    <a:pt x="743316" y="418322"/>
                  </a:lnTo>
                  <a:cubicBezTo>
                    <a:pt x="781691" y="379947"/>
                    <a:pt x="781691" y="317729"/>
                    <a:pt x="743316" y="279354"/>
                  </a:cubicBezTo>
                  <a:close/>
                </a:path>
              </a:pathLst>
            </a:custGeom>
            <a:solidFill>
              <a:srgbClr val="4E6C7E"/>
            </a:solidFill>
          </p:spPr>
          <p:txBody>
            <a:bodyPr/>
            <a:lstStyle/>
            <a:p>
              <a:endParaRPr lang="tr-TR"/>
            </a:p>
          </p:txBody>
        </p:sp>
        <p:sp>
          <p:nvSpPr>
            <p:cNvPr id="13" name="TextBox 13"/>
            <p:cNvSpPr txBox="1"/>
            <p:nvPr/>
          </p:nvSpPr>
          <p:spPr>
            <a:xfrm>
              <a:off x="0" y="174625"/>
              <a:ext cx="711200" cy="434975"/>
            </a:xfrm>
            <a:prstGeom prst="rect">
              <a:avLst/>
            </a:prstGeom>
          </p:spPr>
          <p:txBody>
            <a:bodyPr lIns="50800" tIns="50800" rIns="50800" bIns="50800" rtlCol="0" anchor="ctr"/>
            <a:lstStyle/>
            <a:p>
              <a:pPr algn="ctr">
                <a:lnSpc>
                  <a:spcPts val="2520"/>
                </a:lnSpc>
              </a:pPr>
              <a:endParaRPr/>
            </a:p>
          </p:txBody>
        </p:sp>
      </p:grpSp>
      <p:grpSp>
        <p:nvGrpSpPr>
          <p:cNvPr id="14" name="Group 14"/>
          <p:cNvGrpSpPr/>
          <p:nvPr/>
        </p:nvGrpSpPr>
        <p:grpSpPr>
          <a:xfrm>
            <a:off x="1227869" y="5285533"/>
            <a:ext cx="393928" cy="393928"/>
            <a:chOff x="0" y="0"/>
            <a:chExt cx="812800" cy="812800"/>
          </a:xfrm>
        </p:grpSpPr>
        <p:sp>
          <p:nvSpPr>
            <p:cNvPr id="15" name="Freeform 15"/>
            <p:cNvSpPr/>
            <p:nvPr/>
          </p:nvSpPr>
          <p:spPr>
            <a:xfrm>
              <a:off x="0" y="57562"/>
              <a:ext cx="772097" cy="697677"/>
            </a:xfrm>
            <a:custGeom>
              <a:avLst/>
              <a:gdLst/>
              <a:ahLst/>
              <a:cxnLst/>
              <a:rect l="l" t="t" r="r" b="b"/>
              <a:pathLst>
                <a:path w="772097" h="697677">
                  <a:moveTo>
                    <a:pt x="743316" y="279354"/>
                  </a:moveTo>
                  <a:lnTo>
                    <a:pt x="475884" y="11922"/>
                  </a:lnTo>
                  <a:cubicBezTo>
                    <a:pt x="464243" y="281"/>
                    <a:pt x="446736" y="-3201"/>
                    <a:pt x="431527" y="3099"/>
                  </a:cubicBezTo>
                  <a:cubicBezTo>
                    <a:pt x="416317" y="9399"/>
                    <a:pt x="406400" y="24241"/>
                    <a:pt x="406400" y="40704"/>
                  </a:cubicBezTo>
                  <a:lnTo>
                    <a:pt x="406400" y="47372"/>
                  </a:lnTo>
                  <a:cubicBezTo>
                    <a:pt x="406400" y="101643"/>
                    <a:pt x="362405" y="145638"/>
                    <a:pt x="308134" y="145638"/>
                  </a:cubicBezTo>
                  <a:lnTo>
                    <a:pt x="98266" y="145638"/>
                  </a:lnTo>
                  <a:cubicBezTo>
                    <a:pt x="43995" y="145638"/>
                    <a:pt x="0" y="189633"/>
                    <a:pt x="0" y="243904"/>
                  </a:cubicBezTo>
                  <a:lnTo>
                    <a:pt x="0" y="453772"/>
                  </a:lnTo>
                  <a:cubicBezTo>
                    <a:pt x="0" y="508043"/>
                    <a:pt x="43995" y="552038"/>
                    <a:pt x="98266" y="552038"/>
                  </a:cubicBezTo>
                  <a:lnTo>
                    <a:pt x="308134" y="552038"/>
                  </a:lnTo>
                  <a:cubicBezTo>
                    <a:pt x="362405" y="552038"/>
                    <a:pt x="406400" y="596033"/>
                    <a:pt x="406400" y="650304"/>
                  </a:cubicBezTo>
                  <a:lnTo>
                    <a:pt x="406400" y="656972"/>
                  </a:lnTo>
                  <a:cubicBezTo>
                    <a:pt x="406400" y="673435"/>
                    <a:pt x="416317" y="688277"/>
                    <a:pt x="431527" y="694577"/>
                  </a:cubicBezTo>
                  <a:cubicBezTo>
                    <a:pt x="446736" y="700877"/>
                    <a:pt x="464243" y="697395"/>
                    <a:pt x="475884" y="685754"/>
                  </a:cubicBezTo>
                  <a:lnTo>
                    <a:pt x="743316" y="418322"/>
                  </a:lnTo>
                  <a:cubicBezTo>
                    <a:pt x="781691" y="379947"/>
                    <a:pt x="781691" y="317729"/>
                    <a:pt x="743316" y="279354"/>
                  </a:cubicBezTo>
                  <a:close/>
                </a:path>
              </a:pathLst>
            </a:custGeom>
            <a:solidFill>
              <a:srgbClr val="4E6C7E"/>
            </a:solidFill>
          </p:spPr>
          <p:txBody>
            <a:bodyPr/>
            <a:lstStyle/>
            <a:p>
              <a:endParaRPr lang="tr-TR"/>
            </a:p>
          </p:txBody>
        </p:sp>
        <p:sp>
          <p:nvSpPr>
            <p:cNvPr id="16" name="TextBox 16"/>
            <p:cNvSpPr txBox="1"/>
            <p:nvPr/>
          </p:nvSpPr>
          <p:spPr>
            <a:xfrm>
              <a:off x="0" y="174625"/>
              <a:ext cx="711200" cy="434975"/>
            </a:xfrm>
            <a:prstGeom prst="rect">
              <a:avLst/>
            </a:prstGeom>
          </p:spPr>
          <p:txBody>
            <a:bodyPr lIns="50800" tIns="50800" rIns="50800" bIns="50800" rtlCol="0" anchor="ctr"/>
            <a:lstStyle/>
            <a:p>
              <a:pPr algn="ctr">
                <a:lnSpc>
                  <a:spcPts val="2520"/>
                </a:lnSpc>
              </a:pPr>
              <a:endParaRPr/>
            </a:p>
          </p:txBody>
        </p:sp>
      </p:grpSp>
      <p:grpSp>
        <p:nvGrpSpPr>
          <p:cNvPr id="17" name="Group 17"/>
          <p:cNvGrpSpPr/>
          <p:nvPr/>
        </p:nvGrpSpPr>
        <p:grpSpPr>
          <a:xfrm>
            <a:off x="7761797" y="2205868"/>
            <a:ext cx="9497503" cy="4627511"/>
            <a:chOff x="0" y="0"/>
            <a:chExt cx="2227878" cy="1085499"/>
          </a:xfrm>
        </p:grpSpPr>
        <p:sp>
          <p:nvSpPr>
            <p:cNvPr id="18" name="Freeform 18"/>
            <p:cNvSpPr/>
            <p:nvPr/>
          </p:nvSpPr>
          <p:spPr>
            <a:xfrm>
              <a:off x="0" y="0"/>
              <a:ext cx="2227878" cy="1085499"/>
            </a:xfrm>
            <a:custGeom>
              <a:avLst/>
              <a:gdLst/>
              <a:ahLst/>
              <a:cxnLst/>
              <a:rect l="l" t="t" r="r" b="b"/>
              <a:pathLst>
                <a:path w="2227878" h="1085499">
                  <a:moveTo>
                    <a:pt x="64397" y="0"/>
                  </a:moveTo>
                  <a:lnTo>
                    <a:pt x="2163481" y="0"/>
                  </a:lnTo>
                  <a:cubicBezTo>
                    <a:pt x="2199047" y="0"/>
                    <a:pt x="2227878" y="28832"/>
                    <a:pt x="2227878" y="64397"/>
                  </a:cubicBezTo>
                  <a:lnTo>
                    <a:pt x="2227878" y="1021102"/>
                  </a:lnTo>
                  <a:cubicBezTo>
                    <a:pt x="2227878" y="1056667"/>
                    <a:pt x="2199047" y="1085499"/>
                    <a:pt x="2163481" y="1085499"/>
                  </a:cubicBezTo>
                  <a:lnTo>
                    <a:pt x="64397" y="1085499"/>
                  </a:lnTo>
                  <a:cubicBezTo>
                    <a:pt x="28832" y="1085499"/>
                    <a:pt x="0" y="1056667"/>
                    <a:pt x="0" y="1021102"/>
                  </a:cubicBezTo>
                  <a:lnTo>
                    <a:pt x="0" y="64397"/>
                  </a:lnTo>
                  <a:cubicBezTo>
                    <a:pt x="0" y="28832"/>
                    <a:pt x="28832" y="0"/>
                    <a:pt x="64397" y="0"/>
                  </a:cubicBezTo>
                  <a:close/>
                </a:path>
              </a:pathLst>
            </a:custGeom>
            <a:blipFill>
              <a:blip r:embed="rId2"/>
              <a:stretch>
                <a:fillRect t="-7723" b="-7723"/>
              </a:stretch>
            </a:blipFill>
            <a:ln w="66675" cap="rnd">
              <a:solidFill>
                <a:srgbClr val="FFFFFF"/>
              </a:solidFill>
              <a:prstDash val="solid"/>
              <a:round/>
            </a:ln>
          </p:spPr>
          <p:txBody>
            <a:bodyPr/>
            <a:lstStyle/>
            <a:p>
              <a:endParaRPr lang="tr-TR"/>
            </a:p>
          </p:txBody>
        </p:sp>
      </p:grpSp>
      <p:sp>
        <p:nvSpPr>
          <p:cNvPr id="19" name="Freeform 19"/>
          <p:cNvSpPr/>
          <p:nvPr/>
        </p:nvSpPr>
        <p:spPr>
          <a:xfrm>
            <a:off x="1028700" y="7888002"/>
            <a:ext cx="6448331" cy="1591805"/>
          </a:xfrm>
          <a:custGeom>
            <a:avLst/>
            <a:gdLst/>
            <a:ahLst/>
            <a:cxnLst/>
            <a:rect l="l" t="t" r="r" b="b"/>
            <a:pathLst>
              <a:path w="6448331" h="1591805">
                <a:moveTo>
                  <a:pt x="0" y="0"/>
                </a:moveTo>
                <a:lnTo>
                  <a:pt x="6448331" y="0"/>
                </a:lnTo>
                <a:lnTo>
                  <a:pt x="6448331" y="1591805"/>
                </a:lnTo>
                <a:lnTo>
                  <a:pt x="0" y="1591805"/>
                </a:lnTo>
                <a:lnTo>
                  <a:pt x="0" y="0"/>
                </a:lnTo>
                <a:close/>
              </a:path>
            </a:pathLst>
          </a:custGeom>
          <a:blipFill>
            <a:blip r:embed="rId3"/>
            <a:stretch>
              <a:fillRect/>
            </a:stretch>
          </a:blipFill>
        </p:spPr>
        <p:txBody>
          <a:bodyPr/>
          <a:lstStyle/>
          <a:p>
            <a:endParaRPr lang="tr-TR"/>
          </a:p>
        </p:txBody>
      </p:sp>
      <p:grpSp>
        <p:nvGrpSpPr>
          <p:cNvPr id="20" name="Group 20"/>
          <p:cNvGrpSpPr/>
          <p:nvPr/>
        </p:nvGrpSpPr>
        <p:grpSpPr>
          <a:xfrm>
            <a:off x="7761797" y="7108523"/>
            <a:ext cx="9497503" cy="2895940"/>
            <a:chOff x="0" y="0"/>
            <a:chExt cx="12663337" cy="3861254"/>
          </a:xfrm>
        </p:grpSpPr>
        <p:grpSp>
          <p:nvGrpSpPr>
            <p:cNvPr id="21" name="Group 21"/>
            <p:cNvGrpSpPr/>
            <p:nvPr/>
          </p:nvGrpSpPr>
          <p:grpSpPr>
            <a:xfrm>
              <a:off x="268517" y="216699"/>
              <a:ext cx="12394820" cy="3644555"/>
              <a:chOff x="0" y="0"/>
              <a:chExt cx="2607029" cy="766567"/>
            </a:xfrm>
          </p:grpSpPr>
          <p:sp>
            <p:nvSpPr>
              <p:cNvPr id="22" name="Freeform 22"/>
              <p:cNvSpPr/>
              <p:nvPr/>
            </p:nvSpPr>
            <p:spPr>
              <a:xfrm>
                <a:off x="0" y="0"/>
                <a:ext cx="2607029" cy="766567"/>
              </a:xfrm>
              <a:custGeom>
                <a:avLst/>
                <a:gdLst/>
                <a:ahLst/>
                <a:cxnLst/>
                <a:rect l="l" t="t" r="r" b="b"/>
                <a:pathLst>
                  <a:path w="2607029" h="766567">
                    <a:moveTo>
                      <a:pt x="16266" y="0"/>
                    </a:moveTo>
                    <a:lnTo>
                      <a:pt x="2590763" y="0"/>
                    </a:lnTo>
                    <a:cubicBezTo>
                      <a:pt x="2595077" y="0"/>
                      <a:pt x="2599214" y="1714"/>
                      <a:pt x="2602264" y="4764"/>
                    </a:cubicBezTo>
                    <a:cubicBezTo>
                      <a:pt x="2605315" y="7815"/>
                      <a:pt x="2607029" y="11952"/>
                      <a:pt x="2607029" y="16266"/>
                    </a:cubicBezTo>
                    <a:lnTo>
                      <a:pt x="2607029" y="750301"/>
                    </a:lnTo>
                    <a:cubicBezTo>
                      <a:pt x="2607029" y="759284"/>
                      <a:pt x="2599746" y="766567"/>
                      <a:pt x="2590763" y="766567"/>
                    </a:cubicBezTo>
                    <a:lnTo>
                      <a:pt x="16266" y="766567"/>
                    </a:lnTo>
                    <a:cubicBezTo>
                      <a:pt x="11952" y="766567"/>
                      <a:pt x="7815" y="764853"/>
                      <a:pt x="4764" y="761803"/>
                    </a:cubicBezTo>
                    <a:cubicBezTo>
                      <a:pt x="1714" y="758752"/>
                      <a:pt x="0" y="754615"/>
                      <a:pt x="0" y="750301"/>
                    </a:cubicBezTo>
                    <a:lnTo>
                      <a:pt x="0" y="16266"/>
                    </a:lnTo>
                    <a:cubicBezTo>
                      <a:pt x="0" y="11952"/>
                      <a:pt x="1714" y="7815"/>
                      <a:pt x="4764" y="4764"/>
                    </a:cubicBezTo>
                    <a:cubicBezTo>
                      <a:pt x="7815" y="1714"/>
                      <a:pt x="11952" y="0"/>
                      <a:pt x="16266" y="0"/>
                    </a:cubicBezTo>
                    <a:close/>
                  </a:path>
                </a:pathLst>
              </a:custGeom>
              <a:solidFill>
                <a:srgbClr val="4E6C7E"/>
              </a:solidFill>
              <a:ln w="19050" cap="rnd">
                <a:solidFill>
                  <a:srgbClr val="4383D1"/>
                </a:solidFill>
                <a:prstDash val="solid"/>
                <a:round/>
              </a:ln>
            </p:spPr>
            <p:txBody>
              <a:bodyPr/>
              <a:lstStyle/>
              <a:p>
                <a:endParaRPr lang="tr-TR"/>
              </a:p>
            </p:txBody>
          </p:sp>
          <p:sp>
            <p:nvSpPr>
              <p:cNvPr id="23" name="TextBox 23"/>
              <p:cNvSpPr txBox="1"/>
              <p:nvPr/>
            </p:nvSpPr>
            <p:spPr>
              <a:xfrm>
                <a:off x="0" y="-28575"/>
                <a:ext cx="2607029" cy="795142"/>
              </a:xfrm>
              <a:prstGeom prst="rect">
                <a:avLst/>
              </a:prstGeom>
            </p:spPr>
            <p:txBody>
              <a:bodyPr lIns="37272" tIns="37272" rIns="37272" bIns="37272" rtlCol="0" anchor="ctr"/>
              <a:lstStyle/>
              <a:p>
                <a:pPr algn="ctr">
                  <a:lnSpc>
                    <a:spcPts val="2520"/>
                  </a:lnSpc>
                </a:pPr>
                <a:endParaRPr/>
              </a:p>
            </p:txBody>
          </p:sp>
        </p:grpSp>
        <p:grpSp>
          <p:nvGrpSpPr>
            <p:cNvPr id="24" name="Group 24"/>
            <p:cNvGrpSpPr/>
            <p:nvPr/>
          </p:nvGrpSpPr>
          <p:grpSpPr>
            <a:xfrm>
              <a:off x="0" y="0"/>
              <a:ext cx="12394820" cy="3644555"/>
              <a:chOff x="0" y="0"/>
              <a:chExt cx="2607029" cy="766567"/>
            </a:xfrm>
          </p:grpSpPr>
          <p:sp>
            <p:nvSpPr>
              <p:cNvPr id="25" name="Freeform 25"/>
              <p:cNvSpPr/>
              <p:nvPr/>
            </p:nvSpPr>
            <p:spPr>
              <a:xfrm>
                <a:off x="0" y="0"/>
                <a:ext cx="2607029" cy="766567"/>
              </a:xfrm>
              <a:custGeom>
                <a:avLst/>
                <a:gdLst/>
                <a:ahLst/>
                <a:cxnLst/>
                <a:rect l="l" t="t" r="r" b="b"/>
                <a:pathLst>
                  <a:path w="2607029" h="766567">
                    <a:moveTo>
                      <a:pt x="16266" y="0"/>
                    </a:moveTo>
                    <a:lnTo>
                      <a:pt x="2590763" y="0"/>
                    </a:lnTo>
                    <a:cubicBezTo>
                      <a:pt x="2595077" y="0"/>
                      <a:pt x="2599214" y="1714"/>
                      <a:pt x="2602264" y="4764"/>
                    </a:cubicBezTo>
                    <a:cubicBezTo>
                      <a:pt x="2605315" y="7815"/>
                      <a:pt x="2607029" y="11952"/>
                      <a:pt x="2607029" y="16266"/>
                    </a:cubicBezTo>
                    <a:lnTo>
                      <a:pt x="2607029" y="750301"/>
                    </a:lnTo>
                    <a:cubicBezTo>
                      <a:pt x="2607029" y="759284"/>
                      <a:pt x="2599746" y="766567"/>
                      <a:pt x="2590763" y="766567"/>
                    </a:cubicBezTo>
                    <a:lnTo>
                      <a:pt x="16266" y="766567"/>
                    </a:lnTo>
                    <a:cubicBezTo>
                      <a:pt x="11952" y="766567"/>
                      <a:pt x="7815" y="764853"/>
                      <a:pt x="4764" y="761803"/>
                    </a:cubicBezTo>
                    <a:cubicBezTo>
                      <a:pt x="1714" y="758752"/>
                      <a:pt x="0" y="754615"/>
                      <a:pt x="0" y="750301"/>
                    </a:cubicBezTo>
                    <a:lnTo>
                      <a:pt x="0" y="16266"/>
                    </a:lnTo>
                    <a:cubicBezTo>
                      <a:pt x="0" y="11952"/>
                      <a:pt x="1714" y="7815"/>
                      <a:pt x="4764" y="4764"/>
                    </a:cubicBezTo>
                    <a:cubicBezTo>
                      <a:pt x="7815" y="1714"/>
                      <a:pt x="11952" y="0"/>
                      <a:pt x="16266" y="0"/>
                    </a:cubicBezTo>
                    <a:close/>
                  </a:path>
                </a:pathLst>
              </a:custGeom>
              <a:solidFill>
                <a:srgbClr val="FFFFFF"/>
              </a:solidFill>
              <a:ln w="19050" cap="rnd">
                <a:solidFill>
                  <a:srgbClr val="4383D1"/>
                </a:solidFill>
                <a:prstDash val="solid"/>
                <a:round/>
              </a:ln>
            </p:spPr>
            <p:txBody>
              <a:bodyPr/>
              <a:lstStyle/>
              <a:p>
                <a:endParaRPr lang="tr-TR"/>
              </a:p>
            </p:txBody>
          </p:sp>
          <p:sp>
            <p:nvSpPr>
              <p:cNvPr id="26" name="TextBox 26"/>
              <p:cNvSpPr txBox="1"/>
              <p:nvPr/>
            </p:nvSpPr>
            <p:spPr>
              <a:xfrm>
                <a:off x="0" y="-28575"/>
                <a:ext cx="2607029" cy="795142"/>
              </a:xfrm>
              <a:prstGeom prst="rect">
                <a:avLst/>
              </a:prstGeom>
            </p:spPr>
            <p:txBody>
              <a:bodyPr lIns="37272" tIns="37272" rIns="37272" bIns="37272" rtlCol="0" anchor="ctr"/>
              <a:lstStyle/>
              <a:p>
                <a:pPr algn="ctr">
                  <a:lnSpc>
                    <a:spcPts val="2520"/>
                  </a:lnSpc>
                </a:pPr>
                <a:endParaRPr/>
              </a:p>
            </p:txBody>
          </p:sp>
        </p:grpSp>
      </p:grpSp>
      <p:sp>
        <p:nvSpPr>
          <p:cNvPr id="27" name="TextBox 27"/>
          <p:cNvSpPr txBox="1"/>
          <p:nvPr/>
        </p:nvSpPr>
        <p:spPr>
          <a:xfrm>
            <a:off x="8601385" y="7840377"/>
            <a:ext cx="8317282" cy="1736797"/>
          </a:xfrm>
          <a:prstGeom prst="rect">
            <a:avLst/>
          </a:prstGeom>
        </p:spPr>
        <p:txBody>
          <a:bodyPr lIns="0" tIns="0" rIns="0" bIns="0" rtlCol="0" anchor="t">
            <a:spAutoFit/>
          </a:bodyPr>
          <a:lstStyle/>
          <a:p>
            <a:pPr algn="just">
              <a:lnSpc>
                <a:spcPts val="3499"/>
              </a:lnSpc>
            </a:pPr>
            <a:r>
              <a:rPr lang="en-US" sz="2499" b="1" dirty="0">
                <a:solidFill>
                  <a:srgbClr val="000000"/>
                </a:solidFill>
                <a:latin typeface="Quicksand Semi-Bold"/>
                <a:ea typeface="Quicksand Semi-Bold"/>
                <a:cs typeface="Quicksand Semi-Bold"/>
                <a:sym typeface="Quicksand Semi-Bold"/>
              </a:rPr>
              <a:t>Model </a:t>
            </a:r>
            <a:r>
              <a:rPr lang="en-US" sz="2499" b="1" dirty="0" err="1">
                <a:solidFill>
                  <a:srgbClr val="000000"/>
                </a:solidFill>
                <a:latin typeface="Quicksand Semi-Bold"/>
                <a:ea typeface="Quicksand Semi-Bold"/>
                <a:cs typeface="Quicksand Semi-Bold"/>
                <a:sym typeface="Quicksand Semi-Bold"/>
              </a:rPr>
              <a:t>genel</a:t>
            </a:r>
            <a:r>
              <a:rPr lang="en-US" sz="2499" b="1" dirty="0">
                <a:solidFill>
                  <a:srgbClr val="000000"/>
                </a:solidFill>
                <a:latin typeface="Quicksand Semi-Bold"/>
                <a:ea typeface="Quicksand Semi-Bold"/>
                <a:cs typeface="Quicksand Semi-Bold"/>
                <a:sym typeface="Quicksand Semi-Bold"/>
              </a:rPr>
              <a:t> </a:t>
            </a:r>
            <a:r>
              <a:rPr lang="en-US" sz="2499" b="1" dirty="0" err="1">
                <a:solidFill>
                  <a:srgbClr val="000000"/>
                </a:solidFill>
                <a:latin typeface="Quicksand Semi-Bold"/>
                <a:ea typeface="Quicksand Semi-Bold"/>
                <a:cs typeface="Quicksand Semi-Bold"/>
                <a:sym typeface="Quicksand Semi-Bold"/>
              </a:rPr>
              <a:t>olarak</a:t>
            </a:r>
            <a:r>
              <a:rPr lang="en-US" sz="2499" b="1" dirty="0">
                <a:solidFill>
                  <a:srgbClr val="000000"/>
                </a:solidFill>
                <a:latin typeface="Quicksand Semi-Bold"/>
                <a:ea typeface="Quicksand Semi-Bold"/>
                <a:cs typeface="Quicksand Semi-Bold"/>
                <a:sym typeface="Quicksand Semi-Bold"/>
              </a:rPr>
              <a:t> iyi </a:t>
            </a:r>
            <a:r>
              <a:rPr lang="en-US" sz="2499" b="1" dirty="0" err="1">
                <a:solidFill>
                  <a:srgbClr val="000000"/>
                </a:solidFill>
                <a:latin typeface="Quicksand Semi-Bold"/>
                <a:ea typeface="Quicksand Semi-Bold"/>
                <a:cs typeface="Quicksand Semi-Bold"/>
                <a:sym typeface="Quicksand Semi-Bold"/>
              </a:rPr>
              <a:t>öğrenmeye</a:t>
            </a:r>
            <a:r>
              <a:rPr lang="en-US" sz="2499" b="1" dirty="0">
                <a:solidFill>
                  <a:srgbClr val="000000"/>
                </a:solidFill>
                <a:latin typeface="Quicksand Semi-Bold"/>
                <a:ea typeface="Quicksand Semi-Bold"/>
                <a:cs typeface="Quicksand Semi-Bold"/>
                <a:sym typeface="Quicksand Semi-Bold"/>
              </a:rPr>
              <a:t> </a:t>
            </a:r>
            <a:r>
              <a:rPr lang="en-US" sz="2499" b="1" dirty="0" err="1">
                <a:solidFill>
                  <a:srgbClr val="000000"/>
                </a:solidFill>
                <a:latin typeface="Quicksand Semi-Bold"/>
                <a:ea typeface="Quicksand Semi-Bold"/>
                <a:cs typeface="Quicksand Semi-Bold"/>
                <a:sym typeface="Quicksand Semi-Bold"/>
              </a:rPr>
              <a:t>başlasa</a:t>
            </a:r>
            <a:r>
              <a:rPr lang="en-US" sz="2499" b="1" dirty="0">
                <a:solidFill>
                  <a:srgbClr val="000000"/>
                </a:solidFill>
                <a:latin typeface="Quicksand Semi-Bold"/>
                <a:ea typeface="Quicksand Semi-Bold"/>
                <a:cs typeface="Quicksand Semi-Bold"/>
                <a:sym typeface="Quicksand Semi-Bold"/>
              </a:rPr>
              <a:t> da, </a:t>
            </a:r>
            <a:r>
              <a:rPr lang="en-US" sz="2499" b="1" dirty="0" err="1">
                <a:solidFill>
                  <a:srgbClr val="000000"/>
                </a:solidFill>
                <a:latin typeface="Quicksand Semi-Bold"/>
                <a:ea typeface="Quicksand Semi-Bold"/>
                <a:cs typeface="Quicksand Semi-Bold"/>
                <a:sym typeface="Quicksand Semi-Bold"/>
              </a:rPr>
              <a:t>yapılan</a:t>
            </a:r>
            <a:r>
              <a:rPr lang="en-US" sz="2499" b="1" dirty="0">
                <a:solidFill>
                  <a:srgbClr val="000000"/>
                </a:solidFill>
                <a:latin typeface="Quicksand Semi-Bold"/>
                <a:ea typeface="Quicksand Semi-Bold"/>
                <a:cs typeface="Quicksand Semi-Bold"/>
                <a:sym typeface="Quicksand Semi-Bold"/>
              </a:rPr>
              <a:t> </a:t>
            </a:r>
            <a:r>
              <a:rPr lang="en-US" sz="2499" b="1" dirty="0" err="1">
                <a:solidFill>
                  <a:srgbClr val="000000"/>
                </a:solidFill>
                <a:latin typeface="Quicksand Semi-Bold"/>
                <a:ea typeface="Quicksand Semi-Bold"/>
                <a:cs typeface="Quicksand Semi-Bold"/>
                <a:sym typeface="Quicksand Semi-Bold"/>
              </a:rPr>
              <a:t>analizlerde</a:t>
            </a:r>
            <a:r>
              <a:rPr lang="en-US" sz="2499" b="1" dirty="0">
                <a:solidFill>
                  <a:srgbClr val="000000"/>
                </a:solidFill>
                <a:latin typeface="Quicksand Semi-Bold"/>
                <a:ea typeface="Quicksand Semi-Bold"/>
                <a:cs typeface="Quicksand Semi-Bold"/>
                <a:sym typeface="Quicksand Semi-Bold"/>
              </a:rPr>
              <a:t> </a:t>
            </a:r>
            <a:r>
              <a:rPr lang="en-US" sz="2499" b="1" dirty="0" err="1">
                <a:solidFill>
                  <a:srgbClr val="000000"/>
                </a:solidFill>
                <a:latin typeface="Quicksand Semi-Bold"/>
                <a:ea typeface="Quicksand Semi-Bold"/>
                <a:cs typeface="Quicksand Semi-Bold"/>
                <a:sym typeface="Quicksand Semi-Bold"/>
              </a:rPr>
              <a:t>kötü</a:t>
            </a:r>
            <a:r>
              <a:rPr lang="en-US" sz="2499" b="1" dirty="0">
                <a:solidFill>
                  <a:srgbClr val="000000"/>
                </a:solidFill>
                <a:latin typeface="Quicksand Semi-Bold"/>
                <a:ea typeface="Quicksand Semi-Bold"/>
                <a:cs typeface="Quicksand Semi-Bold"/>
                <a:sym typeface="Quicksand Semi-Bold"/>
              </a:rPr>
              <a:t> </a:t>
            </a:r>
            <a:r>
              <a:rPr lang="en-US" sz="2499" b="1" dirty="0" err="1">
                <a:solidFill>
                  <a:srgbClr val="000000"/>
                </a:solidFill>
                <a:latin typeface="Quicksand Semi-Bold"/>
                <a:ea typeface="Quicksand Semi-Bold"/>
                <a:cs typeface="Quicksand Semi-Bold"/>
                <a:sym typeface="Quicksand Semi-Bold"/>
              </a:rPr>
              <a:t>kaliteli</a:t>
            </a:r>
            <a:r>
              <a:rPr lang="en-US" sz="2499" b="1" dirty="0">
                <a:solidFill>
                  <a:srgbClr val="000000"/>
                </a:solidFill>
                <a:latin typeface="Quicksand Semi-Bold"/>
                <a:ea typeface="Quicksand Semi-Bold"/>
                <a:cs typeface="Quicksand Semi-Bold"/>
                <a:sym typeface="Quicksand Semi-Bold"/>
              </a:rPr>
              <a:t> (Low Quality) </a:t>
            </a:r>
            <a:r>
              <a:rPr lang="en-US" sz="2499" b="1" dirty="0" err="1">
                <a:solidFill>
                  <a:srgbClr val="000000"/>
                </a:solidFill>
                <a:latin typeface="Quicksand Semi-Bold"/>
                <a:ea typeface="Quicksand Semi-Bold"/>
                <a:cs typeface="Quicksand Semi-Bold"/>
                <a:sym typeface="Quicksand Semi-Bold"/>
              </a:rPr>
              <a:t>embriyoların</a:t>
            </a:r>
            <a:r>
              <a:rPr lang="en-US" sz="2499" b="1" dirty="0">
                <a:solidFill>
                  <a:srgbClr val="000000"/>
                </a:solidFill>
                <a:latin typeface="Quicksand Semi-Bold"/>
                <a:ea typeface="Quicksand Semi-Bold"/>
                <a:cs typeface="Quicksand Semi-Bold"/>
                <a:sym typeface="Quicksand Semi-Bold"/>
              </a:rPr>
              <a:t> </a:t>
            </a:r>
            <a:r>
              <a:rPr lang="en-US" sz="2499" b="1" dirty="0" err="1">
                <a:solidFill>
                  <a:srgbClr val="000000"/>
                </a:solidFill>
                <a:latin typeface="Quicksand Semi-Bold"/>
                <a:ea typeface="Quicksand Semi-Bold"/>
                <a:cs typeface="Quicksand Semi-Bold"/>
                <a:sym typeface="Quicksand Semi-Bold"/>
              </a:rPr>
              <a:t>duyarlılık</a:t>
            </a:r>
            <a:r>
              <a:rPr lang="en-US" sz="2499" b="1" dirty="0">
                <a:solidFill>
                  <a:srgbClr val="000000"/>
                </a:solidFill>
                <a:latin typeface="Quicksand Semi-Bold"/>
                <a:ea typeface="Quicksand Semi-Bold"/>
                <a:cs typeface="Quicksand Semi-Bold"/>
                <a:sym typeface="Quicksand Semi-Bold"/>
              </a:rPr>
              <a:t> (Recall) </a:t>
            </a:r>
            <a:r>
              <a:rPr lang="en-US" sz="2499" b="1" dirty="0" err="1">
                <a:solidFill>
                  <a:srgbClr val="000000"/>
                </a:solidFill>
                <a:latin typeface="Quicksand Semi-Bold"/>
                <a:ea typeface="Quicksand Semi-Bold"/>
                <a:cs typeface="Quicksand Semi-Bold"/>
                <a:sym typeface="Quicksand Semi-Bold"/>
              </a:rPr>
              <a:t>oranının</a:t>
            </a:r>
            <a:r>
              <a:rPr lang="en-US" sz="2499" b="1" dirty="0">
                <a:solidFill>
                  <a:srgbClr val="000000"/>
                </a:solidFill>
                <a:latin typeface="Quicksand Semi-Bold"/>
                <a:ea typeface="Quicksand Semi-Bold"/>
                <a:cs typeface="Quicksand Semi-Bold"/>
                <a:sym typeface="Quicksand Semi-Bold"/>
              </a:rPr>
              <a:t> %43'te </a:t>
            </a:r>
            <a:r>
              <a:rPr lang="en-US" sz="2499" b="1" dirty="0" err="1">
                <a:solidFill>
                  <a:srgbClr val="000000"/>
                </a:solidFill>
                <a:latin typeface="Quicksand Semi-Bold"/>
                <a:ea typeface="Quicksand Semi-Bold"/>
                <a:cs typeface="Quicksand Semi-Bold"/>
                <a:sym typeface="Quicksand Semi-Bold"/>
              </a:rPr>
              <a:t>kaldığı</a:t>
            </a:r>
            <a:r>
              <a:rPr lang="en-US" sz="2499" b="1" dirty="0">
                <a:solidFill>
                  <a:srgbClr val="000000"/>
                </a:solidFill>
                <a:latin typeface="Quicksand Semi-Bold"/>
                <a:ea typeface="Quicksand Semi-Bold"/>
                <a:cs typeface="Quicksand Semi-Bold"/>
                <a:sym typeface="Quicksand Semi-Bold"/>
              </a:rPr>
              <a:t>, </a:t>
            </a:r>
            <a:r>
              <a:rPr lang="en-US" sz="2499" b="1" dirty="0" err="1">
                <a:solidFill>
                  <a:srgbClr val="000000"/>
                </a:solidFill>
                <a:latin typeface="Quicksand Semi-Bold"/>
                <a:ea typeface="Quicksand Semi-Bold"/>
                <a:cs typeface="Quicksand Semi-Bold"/>
                <a:sym typeface="Quicksand Semi-Bold"/>
              </a:rPr>
              <a:t>yani</a:t>
            </a:r>
            <a:r>
              <a:rPr lang="en-US" sz="2499" b="1" dirty="0">
                <a:solidFill>
                  <a:srgbClr val="000000"/>
                </a:solidFill>
                <a:latin typeface="Quicksand Semi-Bold"/>
                <a:ea typeface="Quicksand Semi-Bold"/>
                <a:cs typeface="Quicksand Semi-Bold"/>
                <a:sym typeface="Quicksand Semi-Bold"/>
              </a:rPr>
              <a:t> </a:t>
            </a:r>
            <a:r>
              <a:rPr lang="en-US" sz="2499" b="1" dirty="0" err="1">
                <a:solidFill>
                  <a:srgbClr val="000000"/>
                </a:solidFill>
                <a:latin typeface="Quicksand Semi-Bold"/>
                <a:ea typeface="Quicksand Semi-Bold"/>
                <a:cs typeface="Quicksand Semi-Bold"/>
                <a:sym typeface="Quicksand Semi-Bold"/>
              </a:rPr>
              <a:t>modelin</a:t>
            </a:r>
            <a:r>
              <a:rPr lang="en-US" sz="2499" b="1" dirty="0">
                <a:solidFill>
                  <a:srgbClr val="000000"/>
                </a:solidFill>
                <a:latin typeface="Quicksand Semi-Bold"/>
                <a:ea typeface="Quicksand Semi-Bold"/>
                <a:cs typeface="Quicksand Semi-Bold"/>
                <a:sym typeface="Quicksand Semi-Bold"/>
              </a:rPr>
              <a:t> </a:t>
            </a:r>
            <a:r>
              <a:rPr lang="en-US" sz="2499" b="1" dirty="0" err="1">
                <a:solidFill>
                  <a:srgbClr val="000000"/>
                </a:solidFill>
                <a:latin typeface="Quicksand Semi-Bold"/>
                <a:ea typeface="Quicksand Semi-Bold"/>
                <a:cs typeface="Quicksand Semi-Bold"/>
                <a:sym typeface="Quicksand Semi-Bold"/>
              </a:rPr>
              <a:t>kötü</a:t>
            </a:r>
            <a:r>
              <a:rPr lang="en-US" sz="2499" b="1" dirty="0">
                <a:solidFill>
                  <a:srgbClr val="000000"/>
                </a:solidFill>
                <a:latin typeface="Quicksand Semi-Bold"/>
                <a:ea typeface="Quicksand Semi-Bold"/>
                <a:cs typeface="Quicksand Semi-Bold"/>
                <a:sym typeface="Quicksand Semi-Bold"/>
              </a:rPr>
              <a:t> </a:t>
            </a:r>
            <a:r>
              <a:rPr lang="en-US" sz="2499" b="1" dirty="0" err="1">
                <a:solidFill>
                  <a:srgbClr val="000000"/>
                </a:solidFill>
                <a:latin typeface="Quicksand Semi-Bold"/>
                <a:ea typeface="Quicksand Semi-Bold"/>
                <a:cs typeface="Quicksand Semi-Bold"/>
                <a:sym typeface="Quicksand Semi-Bold"/>
              </a:rPr>
              <a:t>embriyoları</a:t>
            </a:r>
            <a:r>
              <a:rPr lang="en-US" sz="2499" b="1" dirty="0">
                <a:solidFill>
                  <a:srgbClr val="000000"/>
                </a:solidFill>
                <a:latin typeface="Quicksand Semi-Bold"/>
                <a:ea typeface="Quicksand Semi-Bold"/>
                <a:cs typeface="Quicksand Semi-Bold"/>
                <a:sym typeface="Quicksand Semi-Bold"/>
              </a:rPr>
              <a:t> </a:t>
            </a:r>
            <a:r>
              <a:rPr lang="en-US" sz="2499" b="1" dirty="0" err="1">
                <a:solidFill>
                  <a:srgbClr val="000000"/>
                </a:solidFill>
                <a:latin typeface="Quicksand Semi-Bold"/>
                <a:ea typeface="Quicksand Semi-Bold"/>
                <a:cs typeface="Quicksand Semi-Bold"/>
                <a:sym typeface="Quicksand Semi-Bold"/>
              </a:rPr>
              <a:t>gözden</a:t>
            </a:r>
            <a:r>
              <a:rPr lang="en-US" sz="2499" b="1" dirty="0">
                <a:solidFill>
                  <a:srgbClr val="000000"/>
                </a:solidFill>
                <a:latin typeface="Quicksand Semi-Bold"/>
                <a:ea typeface="Quicksand Semi-Bold"/>
                <a:cs typeface="Quicksand Semi-Bold"/>
                <a:sym typeface="Quicksand Semi-Bold"/>
              </a:rPr>
              <a:t> </a:t>
            </a:r>
            <a:r>
              <a:rPr lang="en-US" sz="2499" b="1" dirty="0" err="1">
                <a:solidFill>
                  <a:srgbClr val="000000"/>
                </a:solidFill>
                <a:latin typeface="Quicksand Semi-Bold"/>
                <a:ea typeface="Quicksand Semi-Bold"/>
                <a:cs typeface="Quicksand Semi-Bold"/>
                <a:sym typeface="Quicksand Semi-Bold"/>
              </a:rPr>
              <a:t>kaçırdığı</a:t>
            </a:r>
            <a:r>
              <a:rPr lang="en-US" sz="2499" b="1" dirty="0">
                <a:solidFill>
                  <a:srgbClr val="000000"/>
                </a:solidFill>
                <a:latin typeface="Quicksand Semi-Bold"/>
                <a:ea typeface="Quicksand Semi-Bold"/>
                <a:cs typeface="Quicksand Semi-Bold"/>
                <a:sym typeface="Quicksand Semi-Bold"/>
              </a:rPr>
              <a:t> </a:t>
            </a:r>
            <a:r>
              <a:rPr lang="en-US" sz="2499" b="1" dirty="0" err="1">
                <a:solidFill>
                  <a:srgbClr val="000000"/>
                </a:solidFill>
                <a:latin typeface="Quicksand Semi-Bold"/>
                <a:ea typeface="Quicksand Semi-Bold"/>
                <a:cs typeface="Quicksand Semi-Bold"/>
                <a:sym typeface="Quicksand Semi-Bold"/>
              </a:rPr>
              <a:t>tespit</a:t>
            </a:r>
            <a:r>
              <a:rPr lang="en-US" sz="2499" b="1" dirty="0">
                <a:solidFill>
                  <a:srgbClr val="000000"/>
                </a:solidFill>
                <a:latin typeface="Quicksand Semi-Bold"/>
                <a:ea typeface="Quicksand Semi-Bold"/>
                <a:cs typeface="Quicksand Semi-Bold"/>
                <a:sym typeface="Quicksand Semi-Bold"/>
              </a:rPr>
              <a:t> </a:t>
            </a:r>
            <a:r>
              <a:rPr lang="en-US" sz="2499" b="1" dirty="0" err="1">
                <a:solidFill>
                  <a:srgbClr val="000000"/>
                </a:solidFill>
                <a:latin typeface="Quicksand Semi-Bold"/>
                <a:ea typeface="Quicksand Semi-Bold"/>
                <a:cs typeface="Quicksand Semi-Bold"/>
                <a:sym typeface="Quicksand Semi-Bold"/>
              </a:rPr>
              <a:t>edildi</a:t>
            </a:r>
            <a:r>
              <a:rPr lang="en-US" sz="2499" b="1" dirty="0">
                <a:solidFill>
                  <a:srgbClr val="000000"/>
                </a:solidFill>
                <a:latin typeface="Quicksand Semi-Bold"/>
                <a:ea typeface="Quicksand Semi-Bold"/>
                <a:cs typeface="Quicksand Semi-Bold"/>
                <a:sym typeface="Quicksand Semi-Bold"/>
              </a:rPr>
              <a:t>.</a:t>
            </a:r>
          </a:p>
        </p:txBody>
      </p:sp>
      <p:sp>
        <p:nvSpPr>
          <p:cNvPr id="28" name="TextBox 28"/>
          <p:cNvSpPr txBox="1"/>
          <p:nvPr/>
        </p:nvSpPr>
        <p:spPr>
          <a:xfrm>
            <a:off x="8601384" y="7319799"/>
            <a:ext cx="6333815" cy="396599"/>
          </a:xfrm>
          <a:prstGeom prst="rect">
            <a:avLst/>
          </a:prstGeom>
        </p:spPr>
        <p:txBody>
          <a:bodyPr wrap="square" lIns="0" tIns="0" rIns="0" bIns="0" rtlCol="0" anchor="t">
            <a:spAutoFit/>
          </a:bodyPr>
          <a:lstStyle/>
          <a:p>
            <a:pPr algn="just">
              <a:lnSpc>
                <a:spcPts val="3132"/>
              </a:lnSpc>
            </a:pPr>
            <a:r>
              <a:rPr lang="en-US" sz="2900" b="1" dirty="0" err="1">
                <a:solidFill>
                  <a:srgbClr val="000000"/>
                </a:solidFill>
                <a:latin typeface="Montserrat Bold"/>
                <a:ea typeface="Montserrat Bold"/>
                <a:cs typeface="Montserrat Bold"/>
                <a:sym typeface="Montserrat Bold"/>
              </a:rPr>
              <a:t>Karşılaşılan</a:t>
            </a:r>
            <a:r>
              <a:rPr lang="en-US" sz="2900" b="1" dirty="0">
                <a:solidFill>
                  <a:srgbClr val="000000"/>
                </a:solidFill>
                <a:latin typeface="Montserrat Bold"/>
                <a:ea typeface="Montserrat Bold"/>
                <a:cs typeface="Montserrat Bold"/>
                <a:sym typeface="Montserrat Bold"/>
              </a:rPr>
              <a:t> Yeni </a:t>
            </a:r>
            <a:r>
              <a:rPr lang="en-US" sz="2900" b="1" dirty="0" err="1">
                <a:solidFill>
                  <a:srgbClr val="000000"/>
                </a:solidFill>
                <a:latin typeface="Montserrat Bold"/>
                <a:ea typeface="Montserrat Bold"/>
                <a:cs typeface="Montserrat Bold"/>
                <a:sym typeface="Montserrat Bold"/>
              </a:rPr>
              <a:t>Zafiyet</a:t>
            </a:r>
            <a:r>
              <a:rPr lang="en-US" sz="2900" b="1" dirty="0">
                <a:solidFill>
                  <a:srgbClr val="000000"/>
                </a:solidFill>
                <a:latin typeface="Montserrat Bold"/>
                <a:ea typeface="Montserrat Bold"/>
                <a:cs typeface="Montserrat Bold"/>
                <a:sym typeface="Montserrat Bold"/>
              </a:rPr>
              <a:t>:</a:t>
            </a:r>
          </a:p>
        </p:txBody>
      </p:sp>
      <p:grpSp>
        <p:nvGrpSpPr>
          <p:cNvPr id="29" name="Group 29"/>
          <p:cNvGrpSpPr/>
          <p:nvPr/>
        </p:nvGrpSpPr>
        <p:grpSpPr>
          <a:xfrm>
            <a:off x="8159832" y="7888002"/>
            <a:ext cx="393928" cy="393928"/>
            <a:chOff x="0" y="0"/>
            <a:chExt cx="812800" cy="812800"/>
          </a:xfrm>
        </p:grpSpPr>
        <p:sp>
          <p:nvSpPr>
            <p:cNvPr id="30" name="Freeform 30"/>
            <p:cNvSpPr/>
            <p:nvPr/>
          </p:nvSpPr>
          <p:spPr>
            <a:xfrm>
              <a:off x="0" y="57562"/>
              <a:ext cx="772097" cy="697677"/>
            </a:xfrm>
            <a:custGeom>
              <a:avLst/>
              <a:gdLst/>
              <a:ahLst/>
              <a:cxnLst/>
              <a:rect l="l" t="t" r="r" b="b"/>
              <a:pathLst>
                <a:path w="772097" h="697677">
                  <a:moveTo>
                    <a:pt x="743316" y="279354"/>
                  </a:moveTo>
                  <a:lnTo>
                    <a:pt x="475884" y="11922"/>
                  </a:lnTo>
                  <a:cubicBezTo>
                    <a:pt x="464243" y="281"/>
                    <a:pt x="446736" y="-3201"/>
                    <a:pt x="431527" y="3099"/>
                  </a:cubicBezTo>
                  <a:cubicBezTo>
                    <a:pt x="416317" y="9399"/>
                    <a:pt x="406400" y="24241"/>
                    <a:pt x="406400" y="40704"/>
                  </a:cubicBezTo>
                  <a:lnTo>
                    <a:pt x="406400" y="47372"/>
                  </a:lnTo>
                  <a:cubicBezTo>
                    <a:pt x="406400" y="101643"/>
                    <a:pt x="362405" y="145638"/>
                    <a:pt x="308134" y="145638"/>
                  </a:cubicBezTo>
                  <a:lnTo>
                    <a:pt x="98266" y="145638"/>
                  </a:lnTo>
                  <a:cubicBezTo>
                    <a:pt x="43995" y="145638"/>
                    <a:pt x="0" y="189633"/>
                    <a:pt x="0" y="243904"/>
                  </a:cubicBezTo>
                  <a:lnTo>
                    <a:pt x="0" y="453772"/>
                  </a:lnTo>
                  <a:cubicBezTo>
                    <a:pt x="0" y="508043"/>
                    <a:pt x="43995" y="552038"/>
                    <a:pt x="98266" y="552038"/>
                  </a:cubicBezTo>
                  <a:lnTo>
                    <a:pt x="308134" y="552038"/>
                  </a:lnTo>
                  <a:cubicBezTo>
                    <a:pt x="362405" y="552038"/>
                    <a:pt x="406400" y="596033"/>
                    <a:pt x="406400" y="650304"/>
                  </a:cubicBezTo>
                  <a:lnTo>
                    <a:pt x="406400" y="656972"/>
                  </a:lnTo>
                  <a:cubicBezTo>
                    <a:pt x="406400" y="673435"/>
                    <a:pt x="416317" y="688277"/>
                    <a:pt x="431527" y="694577"/>
                  </a:cubicBezTo>
                  <a:cubicBezTo>
                    <a:pt x="446736" y="700877"/>
                    <a:pt x="464243" y="697395"/>
                    <a:pt x="475884" y="685754"/>
                  </a:cubicBezTo>
                  <a:lnTo>
                    <a:pt x="743316" y="418322"/>
                  </a:lnTo>
                  <a:cubicBezTo>
                    <a:pt x="781691" y="379947"/>
                    <a:pt x="781691" y="317729"/>
                    <a:pt x="743316" y="279354"/>
                  </a:cubicBezTo>
                  <a:close/>
                </a:path>
              </a:pathLst>
            </a:custGeom>
            <a:solidFill>
              <a:srgbClr val="4E6C7E"/>
            </a:solidFill>
          </p:spPr>
          <p:txBody>
            <a:bodyPr/>
            <a:lstStyle/>
            <a:p>
              <a:endParaRPr lang="tr-TR"/>
            </a:p>
          </p:txBody>
        </p:sp>
        <p:sp>
          <p:nvSpPr>
            <p:cNvPr id="31" name="TextBox 31"/>
            <p:cNvSpPr txBox="1"/>
            <p:nvPr/>
          </p:nvSpPr>
          <p:spPr>
            <a:xfrm>
              <a:off x="0" y="174625"/>
              <a:ext cx="711200" cy="434975"/>
            </a:xfrm>
            <a:prstGeom prst="rect">
              <a:avLst/>
            </a:prstGeom>
          </p:spPr>
          <p:txBody>
            <a:bodyPr lIns="50800" tIns="50800" rIns="50800" bIns="50800" rtlCol="0" anchor="ctr"/>
            <a:lstStyle/>
            <a:p>
              <a:pPr algn="ctr">
                <a:lnSpc>
                  <a:spcPts val="2520"/>
                </a:lnSpc>
              </a:pPr>
              <a:endParaRPr/>
            </a:p>
          </p:txBody>
        </p:sp>
      </p:grpSp>
      <p:sp>
        <p:nvSpPr>
          <p:cNvPr id="32" name="TextBox 32"/>
          <p:cNvSpPr txBox="1"/>
          <p:nvPr/>
        </p:nvSpPr>
        <p:spPr>
          <a:xfrm>
            <a:off x="1028700" y="914400"/>
            <a:ext cx="15262208" cy="995620"/>
          </a:xfrm>
          <a:prstGeom prst="rect">
            <a:avLst/>
          </a:prstGeom>
        </p:spPr>
        <p:txBody>
          <a:bodyPr lIns="0" tIns="0" rIns="0" bIns="0" rtlCol="0" anchor="t">
            <a:spAutoFit/>
          </a:bodyPr>
          <a:lstStyle/>
          <a:p>
            <a:pPr marL="0" lvl="0" indent="0" algn="l">
              <a:lnSpc>
                <a:spcPts val="8119"/>
              </a:lnSpc>
              <a:spcBef>
                <a:spcPct val="0"/>
              </a:spcBef>
            </a:pPr>
            <a:r>
              <a:rPr lang="en-US" sz="5799" b="1" u="none" strike="noStrike">
                <a:solidFill>
                  <a:srgbClr val="154562"/>
                </a:solidFill>
                <a:latin typeface="Montserrat Ultra-Bold"/>
                <a:ea typeface="Montserrat Ultra-Bold"/>
                <a:cs typeface="Montserrat Ultra-Bold"/>
                <a:sym typeface="Montserrat Ultra-Bold"/>
              </a:rPr>
              <a:t>PyTorch ile 3 Sınıflı Modele Geçiş</a:t>
            </a:r>
          </a:p>
        </p:txBody>
      </p:sp>
      <p:sp>
        <p:nvSpPr>
          <p:cNvPr id="33" name="TextBox 33"/>
          <p:cNvSpPr txBox="1"/>
          <p:nvPr/>
        </p:nvSpPr>
        <p:spPr>
          <a:xfrm>
            <a:off x="1621796" y="2468382"/>
            <a:ext cx="3359718" cy="396599"/>
          </a:xfrm>
          <a:prstGeom prst="rect">
            <a:avLst/>
          </a:prstGeom>
        </p:spPr>
        <p:txBody>
          <a:bodyPr lIns="0" tIns="0" rIns="0" bIns="0" rtlCol="0" anchor="t">
            <a:spAutoFit/>
          </a:bodyPr>
          <a:lstStyle/>
          <a:p>
            <a:pPr algn="just">
              <a:lnSpc>
                <a:spcPts val="3132"/>
              </a:lnSpc>
            </a:pPr>
            <a:r>
              <a:rPr lang="en-US" sz="2900" b="1">
                <a:solidFill>
                  <a:srgbClr val="000000"/>
                </a:solidFill>
                <a:latin typeface="Montserrat Bold"/>
                <a:ea typeface="Montserrat Bold"/>
                <a:cs typeface="Montserrat Bold"/>
                <a:sym typeface="Montserrat Bold"/>
              </a:rPr>
              <a:t>Yeni Stratejimiz:</a:t>
            </a:r>
          </a:p>
        </p:txBody>
      </p:sp>
      <p:sp>
        <p:nvSpPr>
          <p:cNvPr id="34" name="TextBox 34"/>
          <p:cNvSpPr txBox="1"/>
          <p:nvPr/>
        </p:nvSpPr>
        <p:spPr>
          <a:xfrm>
            <a:off x="1801847" y="2950707"/>
            <a:ext cx="5106539" cy="1944261"/>
          </a:xfrm>
          <a:prstGeom prst="rect">
            <a:avLst/>
          </a:prstGeom>
        </p:spPr>
        <p:txBody>
          <a:bodyPr lIns="0" tIns="0" rIns="0" bIns="0" rtlCol="0" anchor="t">
            <a:spAutoFit/>
          </a:bodyPr>
          <a:lstStyle/>
          <a:p>
            <a:pPr algn="just">
              <a:lnSpc>
                <a:spcPts val="3079"/>
              </a:lnSpc>
            </a:pPr>
            <a:r>
              <a:rPr lang="en-US" sz="2199" b="1">
                <a:solidFill>
                  <a:srgbClr val="000000"/>
                </a:solidFill>
                <a:latin typeface="Quicksand Semi-Bold"/>
                <a:ea typeface="Quicksand Semi-Bold"/>
                <a:cs typeface="Quicksand Semi-Bold"/>
                <a:sym typeface="Quicksand Semi-Bold"/>
              </a:rPr>
              <a:t>V1 modelinin çökmesi üzerine sınıf sayısı 13'ten 3 ana morfolojik gruba (High Quality, Low Quality, Cleavage) indirgenerek veri başına düşen örnek sayısını artırıldı.</a:t>
            </a:r>
          </a:p>
        </p:txBody>
      </p:sp>
      <p:sp>
        <p:nvSpPr>
          <p:cNvPr id="35" name="TextBox 35"/>
          <p:cNvSpPr txBox="1"/>
          <p:nvPr/>
        </p:nvSpPr>
        <p:spPr>
          <a:xfrm>
            <a:off x="1801847" y="5228383"/>
            <a:ext cx="5106539" cy="1198913"/>
          </a:xfrm>
          <a:prstGeom prst="rect">
            <a:avLst/>
          </a:prstGeom>
        </p:spPr>
        <p:txBody>
          <a:bodyPr lIns="0" tIns="0" rIns="0" bIns="0" rtlCol="0" anchor="t">
            <a:spAutoFit/>
          </a:bodyPr>
          <a:lstStyle/>
          <a:p>
            <a:pPr algn="just">
              <a:lnSpc>
                <a:spcPts val="3219"/>
              </a:lnSpc>
            </a:pPr>
            <a:r>
              <a:rPr lang="en-US" sz="2299" b="1">
                <a:solidFill>
                  <a:srgbClr val="000000"/>
                </a:solidFill>
                <a:latin typeface="Quicksand Semi-Bold"/>
                <a:ea typeface="Quicksand Semi-Bold"/>
                <a:cs typeface="Quicksand Semi-Bold"/>
                <a:sym typeface="Quicksand Semi-Bold"/>
              </a:rPr>
              <a:t>Bu aşamada PyTorch framework'ü ve ResNet-50 transfer öğrenme mimarisini kullanıldı.</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4737301" y="3799326"/>
            <a:ext cx="5581577" cy="5581577"/>
            <a:chOff x="0" y="0"/>
            <a:chExt cx="812800" cy="812800"/>
          </a:xfrm>
        </p:grpSpPr>
        <p:sp>
          <p:nvSpPr>
            <p:cNvPr id="3" name="Freeform 3"/>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1">
              <a:gsLst>
                <a:gs pos="0">
                  <a:srgbClr val="377FD6">
                    <a:alpha val="31000"/>
                  </a:srgbClr>
                </a:gs>
                <a:gs pos="100000">
                  <a:srgbClr val="CBE2FF">
                    <a:alpha val="31000"/>
                  </a:srgbClr>
                </a:gs>
              </a:gsLst>
              <a:lin ang="5400000"/>
            </a:gradFill>
          </p:spPr>
          <p:txBody>
            <a:bodyPr/>
            <a:lstStyle/>
            <a:p>
              <a:endParaRPr lang="tr-TR"/>
            </a:p>
          </p:txBody>
        </p:sp>
        <p:sp>
          <p:nvSpPr>
            <p:cNvPr id="4" name="TextBox 4"/>
            <p:cNvSpPr txBox="1"/>
            <p:nvPr/>
          </p:nvSpPr>
          <p:spPr>
            <a:xfrm>
              <a:off x="76200" y="47625"/>
              <a:ext cx="660400" cy="688975"/>
            </a:xfrm>
            <a:prstGeom prst="rect">
              <a:avLst/>
            </a:prstGeom>
          </p:spPr>
          <p:txBody>
            <a:bodyPr lIns="50800" tIns="50800" rIns="50800" bIns="50800" rtlCol="0" anchor="ctr"/>
            <a:lstStyle/>
            <a:p>
              <a:pPr algn="ctr">
                <a:lnSpc>
                  <a:spcPts val="2520"/>
                </a:lnSpc>
              </a:pPr>
              <a:endParaRPr/>
            </a:p>
          </p:txBody>
        </p:sp>
      </p:grpSp>
      <p:grpSp>
        <p:nvGrpSpPr>
          <p:cNvPr id="5" name="Group 5"/>
          <p:cNvGrpSpPr/>
          <p:nvPr/>
        </p:nvGrpSpPr>
        <p:grpSpPr>
          <a:xfrm>
            <a:off x="15270871" y="373776"/>
            <a:ext cx="5581577" cy="5581577"/>
            <a:chOff x="0" y="0"/>
            <a:chExt cx="812800" cy="812800"/>
          </a:xfrm>
        </p:grpSpPr>
        <p:sp>
          <p:nvSpPr>
            <p:cNvPr id="6" name="Freeform 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1">
              <a:gsLst>
                <a:gs pos="0">
                  <a:srgbClr val="377FD6">
                    <a:alpha val="31000"/>
                  </a:srgbClr>
                </a:gs>
                <a:gs pos="100000">
                  <a:srgbClr val="CBE2FF">
                    <a:alpha val="31000"/>
                  </a:srgbClr>
                </a:gs>
              </a:gsLst>
              <a:lin ang="5400000"/>
            </a:gradFill>
          </p:spPr>
          <p:txBody>
            <a:bodyPr/>
            <a:lstStyle/>
            <a:p>
              <a:endParaRPr lang="tr-TR"/>
            </a:p>
          </p:txBody>
        </p:sp>
        <p:sp>
          <p:nvSpPr>
            <p:cNvPr id="7" name="TextBox 7"/>
            <p:cNvSpPr txBox="1"/>
            <p:nvPr/>
          </p:nvSpPr>
          <p:spPr>
            <a:xfrm>
              <a:off x="76200" y="47625"/>
              <a:ext cx="660400" cy="688975"/>
            </a:xfrm>
            <a:prstGeom prst="rect">
              <a:avLst/>
            </a:prstGeom>
          </p:spPr>
          <p:txBody>
            <a:bodyPr lIns="50800" tIns="50800" rIns="50800" bIns="50800" rtlCol="0" anchor="ctr"/>
            <a:lstStyle/>
            <a:p>
              <a:pPr algn="ctr">
                <a:lnSpc>
                  <a:spcPts val="2520"/>
                </a:lnSpc>
              </a:pPr>
              <a:endParaRPr/>
            </a:p>
          </p:txBody>
        </p:sp>
      </p:grpSp>
      <p:sp>
        <p:nvSpPr>
          <p:cNvPr id="8" name="Freeform 8"/>
          <p:cNvSpPr/>
          <p:nvPr/>
        </p:nvSpPr>
        <p:spPr>
          <a:xfrm>
            <a:off x="8855072" y="5962522"/>
            <a:ext cx="3870219" cy="3870219"/>
          </a:xfrm>
          <a:custGeom>
            <a:avLst/>
            <a:gdLst/>
            <a:ahLst/>
            <a:cxnLst/>
            <a:rect l="l" t="t" r="r" b="b"/>
            <a:pathLst>
              <a:path w="3870219" h="3870219">
                <a:moveTo>
                  <a:pt x="0" y="0"/>
                </a:moveTo>
                <a:lnTo>
                  <a:pt x="3870219" y="0"/>
                </a:lnTo>
                <a:lnTo>
                  <a:pt x="3870219" y="3870219"/>
                </a:lnTo>
                <a:lnTo>
                  <a:pt x="0" y="3870219"/>
                </a:lnTo>
                <a:lnTo>
                  <a:pt x="0" y="0"/>
                </a:lnTo>
                <a:close/>
              </a:path>
            </a:pathLst>
          </a:custGeom>
          <a:blipFill>
            <a:blip>
              <a:alphaModFix amt="8999"/>
              <a:extLst>
                <a:ext uri="{96DAC541-7B7A-43D3-8B79-37D633B846F1}">
                  <asvg:svgBlip xmlns:asvg="http://schemas.microsoft.com/office/drawing/2016/SVG/main" r:embed="rId2"/>
                </a:ext>
              </a:extLst>
            </a:blip>
            <a:stretch>
              <a:fillRect/>
            </a:stretch>
          </a:blipFill>
        </p:spPr>
        <p:txBody>
          <a:bodyPr/>
          <a:lstStyle/>
          <a:p>
            <a:endParaRPr lang="tr-TR"/>
          </a:p>
        </p:txBody>
      </p:sp>
      <p:grpSp>
        <p:nvGrpSpPr>
          <p:cNvPr id="9" name="Group 9"/>
          <p:cNvGrpSpPr/>
          <p:nvPr/>
        </p:nvGrpSpPr>
        <p:grpSpPr>
          <a:xfrm>
            <a:off x="-578765" y="6431143"/>
            <a:ext cx="16686605" cy="3566470"/>
            <a:chOff x="0" y="0"/>
            <a:chExt cx="22248806" cy="4755294"/>
          </a:xfrm>
        </p:grpSpPr>
        <p:grpSp>
          <p:nvGrpSpPr>
            <p:cNvPr id="10" name="Group 10"/>
            <p:cNvGrpSpPr/>
            <p:nvPr/>
          </p:nvGrpSpPr>
          <p:grpSpPr>
            <a:xfrm>
              <a:off x="471770" y="266874"/>
              <a:ext cx="21777036" cy="4488420"/>
              <a:chOff x="0" y="0"/>
              <a:chExt cx="3360654" cy="692657"/>
            </a:xfrm>
          </p:grpSpPr>
          <p:sp>
            <p:nvSpPr>
              <p:cNvPr id="11" name="Freeform 11"/>
              <p:cNvSpPr/>
              <p:nvPr/>
            </p:nvSpPr>
            <p:spPr>
              <a:xfrm>
                <a:off x="0" y="0"/>
                <a:ext cx="3360654" cy="692657"/>
              </a:xfrm>
              <a:custGeom>
                <a:avLst/>
                <a:gdLst/>
                <a:ahLst/>
                <a:cxnLst/>
                <a:rect l="l" t="t" r="r" b="b"/>
                <a:pathLst>
                  <a:path w="3360654" h="692657">
                    <a:moveTo>
                      <a:pt x="9258" y="0"/>
                    </a:moveTo>
                    <a:lnTo>
                      <a:pt x="3351396" y="0"/>
                    </a:lnTo>
                    <a:cubicBezTo>
                      <a:pt x="3356509" y="0"/>
                      <a:pt x="3360654" y="4145"/>
                      <a:pt x="3360654" y="9258"/>
                    </a:cubicBezTo>
                    <a:lnTo>
                      <a:pt x="3360654" y="683399"/>
                    </a:lnTo>
                    <a:cubicBezTo>
                      <a:pt x="3360654" y="688512"/>
                      <a:pt x="3356509" y="692657"/>
                      <a:pt x="3351396" y="692657"/>
                    </a:cubicBezTo>
                    <a:lnTo>
                      <a:pt x="9258" y="692657"/>
                    </a:lnTo>
                    <a:cubicBezTo>
                      <a:pt x="4145" y="692657"/>
                      <a:pt x="0" y="688512"/>
                      <a:pt x="0" y="683399"/>
                    </a:cubicBezTo>
                    <a:lnTo>
                      <a:pt x="0" y="9258"/>
                    </a:lnTo>
                    <a:cubicBezTo>
                      <a:pt x="0" y="4145"/>
                      <a:pt x="4145" y="0"/>
                      <a:pt x="9258" y="0"/>
                    </a:cubicBezTo>
                    <a:close/>
                  </a:path>
                </a:pathLst>
              </a:custGeom>
              <a:solidFill>
                <a:srgbClr val="4E6C7E"/>
              </a:solidFill>
              <a:ln w="19050" cap="rnd">
                <a:solidFill>
                  <a:srgbClr val="4383D1"/>
                </a:solidFill>
                <a:prstDash val="solid"/>
                <a:round/>
              </a:ln>
            </p:spPr>
            <p:txBody>
              <a:bodyPr/>
              <a:lstStyle/>
              <a:p>
                <a:endParaRPr lang="tr-TR"/>
              </a:p>
            </p:txBody>
          </p:sp>
          <p:sp>
            <p:nvSpPr>
              <p:cNvPr id="12" name="TextBox 12"/>
              <p:cNvSpPr txBox="1"/>
              <p:nvPr/>
            </p:nvSpPr>
            <p:spPr>
              <a:xfrm>
                <a:off x="0" y="-28575"/>
                <a:ext cx="3360654" cy="721232"/>
              </a:xfrm>
              <a:prstGeom prst="rect">
                <a:avLst/>
              </a:prstGeom>
            </p:spPr>
            <p:txBody>
              <a:bodyPr lIns="50800" tIns="50800" rIns="50800" bIns="50800" rtlCol="0" anchor="ctr"/>
              <a:lstStyle/>
              <a:p>
                <a:pPr algn="ctr">
                  <a:lnSpc>
                    <a:spcPts val="2520"/>
                  </a:lnSpc>
                </a:pPr>
                <a:endParaRPr/>
              </a:p>
            </p:txBody>
          </p:sp>
        </p:grpSp>
        <p:grpSp>
          <p:nvGrpSpPr>
            <p:cNvPr id="13" name="Group 13"/>
            <p:cNvGrpSpPr/>
            <p:nvPr/>
          </p:nvGrpSpPr>
          <p:grpSpPr>
            <a:xfrm>
              <a:off x="0" y="0"/>
              <a:ext cx="21777036" cy="4488420"/>
              <a:chOff x="0" y="0"/>
              <a:chExt cx="3360654" cy="692657"/>
            </a:xfrm>
          </p:grpSpPr>
          <p:sp>
            <p:nvSpPr>
              <p:cNvPr id="14" name="Freeform 14"/>
              <p:cNvSpPr/>
              <p:nvPr/>
            </p:nvSpPr>
            <p:spPr>
              <a:xfrm>
                <a:off x="0" y="0"/>
                <a:ext cx="3360654" cy="692657"/>
              </a:xfrm>
              <a:custGeom>
                <a:avLst/>
                <a:gdLst/>
                <a:ahLst/>
                <a:cxnLst/>
                <a:rect l="l" t="t" r="r" b="b"/>
                <a:pathLst>
                  <a:path w="3360654" h="692657">
                    <a:moveTo>
                      <a:pt x="9258" y="0"/>
                    </a:moveTo>
                    <a:lnTo>
                      <a:pt x="3351396" y="0"/>
                    </a:lnTo>
                    <a:cubicBezTo>
                      <a:pt x="3356509" y="0"/>
                      <a:pt x="3360654" y="4145"/>
                      <a:pt x="3360654" y="9258"/>
                    </a:cubicBezTo>
                    <a:lnTo>
                      <a:pt x="3360654" y="683399"/>
                    </a:lnTo>
                    <a:cubicBezTo>
                      <a:pt x="3360654" y="688512"/>
                      <a:pt x="3356509" y="692657"/>
                      <a:pt x="3351396" y="692657"/>
                    </a:cubicBezTo>
                    <a:lnTo>
                      <a:pt x="9258" y="692657"/>
                    </a:lnTo>
                    <a:cubicBezTo>
                      <a:pt x="4145" y="692657"/>
                      <a:pt x="0" y="688512"/>
                      <a:pt x="0" y="683399"/>
                    </a:cubicBezTo>
                    <a:lnTo>
                      <a:pt x="0" y="9258"/>
                    </a:lnTo>
                    <a:cubicBezTo>
                      <a:pt x="0" y="4145"/>
                      <a:pt x="4145" y="0"/>
                      <a:pt x="9258" y="0"/>
                    </a:cubicBezTo>
                    <a:close/>
                  </a:path>
                </a:pathLst>
              </a:custGeom>
              <a:solidFill>
                <a:srgbClr val="FFFFFF"/>
              </a:solidFill>
              <a:ln w="19050" cap="rnd">
                <a:solidFill>
                  <a:srgbClr val="4383D1"/>
                </a:solidFill>
                <a:prstDash val="solid"/>
                <a:round/>
              </a:ln>
            </p:spPr>
            <p:txBody>
              <a:bodyPr/>
              <a:lstStyle/>
              <a:p>
                <a:endParaRPr lang="tr-TR"/>
              </a:p>
            </p:txBody>
          </p:sp>
          <p:sp>
            <p:nvSpPr>
              <p:cNvPr id="15" name="TextBox 15"/>
              <p:cNvSpPr txBox="1"/>
              <p:nvPr/>
            </p:nvSpPr>
            <p:spPr>
              <a:xfrm>
                <a:off x="0" y="-28575"/>
                <a:ext cx="3360654" cy="721232"/>
              </a:xfrm>
              <a:prstGeom prst="rect">
                <a:avLst/>
              </a:prstGeom>
            </p:spPr>
            <p:txBody>
              <a:bodyPr lIns="50800" tIns="50800" rIns="50800" bIns="50800" rtlCol="0" anchor="ctr"/>
              <a:lstStyle/>
              <a:p>
                <a:pPr algn="ctr">
                  <a:lnSpc>
                    <a:spcPts val="2520"/>
                  </a:lnSpc>
                </a:pPr>
                <a:endParaRPr/>
              </a:p>
            </p:txBody>
          </p:sp>
        </p:grpSp>
      </p:grpSp>
      <p:grpSp>
        <p:nvGrpSpPr>
          <p:cNvPr id="16" name="Group 16"/>
          <p:cNvGrpSpPr/>
          <p:nvPr/>
        </p:nvGrpSpPr>
        <p:grpSpPr>
          <a:xfrm>
            <a:off x="376570" y="7199348"/>
            <a:ext cx="393928" cy="393928"/>
            <a:chOff x="0" y="0"/>
            <a:chExt cx="812800" cy="812800"/>
          </a:xfrm>
        </p:grpSpPr>
        <p:sp>
          <p:nvSpPr>
            <p:cNvPr id="17" name="Freeform 17"/>
            <p:cNvSpPr/>
            <p:nvPr/>
          </p:nvSpPr>
          <p:spPr>
            <a:xfrm>
              <a:off x="0" y="57562"/>
              <a:ext cx="772097" cy="697677"/>
            </a:xfrm>
            <a:custGeom>
              <a:avLst/>
              <a:gdLst/>
              <a:ahLst/>
              <a:cxnLst/>
              <a:rect l="l" t="t" r="r" b="b"/>
              <a:pathLst>
                <a:path w="772097" h="697677">
                  <a:moveTo>
                    <a:pt x="743316" y="279354"/>
                  </a:moveTo>
                  <a:lnTo>
                    <a:pt x="475884" y="11922"/>
                  </a:lnTo>
                  <a:cubicBezTo>
                    <a:pt x="464243" y="281"/>
                    <a:pt x="446736" y="-3201"/>
                    <a:pt x="431527" y="3099"/>
                  </a:cubicBezTo>
                  <a:cubicBezTo>
                    <a:pt x="416317" y="9399"/>
                    <a:pt x="406400" y="24241"/>
                    <a:pt x="406400" y="40704"/>
                  </a:cubicBezTo>
                  <a:lnTo>
                    <a:pt x="406400" y="47372"/>
                  </a:lnTo>
                  <a:cubicBezTo>
                    <a:pt x="406400" y="101643"/>
                    <a:pt x="362405" y="145638"/>
                    <a:pt x="308134" y="145638"/>
                  </a:cubicBezTo>
                  <a:lnTo>
                    <a:pt x="98266" y="145638"/>
                  </a:lnTo>
                  <a:cubicBezTo>
                    <a:pt x="43995" y="145638"/>
                    <a:pt x="0" y="189633"/>
                    <a:pt x="0" y="243904"/>
                  </a:cubicBezTo>
                  <a:lnTo>
                    <a:pt x="0" y="453772"/>
                  </a:lnTo>
                  <a:cubicBezTo>
                    <a:pt x="0" y="508043"/>
                    <a:pt x="43995" y="552038"/>
                    <a:pt x="98266" y="552038"/>
                  </a:cubicBezTo>
                  <a:lnTo>
                    <a:pt x="308134" y="552038"/>
                  </a:lnTo>
                  <a:cubicBezTo>
                    <a:pt x="362405" y="552038"/>
                    <a:pt x="406400" y="596033"/>
                    <a:pt x="406400" y="650304"/>
                  </a:cubicBezTo>
                  <a:lnTo>
                    <a:pt x="406400" y="656972"/>
                  </a:lnTo>
                  <a:cubicBezTo>
                    <a:pt x="406400" y="673435"/>
                    <a:pt x="416317" y="688277"/>
                    <a:pt x="431527" y="694577"/>
                  </a:cubicBezTo>
                  <a:cubicBezTo>
                    <a:pt x="446736" y="700877"/>
                    <a:pt x="464243" y="697395"/>
                    <a:pt x="475884" y="685754"/>
                  </a:cubicBezTo>
                  <a:lnTo>
                    <a:pt x="743316" y="418322"/>
                  </a:lnTo>
                  <a:cubicBezTo>
                    <a:pt x="781691" y="379947"/>
                    <a:pt x="781691" y="317729"/>
                    <a:pt x="743316" y="279354"/>
                  </a:cubicBezTo>
                  <a:close/>
                </a:path>
              </a:pathLst>
            </a:custGeom>
            <a:solidFill>
              <a:srgbClr val="4E6C7E"/>
            </a:solidFill>
          </p:spPr>
          <p:txBody>
            <a:bodyPr/>
            <a:lstStyle/>
            <a:p>
              <a:endParaRPr lang="tr-TR"/>
            </a:p>
          </p:txBody>
        </p:sp>
        <p:sp>
          <p:nvSpPr>
            <p:cNvPr id="18" name="TextBox 18"/>
            <p:cNvSpPr txBox="1"/>
            <p:nvPr/>
          </p:nvSpPr>
          <p:spPr>
            <a:xfrm>
              <a:off x="0" y="174625"/>
              <a:ext cx="711200" cy="434975"/>
            </a:xfrm>
            <a:prstGeom prst="rect">
              <a:avLst/>
            </a:prstGeom>
          </p:spPr>
          <p:txBody>
            <a:bodyPr lIns="50800" tIns="50800" rIns="50800" bIns="50800" rtlCol="0" anchor="ctr"/>
            <a:lstStyle/>
            <a:p>
              <a:pPr algn="ctr">
                <a:lnSpc>
                  <a:spcPts val="2520"/>
                </a:lnSpc>
              </a:pPr>
              <a:endParaRPr/>
            </a:p>
          </p:txBody>
        </p:sp>
      </p:grpSp>
      <p:grpSp>
        <p:nvGrpSpPr>
          <p:cNvPr id="19" name="Group 19"/>
          <p:cNvGrpSpPr/>
          <p:nvPr/>
        </p:nvGrpSpPr>
        <p:grpSpPr>
          <a:xfrm>
            <a:off x="7015413" y="7266060"/>
            <a:ext cx="393928" cy="393928"/>
            <a:chOff x="0" y="0"/>
            <a:chExt cx="812800" cy="812800"/>
          </a:xfrm>
        </p:grpSpPr>
        <p:sp>
          <p:nvSpPr>
            <p:cNvPr id="20" name="Freeform 20"/>
            <p:cNvSpPr/>
            <p:nvPr/>
          </p:nvSpPr>
          <p:spPr>
            <a:xfrm>
              <a:off x="0" y="57562"/>
              <a:ext cx="772097" cy="697677"/>
            </a:xfrm>
            <a:custGeom>
              <a:avLst/>
              <a:gdLst/>
              <a:ahLst/>
              <a:cxnLst/>
              <a:rect l="l" t="t" r="r" b="b"/>
              <a:pathLst>
                <a:path w="772097" h="697677">
                  <a:moveTo>
                    <a:pt x="743316" y="279354"/>
                  </a:moveTo>
                  <a:lnTo>
                    <a:pt x="475884" y="11922"/>
                  </a:lnTo>
                  <a:cubicBezTo>
                    <a:pt x="464243" y="281"/>
                    <a:pt x="446736" y="-3201"/>
                    <a:pt x="431527" y="3099"/>
                  </a:cubicBezTo>
                  <a:cubicBezTo>
                    <a:pt x="416317" y="9399"/>
                    <a:pt x="406400" y="24241"/>
                    <a:pt x="406400" y="40704"/>
                  </a:cubicBezTo>
                  <a:lnTo>
                    <a:pt x="406400" y="47372"/>
                  </a:lnTo>
                  <a:cubicBezTo>
                    <a:pt x="406400" y="101643"/>
                    <a:pt x="362405" y="145638"/>
                    <a:pt x="308134" y="145638"/>
                  </a:cubicBezTo>
                  <a:lnTo>
                    <a:pt x="98266" y="145638"/>
                  </a:lnTo>
                  <a:cubicBezTo>
                    <a:pt x="43995" y="145638"/>
                    <a:pt x="0" y="189633"/>
                    <a:pt x="0" y="243904"/>
                  </a:cubicBezTo>
                  <a:lnTo>
                    <a:pt x="0" y="453772"/>
                  </a:lnTo>
                  <a:cubicBezTo>
                    <a:pt x="0" y="508043"/>
                    <a:pt x="43995" y="552038"/>
                    <a:pt x="98266" y="552038"/>
                  </a:cubicBezTo>
                  <a:lnTo>
                    <a:pt x="308134" y="552038"/>
                  </a:lnTo>
                  <a:cubicBezTo>
                    <a:pt x="362405" y="552038"/>
                    <a:pt x="406400" y="596033"/>
                    <a:pt x="406400" y="650304"/>
                  </a:cubicBezTo>
                  <a:lnTo>
                    <a:pt x="406400" y="656972"/>
                  </a:lnTo>
                  <a:cubicBezTo>
                    <a:pt x="406400" y="673435"/>
                    <a:pt x="416317" y="688277"/>
                    <a:pt x="431527" y="694577"/>
                  </a:cubicBezTo>
                  <a:cubicBezTo>
                    <a:pt x="446736" y="700877"/>
                    <a:pt x="464243" y="697395"/>
                    <a:pt x="475884" y="685754"/>
                  </a:cubicBezTo>
                  <a:lnTo>
                    <a:pt x="743316" y="418322"/>
                  </a:lnTo>
                  <a:cubicBezTo>
                    <a:pt x="781691" y="379947"/>
                    <a:pt x="781691" y="317729"/>
                    <a:pt x="743316" y="279354"/>
                  </a:cubicBezTo>
                  <a:close/>
                </a:path>
              </a:pathLst>
            </a:custGeom>
            <a:solidFill>
              <a:srgbClr val="4E6C7E"/>
            </a:solidFill>
          </p:spPr>
          <p:txBody>
            <a:bodyPr/>
            <a:lstStyle/>
            <a:p>
              <a:endParaRPr lang="tr-TR"/>
            </a:p>
          </p:txBody>
        </p:sp>
        <p:sp>
          <p:nvSpPr>
            <p:cNvPr id="21" name="TextBox 21"/>
            <p:cNvSpPr txBox="1"/>
            <p:nvPr/>
          </p:nvSpPr>
          <p:spPr>
            <a:xfrm>
              <a:off x="0" y="174625"/>
              <a:ext cx="711200" cy="434975"/>
            </a:xfrm>
            <a:prstGeom prst="rect">
              <a:avLst/>
            </a:prstGeom>
          </p:spPr>
          <p:txBody>
            <a:bodyPr lIns="50800" tIns="50800" rIns="50800" bIns="50800" rtlCol="0" anchor="ctr"/>
            <a:lstStyle/>
            <a:p>
              <a:pPr algn="ctr">
                <a:lnSpc>
                  <a:spcPts val="2520"/>
                </a:lnSpc>
              </a:pPr>
              <a:endParaRPr/>
            </a:p>
          </p:txBody>
        </p:sp>
      </p:grpSp>
      <p:sp>
        <p:nvSpPr>
          <p:cNvPr id="22" name="Freeform 22"/>
          <p:cNvSpPr/>
          <p:nvPr/>
        </p:nvSpPr>
        <p:spPr>
          <a:xfrm>
            <a:off x="1051995" y="1292101"/>
            <a:ext cx="15055845" cy="4948542"/>
          </a:xfrm>
          <a:custGeom>
            <a:avLst/>
            <a:gdLst/>
            <a:ahLst/>
            <a:cxnLst/>
            <a:rect l="l" t="t" r="r" b="b"/>
            <a:pathLst>
              <a:path w="15055845" h="4948542">
                <a:moveTo>
                  <a:pt x="0" y="0"/>
                </a:moveTo>
                <a:lnTo>
                  <a:pt x="15055845" y="0"/>
                </a:lnTo>
                <a:lnTo>
                  <a:pt x="15055845" y="4948542"/>
                </a:lnTo>
                <a:lnTo>
                  <a:pt x="0" y="4948542"/>
                </a:lnTo>
                <a:lnTo>
                  <a:pt x="0" y="0"/>
                </a:lnTo>
                <a:close/>
              </a:path>
            </a:pathLst>
          </a:custGeom>
          <a:blipFill>
            <a:blip r:embed="rId3"/>
            <a:stretch>
              <a:fillRect l="-4285" t="-12842" r="-1789" b="-11408"/>
            </a:stretch>
          </a:blipFill>
          <a:ln w="47625" cap="rnd">
            <a:gradFill>
              <a:gsLst>
                <a:gs pos="0">
                  <a:srgbClr val="154562">
                    <a:alpha val="100000"/>
                  </a:srgbClr>
                </a:gs>
                <a:gs pos="100000">
                  <a:srgbClr val="6A8DA2">
                    <a:alpha val="100000"/>
                  </a:srgbClr>
                </a:gs>
              </a:gsLst>
              <a:lin ang="5400000"/>
            </a:gradFill>
            <a:prstDash val="solid"/>
            <a:round/>
          </a:ln>
        </p:spPr>
        <p:txBody>
          <a:bodyPr/>
          <a:lstStyle/>
          <a:p>
            <a:endParaRPr lang="tr-TR"/>
          </a:p>
        </p:txBody>
      </p:sp>
      <p:grpSp>
        <p:nvGrpSpPr>
          <p:cNvPr id="23" name="Group 23"/>
          <p:cNvGrpSpPr/>
          <p:nvPr/>
        </p:nvGrpSpPr>
        <p:grpSpPr>
          <a:xfrm>
            <a:off x="12580156" y="-579648"/>
            <a:ext cx="1928382" cy="1928382"/>
            <a:chOff x="0" y="0"/>
            <a:chExt cx="812800" cy="812800"/>
          </a:xfrm>
        </p:grpSpPr>
        <p:sp>
          <p:nvSpPr>
            <p:cNvPr id="24" name="Freeform 24"/>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1">
              <a:gsLst>
                <a:gs pos="0">
                  <a:srgbClr val="377FD6">
                    <a:alpha val="31000"/>
                  </a:srgbClr>
                </a:gs>
                <a:gs pos="100000">
                  <a:srgbClr val="CBE2FF">
                    <a:alpha val="31000"/>
                  </a:srgbClr>
                </a:gs>
              </a:gsLst>
              <a:lin ang="5400000"/>
            </a:gradFill>
          </p:spPr>
          <p:txBody>
            <a:bodyPr/>
            <a:lstStyle/>
            <a:p>
              <a:endParaRPr lang="tr-TR"/>
            </a:p>
          </p:txBody>
        </p:sp>
        <p:sp>
          <p:nvSpPr>
            <p:cNvPr id="25" name="TextBox 25"/>
            <p:cNvSpPr txBox="1"/>
            <p:nvPr/>
          </p:nvSpPr>
          <p:spPr>
            <a:xfrm>
              <a:off x="76200" y="47625"/>
              <a:ext cx="660400" cy="688975"/>
            </a:xfrm>
            <a:prstGeom prst="rect">
              <a:avLst/>
            </a:prstGeom>
          </p:spPr>
          <p:txBody>
            <a:bodyPr lIns="50800" tIns="50800" rIns="50800" bIns="50800" rtlCol="0" anchor="ctr"/>
            <a:lstStyle/>
            <a:p>
              <a:pPr algn="ctr">
                <a:lnSpc>
                  <a:spcPts val="2520"/>
                </a:lnSpc>
              </a:pPr>
              <a:endParaRPr/>
            </a:p>
          </p:txBody>
        </p:sp>
      </p:grpSp>
      <p:sp>
        <p:nvSpPr>
          <p:cNvPr id="26" name="TextBox 26"/>
          <p:cNvSpPr txBox="1"/>
          <p:nvPr/>
        </p:nvSpPr>
        <p:spPr>
          <a:xfrm>
            <a:off x="1051995" y="171477"/>
            <a:ext cx="12964176" cy="870595"/>
          </a:xfrm>
          <a:prstGeom prst="rect">
            <a:avLst/>
          </a:prstGeom>
        </p:spPr>
        <p:txBody>
          <a:bodyPr lIns="0" tIns="0" rIns="0" bIns="0" rtlCol="0" anchor="t">
            <a:spAutoFit/>
          </a:bodyPr>
          <a:lstStyle/>
          <a:p>
            <a:pPr marL="0" lvl="0" indent="0" algn="l">
              <a:lnSpc>
                <a:spcPts val="7139"/>
              </a:lnSpc>
              <a:spcBef>
                <a:spcPct val="0"/>
              </a:spcBef>
            </a:pPr>
            <a:r>
              <a:rPr lang="en-US" sz="5100" b="1" u="none" strike="noStrike">
                <a:solidFill>
                  <a:srgbClr val="154562"/>
                </a:solidFill>
                <a:latin typeface="Montserrat Ultra-Bold"/>
                <a:ea typeface="Montserrat Ultra-Bold"/>
                <a:cs typeface="Montserrat Ultra-Bold"/>
                <a:sym typeface="Montserrat Ultra-Bold"/>
              </a:rPr>
              <a:t>Zafiyetin Giderilmesi ve Veri Artırımı</a:t>
            </a:r>
          </a:p>
        </p:txBody>
      </p:sp>
      <p:sp>
        <p:nvSpPr>
          <p:cNvPr id="27" name="TextBox 27"/>
          <p:cNvSpPr txBox="1"/>
          <p:nvPr/>
        </p:nvSpPr>
        <p:spPr>
          <a:xfrm>
            <a:off x="950548" y="6669399"/>
            <a:ext cx="4812556" cy="396599"/>
          </a:xfrm>
          <a:prstGeom prst="rect">
            <a:avLst/>
          </a:prstGeom>
        </p:spPr>
        <p:txBody>
          <a:bodyPr lIns="0" tIns="0" rIns="0" bIns="0" rtlCol="0" anchor="t">
            <a:spAutoFit/>
          </a:bodyPr>
          <a:lstStyle/>
          <a:p>
            <a:pPr algn="just">
              <a:lnSpc>
                <a:spcPts val="3132"/>
              </a:lnSpc>
            </a:pPr>
            <a:r>
              <a:rPr lang="en-US" sz="2900" b="1">
                <a:solidFill>
                  <a:srgbClr val="000000"/>
                </a:solidFill>
                <a:latin typeface="Montserrat Bold"/>
                <a:ea typeface="Montserrat Bold"/>
                <a:cs typeface="Montserrat Bold"/>
                <a:sym typeface="Montserrat Bold"/>
              </a:rPr>
              <a:t>İleri Düzey Veri Artırımı:</a:t>
            </a:r>
          </a:p>
        </p:txBody>
      </p:sp>
      <p:sp>
        <p:nvSpPr>
          <p:cNvPr id="28" name="TextBox 28"/>
          <p:cNvSpPr txBox="1"/>
          <p:nvPr/>
        </p:nvSpPr>
        <p:spPr>
          <a:xfrm>
            <a:off x="950548" y="7151723"/>
            <a:ext cx="5270569" cy="2334764"/>
          </a:xfrm>
          <a:prstGeom prst="rect">
            <a:avLst/>
          </a:prstGeom>
        </p:spPr>
        <p:txBody>
          <a:bodyPr lIns="0" tIns="0" rIns="0" bIns="0" rtlCol="0" anchor="t">
            <a:spAutoFit/>
          </a:bodyPr>
          <a:lstStyle/>
          <a:p>
            <a:pPr algn="just">
              <a:lnSpc>
                <a:spcPts val="3079"/>
              </a:lnSpc>
            </a:pPr>
            <a:r>
              <a:rPr lang="en-US" sz="2199" b="1">
                <a:solidFill>
                  <a:srgbClr val="000000"/>
                </a:solidFill>
                <a:latin typeface="Quicksand Semi-Bold"/>
                <a:ea typeface="Quicksand Semi-Bold"/>
                <a:cs typeface="Quicksand Semi-Bold"/>
                <a:sym typeface="Quicksand Semi-Bold"/>
              </a:rPr>
              <a:t>"Low Quality" sınıfındaki başarısızlığı aşmak için, bu sınıfa özel olarak hücre sınırlarını deforme eden (Elastic Transform) ve kısmi görünüm kapanmasını öğreten (RandomErasing) agresif veri artırım teknikleri uygulandı.</a:t>
            </a:r>
          </a:p>
        </p:txBody>
      </p:sp>
      <p:sp>
        <p:nvSpPr>
          <p:cNvPr id="29" name="TextBox 29"/>
          <p:cNvSpPr txBox="1"/>
          <p:nvPr/>
        </p:nvSpPr>
        <p:spPr>
          <a:xfrm>
            <a:off x="7590316" y="6676568"/>
            <a:ext cx="7579108" cy="396599"/>
          </a:xfrm>
          <a:prstGeom prst="rect">
            <a:avLst/>
          </a:prstGeom>
        </p:spPr>
        <p:txBody>
          <a:bodyPr lIns="0" tIns="0" rIns="0" bIns="0" rtlCol="0" anchor="t">
            <a:spAutoFit/>
          </a:bodyPr>
          <a:lstStyle/>
          <a:p>
            <a:pPr algn="just">
              <a:lnSpc>
                <a:spcPts val="3132"/>
              </a:lnSpc>
            </a:pPr>
            <a:r>
              <a:rPr lang="en-US" sz="2900" b="1">
                <a:solidFill>
                  <a:srgbClr val="000000"/>
                </a:solidFill>
                <a:latin typeface="Montserrat Bold"/>
                <a:ea typeface="Montserrat Bold"/>
                <a:cs typeface="Montserrat Bold"/>
                <a:sym typeface="Montserrat Bold"/>
              </a:rPr>
              <a:t>Matematiksel Çözüm (Weighted Loss):</a:t>
            </a:r>
          </a:p>
        </p:txBody>
      </p:sp>
      <p:sp>
        <p:nvSpPr>
          <p:cNvPr id="30" name="TextBox 30"/>
          <p:cNvSpPr txBox="1"/>
          <p:nvPr/>
        </p:nvSpPr>
        <p:spPr>
          <a:xfrm>
            <a:off x="7590316" y="7218435"/>
            <a:ext cx="7579108" cy="1944261"/>
          </a:xfrm>
          <a:prstGeom prst="rect">
            <a:avLst/>
          </a:prstGeom>
        </p:spPr>
        <p:txBody>
          <a:bodyPr lIns="0" tIns="0" rIns="0" bIns="0" rtlCol="0" anchor="t">
            <a:spAutoFit/>
          </a:bodyPr>
          <a:lstStyle/>
          <a:p>
            <a:pPr algn="just">
              <a:lnSpc>
                <a:spcPts val="3079"/>
              </a:lnSpc>
            </a:pPr>
            <a:r>
              <a:rPr lang="en-US" sz="2199" b="1">
                <a:solidFill>
                  <a:srgbClr val="000000"/>
                </a:solidFill>
                <a:latin typeface="Quicksand Semi-Bold"/>
                <a:ea typeface="Quicksand Semi-Bold"/>
                <a:cs typeface="Quicksand Semi-Bold"/>
                <a:sym typeface="Quicksand Semi-Bold"/>
              </a:rPr>
              <a:t>Sadece resimleri çoğaltmakla kalınmadı; kayıp fonksiyonu (Weighted Cross-Entropy) değiştirerek, modele kötü kaliteli bir embriyoyu yanlış bilmesi durumunda 3 kat daha fazla matematiksel ceza verdik. Böylece model bu sınıfı ciddiye almayı öğrendi.</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1677723" y="1320423"/>
            <a:ext cx="5581577" cy="5581577"/>
            <a:chOff x="0" y="0"/>
            <a:chExt cx="812800" cy="812800"/>
          </a:xfrm>
        </p:grpSpPr>
        <p:sp>
          <p:nvSpPr>
            <p:cNvPr id="3" name="Freeform 3"/>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1">
              <a:gsLst>
                <a:gs pos="0">
                  <a:srgbClr val="377FD6">
                    <a:alpha val="31000"/>
                  </a:srgbClr>
                </a:gs>
                <a:gs pos="100000">
                  <a:srgbClr val="CBE2FF">
                    <a:alpha val="31000"/>
                  </a:srgbClr>
                </a:gs>
              </a:gsLst>
              <a:lin ang="5400000"/>
            </a:gradFill>
          </p:spPr>
          <p:txBody>
            <a:bodyPr/>
            <a:lstStyle/>
            <a:p>
              <a:endParaRPr lang="tr-TR"/>
            </a:p>
          </p:txBody>
        </p:sp>
        <p:sp>
          <p:nvSpPr>
            <p:cNvPr id="4" name="TextBox 4"/>
            <p:cNvSpPr txBox="1"/>
            <p:nvPr/>
          </p:nvSpPr>
          <p:spPr>
            <a:xfrm>
              <a:off x="76200" y="47625"/>
              <a:ext cx="660400" cy="688975"/>
            </a:xfrm>
            <a:prstGeom prst="rect">
              <a:avLst/>
            </a:prstGeom>
          </p:spPr>
          <p:txBody>
            <a:bodyPr lIns="50800" tIns="50800" rIns="50800" bIns="50800" rtlCol="0" anchor="ctr"/>
            <a:lstStyle/>
            <a:p>
              <a:pPr algn="ctr">
                <a:lnSpc>
                  <a:spcPts val="2520"/>
                </a:lnSpc>
              </a:pPr>
              <a:endParaRPr/>
            </a:p>
          </p:txBody>
        </p:sp>
      </p:grpSp>
      <p:grpSp>
        <p:nvGrpSpPr>
          <p:cNvPr id="5" name="Group 5"/>
          <p:cNvGrpSpPr/>
          <p:nvPr/>
        </p:nvGrpSpPr>
        <p:grpSpPr>
          <a:xfrm>
            <a:off x="14630120" y="585596"/>
            <a:ext cx="5581577" cy="5581577"/>
            <a:chOff x="0" y="0"/>
            <a:chExt cx="812800" cy="812800"/>
          </a:xfrm>
        </p:grpSpPr>
        <p:sp>
          <p:nvSpPr>
            <p:cNvPr id="6" name="Freeform 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1">
              <a:gsLst>
                <a:gs pos="0">
                  <a:srgbClr val="377FD6">
                    <a:alpha val="31000"/>
                  </a:srgbClr>
                </a:gs>
                <a:gs pos="100000">
                  <a:srgbClr val="CBE2FF">
                    <a:alpha val="31000"/>
                  </a:srgbClr>
                </a:gs>
              </a:gsLst>
              <a:lin ang="5400000"/>
            </a:gradFill>
          </p:spPr>
          <p:txBody>
            <a:bodyPr/>
            <a:lstStyle/>
            <a:p>
              <a:endParaRPr lang="tr-TR"/>
            </a:p>
          </p:txBody>
        </p:sp>
        <p:sp>
          <p:nvSpPr>
            <p:cNvPr id="7" name="TextBox 7"/>
            <p:cNvSpPr txBox="1"/>
            <p:nvPr/>
          </p:nvSpPr>
          <p:spPr>
            <a:xfrm>
              <a:off x="76200" y="47625"/>
              <a:ext cx="660400" cy="688975"/>
            </a:xfrm>
            <a:prstGeom prst="rect">
              <a:avLst/>
            </a:prstGeom>
          </p:spPr>
          <p:txBody>
            <a:bodyPr lIns="50800" tIns="50800" rIns="50800" bIns="50800" rtlCol="0" anchor="ctr"/>
            <a:lstStyle/>
            <a:p>
              <a:pPr algn="ctr">
                <a:lnSpc>
                  <a:spcPts val="2520"/>
                </a:lnSpc>
              </a:pPr>
              <a:endParaRPr/>
            </a:p>
          </p:txBody>
        </p:sp>
      </p:grpSp>
      <p:grpSp>
        <p:nvGrpSpPr>
          <p:cNvPr id="8" name="Group 8"/>
          <p:cNvGrpSpPr/>
          <p:nvPr/>
        </p:nvGrpSpPr>
        <p:grpSpPr>
          <a:xfrm>
            <a:off x="12580156" y="-579648"/>
            <a:ext cx="1928382" cy="1928382"/>
            <a:chOff x="0" y="0"/>
            <a:chExt cx="812800" cy="812800"/>
          </a:xfrm>
        </p:grpSpPr>
        <p:sp>
          <p:nvSpPr>
            <p:cNvPr id="9" name="Freeform 9"/>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1">
              <a:gsLst>
                <a:gs pos="0">
                  <a:srgbClr val="377FD6">
                    <a:alpha val="31000"/>
                  </a:srgbClr>
                </a:gs>
                <a:gs pos="100000">
                  <a:srgbClr val="CBE2FF">
                    <a:alpha val="31000"/>
                  </a:srgbClr>
                </a:gs>
              </a:gsLst>
              <a:lin ang="5400000"/>
            </a:gradFill>
          </p:spPr>
          <p:txBody>
            <a:bodyPr/>
            <a:lstStyle/>
            <a:p>
              <a:endParaRPr lang="tr-TR"/>
            </a:p>
          </p:txBody>
        </p:sp>
        <p:sp>
          <p:nvSpPr>
            <p:cNvPr id="10" name="TextBox 10"/>
            <p:cNvSpPr txBox="1"/>
            <p:nvPr/>
          </p:nvSpPr>
          <p:spPr>
            <a:xfrm>
              <a:off x="76200" y="47625"/>
              <a:ext cx="660400" cy="688975"/>
            </a:xfrm>
            <a:prstGeom prst="rect">
              <a:avLst/>
            </a:prstGeom>
          </p:spPr>
          <p:txBody>
            <a:bodyPr lIns="50800" tIns="50800" rIns="50800" bIns="50800" rtlCol="0" anchor="ctr"/>
            <a:lstStyle/>
            <a:p>
              <a:pPr algn="ctr">
                <a:lnSpc>
                  <a:spcPts val="2520"/>
                </a:lnSpc>
              </a:pPr>
              <a:endParaRPr/>
            </a:p>
          </p:txBody>
        </p:sp>
      </p:grpSp>
      <p:grpSp>
        <p:nvGrpSpPr>
          <p:cNvPr id="11" name="Group 11"/>
          <p:cNvGrpSpPr/>
          <p:nvPr/>
        </p:nvGrpSpPr>
        <p:grpSpPr>
          <a:xfrm>
            <a:off x="9644016" y="2729860"/>
            <a:ext cx="8734482" cy="8734482"/>
            <a:chOff x="0" y="0"/>
            <a:chExt cx="812800" cy="812800"/>
          </a:xfrm>
        </p:grpSpPr>
        <p:sp>
          <p:nvSpPr>
            <p:cNvPr id="12" name="Freeform 12"/>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2"/>
              <a:stretch>
                <a:fillRect l="-3997" r="-46095"/>
              </a:stretch>
            </a:blipFill>
          </p:spPr>
          <p:txBody>
            <a:bodyPr/>
            <a:lstStyle/>
            <a:p>
              <a:endParaRPr lang="tr-TR"/>
            </a:p>
          </p:txBody>
        </p:sp>
      </p:grpSp>
      <p:grpSp>
        <p:nvGrpSpPr>
          <p:cNvPr id="13" name="Group 13"/>
          <p:cNvGrpSpPr/>
          <p:nvPr/>
        </p:nvGrpSpPr>
        <p:grpSpPr>
          <a:xfrm>
            <a:off x="-1555231" y="2156869"/>
            <a:ext cx="8505303" cy="3805653"/>
            <a:chOff x="0" y="0"/>
            <a:chExt cx="11340404" cy="5074204"/>
          </a:xfrm>
        </p:grpSpPr>
        <p:grpSp>
          <p:nvGrpSpPr>
            <p:cNvPr id="14" name="Group 14"/>
            <p:cNvGrpSpPr/>
            <p:nvPr/>
          </p:nvGrpSpPr>
          <p:grpSpPr>
            <a:xfrm>
              <a:off x="240465" y="284772"/>
              <a:ext cx="11099939" cy="4789432"/>
              <a:chOff x="0" y="0"/>
              <a:chExt cx="1712954" cy="739110"/>
            </a:xfrm>
          </p:grpSpPr>
          <p:sp>
            <p:nvSpPr>
              <p:cNvPr id="15" name="Freeform 15"/>
              <p:cNvSpPr/>
              <p:nvPr/>
            </p:nvSpPr>
            <p:spPr>
              <a:xfrm>
                <a:off x="0" y="0"/>
                <a:ext cx="1712954" cy="739110"/>
              </a:xfrm>
              <a:custGeom>
                <a:avLst/>
                <a:gdLst/>
                <a:ahLst/>
                <a:cxnLst/>
                <a:rect l="l" t="t" r="r" b="b"/>
                <a:pathLst>
                  <a:path w="1712954" h="739110">
                    <a:moveTo>
                      <a:pt x="18163" y="0"/>
                    </a:moveTo>
                    <a:lnTo>
                      <a:pt x="1694790" y="0"/>
                    </a:lnTo>
                    <a:cubicBezTo>
                      <a:pt x="1704822" y="0"/>
                      <a:pt x="1712954" y="8132"/>
                      <a:pt x="1712954" y="18163"/>
                    </a:cubicBezTo>
                    <a:lnTo>
                      <a:pt x="1712954" y="720947"/>
                    </a:lnTo>
                    <a:cubicBezTo>
                      <a:pt x="1712954" y="725764"/>
                      <a:pt x="1711040" y="730384"/>
                      <a:pt x="1707634" y="733790"/>
                    </a:cubicBezTo>
                    <a:cubicBezTo>
                      <a:pt x="1704227" y="737196"/>
                      <a:pt x="1699607" y="739110"/>
                      <a:pt x="1694790" y="739110"/>
                    </a:cubicBezTo>
                    <a:lnTo>
                      <a:pt x="18163" y="739110"/>
                    </a:lnTo>
                    <a:cubicBezTo>
                      <a:pt x="8132" y="739110"/>
                      <a:pt x="0" y="730978"/>
                      <a:pt x="0" y="720947"/>
                    </a:cubicBezTo>
                    <a:lnTo>
                      <a:pt x="0" y="18163"/>
                    </a:lnTo>
                    <a:cubicBezTo>
                      <a:pt x="0" y="8132"/>
                      <a:pt x="8132" y="0"/>
                      <a:pt x="18163" y="0"/>
                    </a:cubicBezTo>
                    <a:close/>
                  </a:path>
                </a:pathLst>
              </a:custGeom>
              <a:solidFill>
                <a:srgbClr val="4E6C7E"/>
              </a:solidFill>
              <a:ln w="19050" cap="rnd">
                <a:solidFill>
                  <a:srgbClr val="4383D1"/>
                </a:solidFill>
                <a:prstDash val="solid"/>
                <a:round/>
              </a:ln>
            </p:spPr>
            <p:txBody>
              <a:bodyPr/>
              <a:lstStyle/>
              <a:p>
                <a:endParaRPr lang="tr-TR"/>
              </a:p>
            </p:txBody>
          </p:sp>
          <p:sp>
            <p:nvSpPr>
              <p:cNvPr id="16" name="TextBox 16"/>
              <p:cNvSpPr txBox="1"/>
              <p:nvPr/>
            </p:nvSpPr>
            <p:spPr>
              <a:xfrm>
                <a:off x="0" y="-28575"/>
                <a:ext cx="1712954" cy="767685"/>
              </a:xfrm>
              <a:prstGeom prst="rect">
                <a:avLst/>
              </a:prstGeom>
            </p:spPr>
            <p:txBody>
              <a:bodyPr lIns="50800" tIns="50800" rIns="50800" bIns="50800" rtlCol="0" anchor="ctr"/>
              <a:lstStyle/>
              <a:p>
                <a:pPr algn="ctr">
                  <a:lnSpc>
                    <a:spcPts val="2520"/>
                  </a:lnSpc>
                </a:pPr>
                <a:endParaRPr/>
              </a:p>
            </p:txBody>
          </p:sp>
        </p:grpSp>
        <p:grpSp>
          <p:nvGrpSpPr>
            <p:cNvPr id="17" name="Group 17"/>
            <p:cNvGrpSpPr/>
            <p:nvPr/>
          </p:nvGrpSpPr>
          <p:grpSpPr>
            <a:xfrm>
              <a:off x="0" y="0"/>
              <a:ext cx="11099939" cy="4789432"/>
              <a:chOff x="0" y="0"/>
              <a:chExt cx="1712954" cy="739110"/>
            </a:xfrm>
          </p:grpSpPr>
          <p:sp>
            <p:nvSpPr>
              <p:cNvPr id="18" name="Freeform 18"/>
              <p:cNvSpPr/>
              <p:nvPr/>
            </p:nvSpPr>
            <p:spPr>
              <a:xfrm>
                <a:off x="0" y="0"/>
                <a:ext cx="1712954" cy="739110"/>
              </a:xfrm>
              <a:custGeom>
                <a:avLst/>
                <a:gdLst/>
                <a:ahLst/>
                <a:cxnLst/>
                <a:rect l="l" t="t" r="r" b="b"/>
                <a:pathLst>
                  <a:path w="1712954" h="739110">
                    <a:moveTo>
                      <a:pt x="18163" y="0"/>
                    </a:moveTo>
                    <a:lnTo>
                      <a:pt x="1694790" y="0"/>
                    </a:lnTo>
                    <a:cubicBezTo>
                      <a:pt x="1704822" y="0"/>
                      <a:pt x="1712954" y="8132"/>
                      <a:pt x="1712954" y="18163"/>
                    </a:cubicBezTo>
                    <a:lnTo>
                      <a:pt x="1712954" y="720947"/>
                    </a:lnTo>
                    <a:cubicBezTo>
                      <a:pt x="1712954" y="725764"/>
                      <a:pt x="1711040" y="730384"/>
                      <a:pt x="1707634" y="733790"/>
                    </a:cubicBezTo>
                    <a:cubicBezTo>
                      <a:pt x="1704227" y="737196"/>
                      <a:pt x="1699607" y="739110"/>
                      <a:pt x="1694790" y="739110"/>
                    </a:cubicBezTo>
                    <a:lnTo>
                      <a:pt x="18163" y="739110"/>
                    </a:lnTo>
                    <a:cubicBezTo>
                      <a:pt x="8132" y="739110"/>
                      <a:pt x="0" y="730978"/>
                      <a:pt x="0" y="720947"/>
                    </a:cubicBezTo>
                    <a:lnTo>
                      <a:pt x="0" y="18163"/>
                    </a:lnTo>
                    <a:cubicBezTo>
                      <a:pt x="0" y="8132"/>
                      <a:pt x="8132" y="0"/>
                      <a:pt x="18163" y="0"/>
                    </a:cubicBezTo>
                    <a:close/>
                  </a:path>
                </a:pathLst>
              </a:custGeom>
              <a:solidFill>
                <a:srgbClr val="FFFFFF"/>
              </a:solidFill>
              <a:ln w="19050" cap="rnd">
                <a:solidFill>
                  <a:srgbClr val="4383D1"/>
                </a:solidFill>
                <a:prstDash val="solid"/>
                <a:round/>
              </a:ln>
            </p:spPr>
            <p:txBody>
              <a:bodyPr/>
              <a:lstStyle/>
              <a:p>
                <a:endParaRPr lang="tr-TR"/>
              </a:p>
            </p:txBody>
          </p:sp>
          <p:sp>
            <p:nvSpPr>
              <p:cNvPr id="19" name="TextBox 19"/>
              <p:cNvSpPr txBox="1"/>
              <p:nvPr/>
            </p:nvSpPr>
            <p:spPr>
              <a:xfrm>
                <a:off x="0" y="-28575"/>
                <a:ext cx="1712954" cy="767685"/>
              </a:xfrm>
              <a:prstGeom prst="rect">
                <a:avLst/>
              </a:prstGeom>
            </p:spPr>
            <p:txBody>
              <a:bodyPr lIns="50800" tIns="50800" rIns="50800" bIns="50800" rtlCol="0" anchor="ctr"/>
              <a:lstStyle/>
              <a:p>
                <a:pPr algn="ctr">
                  <a:lnSpc>
                    <a:spcPts val="2520"/>
                  </a:lnSpc>
                </a:pPr>
                <a:endParaRPr/>
              </a:p>
            </p:txBody>
          </p:sp>
        </p:grpSp>
      </p:grpSp>
      <p:grpSp>
        <p:nvGrpSpPr>
          <p:cNvPr id="20" name="Group 20"/>
          <p:cNvGrpSpPr/>
          <p:nvPr/>
        </p:nvGrpSpPr>
        <p:grpSpPr>
          <a:xfrm>
            <a:off x="7282470" y="2156869"/>
            <a:ext cx="4395254" cy="4395254"/>
            <a:chOff x="0" y="0"/>
            <a:chExt cx="812800" cy="812800"/>
          </a:xfrm>
        </p:grpSpPr>
        <p:sp>
          <p:nvSpPr>
            <p:cNvPr id="21" name="Freeform 21"/>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3"/>
              <a:stretch>
                <a:fillRect l="-25046" r="-25046"/>
              </a:stretch>
            </a:blipFill>
          </p:spPr>
          <p:txBody>
            <a:bodyPr/>
            <a:lstStyle/>
            <a:p>
              <a:endParaRPr lang="tr-TR"/>
            </a:p>
          </p:txBody>
        </p:sp>
      </p:grpSp>
      <p:grpSp>
        <p:nvGrpSpPr>
          <p:cNvPr id="22" name="Group 22"/>
          <p:cNvGrpSpPr/>
          <p:nvPr/>
        </p:nvGrpSpPr>
        <p:grpSpPr>
          <a:xfrm>
            <a:off x="337419" y="3080560"/>
            <a:ext cx="393928" cy="393928"/>
            <a:chOff x="0" y="0"/>
            <a:chExt cx="812800" cy="812800"/>
          </a:xfrm>
        </p:grpSpPr>
        <p:sp>
          <p:nvSpPr>
            <p:cNvPr id="23" name="Freeform 23"/>
            <p:cNvSpPr/>
            <p:nvPr/>
          </p:nvSpPr>
          <p:spPr>
            <a:xfrm>
              <a:off x="0" y="57562"/>
              <a:ext cx="772097" cy="697677"/>
            </a:xfrm>
            <a:custGeom>
              <a:avLst/>
              <a:gdLst/>
              <a:ahLst/>
              <a:cxnLst/>
              <a:rect l="l" t="t" r="r" b="b"/>
              <a:pathLst>
                <a:path w="772097" h="697677">
                  <a:moveTo>
                    <a:pt x="743316" y="279354"/>
                  </a:moveTo>
                  <a:lnTo>
                    <a:pt x="475884" y="11922"/>
                  </a:lnTo>
                  <a:cubicBezTo>
                    <a:pt x="464243" y="281"/>
                    <a:pt x="446736" y="-3201"/>
                    <a:pt x="431527" y="3099"/>
                  </a:cubicBezTo>
                  <a:cubicBezTo>
                    <a:pt x="416317" y="9399"/>
                    <a:pt x="406400" y="24241"/>
                    <a:pt x="406400" y="40704"/>
                  </a:cubicBezTo>
                  <a:lnTo>
                    <a:pt x="406400" y="47372"/>
                  </a:lnTo>
                  <a:cubicBezTo>
                    <a:pt x="406400" y="101643"/>
                    <a:pt x="362405" y="145638"/>
                    <a:pt x="308134" y="145638"/>
                  </a:cubicBezTo>
                  <a:lnTo>
                    <a:pt x="98266" y="145638"/>
                  </a:lnTo>
                  <a:cubicBezTo>
                    <a:pt x="43995" y="145638"/>
                    <a:pt x="0" y="189633"/>
                    <a:pt x="0" y="243904"/>
                  </a:cubicBezTo>
                  <a:lnTo>
                    <a:pt x="0" y="453772"/>
                  </a:lnTo>
                  <a:cubicBezTo>
                    <a:pt x="0" y="508043"/>
                    <a:pt x="43995" y="552038"/>
                    <a:pt x="98266" y="552038"/>
                  </a:cubicBezTo>
                  <a:lnTo>
                    <a:pt x="308134" y="552038"/>
                  </a:lnTo>
                  <a:cubicBezTo>
                    <a:pt x="362405" y="552038"/>
                    <a:pt x="406400" y="596033"/>
                    <a:pt x="406400" y="650304"/>
                  </a:cubicBezTo>
                  <a:lnTo>
                    <a:pt x="406400" y="656972"/>
                  </a:lnTo>
                  <a:cubicBezTo>
                    <a:pt x="406400" y="673435"/>
                    <a:pt x="416317" y="688277"/>
                    <a:pt x="431527" y="694577"/>
                  </a:cubicBezTo>
                  <a:cubicBezTo>
                    <a:pt x="446736" y="700877"/>
                    <a:pt x="464243" y="697395"/>
                    <a:pt x="475884" y="685754"/>
                  </a:cubicBezTo>
                  <a:lnTo>
                    <a:pt x="743316" y="418322"/>
                  </a:lnTo>
                  <a:cubicBezTo>
                    <a:pt x="781691" y="379947"/>
                    <a:pt x="781691" y="317729"/>
                    <a:pt x="743316" y="279354"/>
                  </a:cubicBezTo>
                  <a:close/>
                </a:path>
              </a:pathLst>
            </a:custGeom>
            <a:solidFill>
              <a:srgbClr val="4E6C7E"/>
            </a:solidFill>
          </p:spPr>
          <p:txBody>
            <a:bodyPr/>
            <a:lstStyle/>
            <a:p>
              <a:endParaRPr lang="tr-TR"/>
            </a:p>
          </p:txBody>
        </p:sp>
        <p:sp>
          <p:nvSpPr>
            <p:cNvPr id="24" name="TextBox 24"/>
            <p:cNvSpPr txBox="1"/>
            <p:nvPr/>
          </p:nvSpPr>
          <p:spPr>
            <a:xfrm>
              <a:off x="0" y="174625"/>
              <a:ext cx="711200" cy="434975"/>
            </a:xfrm>
            <a:prstGeom prst="rect">
              <a:avLst/>
            </a:prstGeom>
          </p:spPr>
          <p:txBody>
            <a:bodyPr lIns="50800" tIns="50800" rIns="50800" bIns="50800" rtlCol="0" anchor="ctr"/>
            <a:lstStyle/>
            <a:p>
              <a:pPr algn="ctr">
                <a:lnSpc>
                  <a:spcPts val="2520"/>
                </a:lnSpc>
              </a:pPr>
              <a:endParaRPr/>
            </a:p>
          </p:txBody>
        </p:sp>
      </p:grpSp>
      <p:grpSp>
        <p:nvGrpSpPr>
          <p:cNvPr id="25" name="Group 25"/>
          <p:cNvGrpSpPr/>
          <p:nvPr/>
        </p:nvGrpSpPr>
        <p:grpSpPr>
          <a:xfrm>
            <a:off x="-1555231" y="6329009"/>
            <a:ext cx="10193008" cy="3459120"/>
            <a:chOff x="0" y="0"/>
            <a:chExt cx="13590678" cy="4612160"/>
          </a:xfrm>
        </p:grpSpPr>
        <p:grpSp>
          <p:nvGrpSpPr>
            <p:cNvPr id="26" name="Group 26"/>
            <p:cNvGrpSpPr/>
            <p:nvPr/>
          </p:nvGrpSpPr>
          <p:grpSpPr>
            <a:xfrm>
              <a:off x="288180" y="258841"/>
              <a:ext cx="13302497" cy="4353319"/>
              <a:chOff x="0" y="0"/>
              <a:chExt cx="2052855" cy="671809"/>
            </a:xfrm>
          </p:grpSpPr>
          <p:sp>
            <p:nvSpPr>
              <p:cNvPr id="27" name="Freeform 27"/>
              <p:cNvSpPr/>
              <p:nvPr/>
            </p:nvSpPr>
            <p:spPr>
              <a:xfrm>
                <a:off x="0" y="0"/>
                <a:ext cx="2052855" cy="671809"/>
              </a:xfrm>
              <a:custGeom>
                <a:avLst/>
                <a:gdLst/>
                <a:ahLst/>
                <a:cxnLst/>
                <a:rect l="l" t="t" r="r" b="b"/>
                <a:pathLst>
                  <a:path w="2052855" h="671809">
                    <a:moveTo>
                      <a:pt x="15156" y="0"/>
                    </a:moveTo>
                    <a:lnTo>
                      <a:pt x="2037698" y="0"/>
                    </a:lnTo>
                    <a:cubicBezTo>
                      <a:pt x="2041718" y="0"/>
                      <a:pt x="2045573" y="1597"/>
                      <a:pt x="2048415" y="4439"/>
                    </a:cubicBezTo>
                    <a:cubicBezTo>
                      <a:pt x="2051258" y="7281"/>
                      <a:pt x="2052855" y="11136"/>
                      <a:pt x="2052855" y="15156"/>
                    </a:cubicBezTo>
                    <a:lnTo>
                      <a:pt x="2052855" y="656653"/>
                    </a:lnTo>
                    <a:cubicBezTo>
                      <a:pt x="2052855" y="660672"/>
                      <a:pt x="2051258" y="664527"/>
                      <a:pt x="2048415" y="667369"/>
                    </a:cubicBezTo>
                    <a:cubicBezTo>
                      <a:pt x="2045573" y="670212"/>
                      <a:pt x="2041718" y="671809"/>
                      <a:pt x="2037698" y="671809"/>
                    </a:cubicBezTo>
                    <a:lnTo>
                      <a:pt x="15156" y="671809"/>
                    </a:lnTo>
                    <a:cubicBezTo>
                      <a:pt x="11136" y="671809"/>
                      <a:pt x="7281" y="670212"/>
                      <a:pt x="4439" y="667369"/>
                    </a:cubicBezTo>
                    <a:cubicBezTo>
                      <a:pt x="1597" y="664527"/>
                      <a:pt x="0" y="660672"/>
                      <a:pt x="0" y="656653"/>
                    </a:cubicBezTo>
                    <a:lnTo>
                      <a:pt x="0" y="15156"/>
                    </a:lnTo>
                    <a:cubicBezTo>
                      <a:pt x="0" y="11136"/>
                      <a:pt x="1597" y="7281"/>
                      <a:pt x="4439" y="4439"/>
                    </a:cubicBezTo>
                    <a:cubicBezTo>
                      <a:pt x="7281" y="1597"/>
                      <a:pt x="11136" y="0"/>
                      <a:pt x="15156" y="0"/>
                    </a:cubicBezTo>
                    <a:close/>
                  </a:path>
                </a:pathLst>
              </a:custGeom>
              <a:solidFill>
                <a:srgbClr val="4E6C7E"/>
              </a:solidFill>
              <a:ln w="19050" cap="rnd">
                <a:solidFill>
                  <a:srgbClr val="4383D1"/>
                </a:solidFill>
                <a:prstDash val="solid"/>
                <a:round/>
              </a:ln>
            </p:spPr>
            <p:txBody>
              <a:bodyPr/>
              <a:lstStyle/>
              <a:p>
                <a:endParaRPr lang="tr-TR"/>
              </a:p>
            </p:txBody>
          </p:sp>
          <p:sp>
            <p:nvSpPr>
              <p:cNvPr id="28" name="TextBox 28"/>
              <p:cNvSpPr txBox="1"/>
              <p:nvPr/>
            </p:nvSpPr>
            <p:spPr>
              <a:xfrm>
                <a:off x="0" y="-28575"/>
                <a:ext cx="2052855" cy="700384"/>
              </a:xfrm>
              <a:prstGeom prst="rect">
                <a:avLst/>
              </a:prstGeom>
            </p:spPr>
            <p:txBody>
              <a:bodyPr lIns="50800" tIns="50800" rIns="50800" bIns="50800" rtlCol="0" anchor="ctr"/>
              <a:lstStyle/>
              <a:p>
                <a:pPr algn="ctr">
                  <a:lnSpc>
                    <a:spcPts val="2520"/>
                  </a:lnSpc>
                </a:pPr>
                <a:endParaRPr/>
              </a:p>
            </p:txBody>
          </p:sp>
        </p:grpSp>
        <p:grpSp>
          <p:nvGrpSpPr>
            <p:cNvPr id="29" name="Group 29"/>
            <p:cNvGrpSpPr/>
            <p:nvPr/>
          </p:nvGrpSpPr>
          <p:grpSpPr>
            <a:xfrm>
              <a:off x="0" y="0"/>
              <a:ext cx="13302497" cy="4353319"/>
              <a:chOff x="0" y="0"/>
              <a:chExt cx="2052855" cy="671809"/>
            </a:xfrm>
          </p:grpSpPr>
          <p:sp>
            <p:nvSpPr>
              <p:cNvPr id="30" name="Freeform 30"/>
              <p:cNvSpPr/>
              <p:nvPr/>
            </p:nvSpPr>
            <p:spPr>
              <a:xfrm>
                <a:off x="0" y="0"/>
                <a:ext cx="2052855" cy="671809"/>
              </a:xfrm>
              <a:custGeom>
                <a:avLst/>
                <a:gdLst/>
                <a:ahLst/>
                <a:cxnLst/>
                <a:rect l="l" t="t" r="r" b="b"/>
                <a:pathLst>
                  <a:path w="2052855" h="671809">
                    <a:moveTo>
                      <a:pt x="15156" y="0"/>
                    </a:moveTo>
                    <a:lnTo>
                      <a:pt x="2037698" y="0"/>
                    </a:lnTo>
                    <a:cubicBezTo>
                      <a:pt x="2041718" y="0"/>
                      <a:pt x="2045573" y="1597"/>
                      <a:pt x="2048415" y="4439"/>
                    </a:cubicBezTo>
                    <a:cubicBezTo>
                      <a:pt x="2051258" y="7281"/>
                      <a:pt x="2052855" y="11136"/>
                      <a:pt x="2052855" y="15156"/>
                    </a:cubicBezTo>
                    <a:lnTo>
                      <a:pt x="2052855" y="656653"/>
                    </a:lnTo>
                    <a:cubicBezTo>
                      <a:pt x="2052855" y="660672"/>
                      <a:pt x="2051258" y="664527"/>
                      <a:pt x="2048415" y="667369"/>
                    </a:cubicBezTo>
                    <a:cubicBezTo>
                      <a:pt x="2045573" y="670212"/>
                      <a:pt x="2041718" y="671809"/>
                      <a:pt x="2037698" y="671809"/>
                    </a:cubicBezTo>
                    <a:lnTo>
                      <a:pt x="15156" y="671809"/>
                    </a:lnTo>
                    <a:cubicBezTo>
                      <a:pt x="11136" y="671809"/>
                      <a:pt x="7281" y="670212"/>
                      <a:pt x="4439" y="667369"/>
                    </a:cubicBezTo>
                    <a:cubicBezTo>
                      <a:pt x="1597" y="664527"/>
                      <a:pt x="0" y="660672"/>
                      <a:pt x="0" y="656653"/>
                    </a:cubicBezTo>
                    <a:lnTo>
                      <a:pt x="0" y="15156"/>
                    </a:lnTo>
                    <a:cubicBezTo>
                      <a:pt x="0" y="11136"/>
                      <a:pt x="1597" y="7281"/>
                      <a:pt x="4439" y="4439"/>
                    </a:cubicBezTo>
                    <a:cubicBezTo>
                      <a:pt x="7281" y="1597"/>
                      <a:pt x="11136" y="0"/>
                      <a:pt x="15156" y="0"/>
                    </a:cubicBezTo>
                    <a:close/>
                  </a:path>
                </a:pathLst>
              </a:custGeom>
              <a:solidFill>
                <a:srgbClr val="FFFFFF"/>
              </a:solidFill>
              <a:ln w="19050" cap="rnd">
                <a:solidFill>
                  <a:srgbClr val="4383D1"/>
                </a:solidFill>
                <a:prstDash val="solid"/>
                <a:round/>
              </a:ln>
            </p:spPr>
            <p:txBody>
              <a:bodyPr/>
              <a:lstStyle/>
              <a:p>
                <a:endParaRPr lang="tr-TR"/>
              </a:p>
            </p:txBody>
          </p:sp>
          <p:sp>
            <p:nvSpPr>
              <p:cNvPr id="31" name="TextBox 31"/>
              <p:cNvSpPr txBox="1"/>
              <p:nvPr/>
            </p:nvSpPr>
            <p:spPr>
              <a:xfrm>
                <a:off x="0" y="-28575"/>
                <a:ext cx="2052855" cy="700384"/>
              </a:xfrm>
              <a:prstGeom prst="rect">
                <a:avLst/>
              </a:prstGeom>
            </p:spPr>
            <p:txBody>
              <a:bodyPr lIns="50800" tIns="50800" rIns="50800" bIns="50800" rtlCol="0" anchor="ctr"/>
              <a:lstStyle/>
              <a:p>
                <a:pPr algn="ctr">
                  <a:lnSpc>
                    <a:spcPts val="2520"/>
                  </a:lnSpc>
                </a:pPr>
                <a:endParaRPr/>
              </a:p>
            </p:txBody>
          </p:sp>
        </p:grpSp>
      </p:grpSp>
      <p:grpSp>
        <p:nvGrpSpPr>
          <p:cNvPr id="32" name="Group 32"/>
          <p:cNvGrpSpPr/>
          <p:nvPr/>
        </p:nvGrpSpPr>
        <p:grpSpPr>
          <a:xfrm>
            <a:off x="337419" y="7252699"/>
            <a:ext cx="393928" cy="393928"/>
            <a:chOff x="0" y="0"/>
            <a:chExt cx="812800" cy="812800"/>
          </a:xfrm>
        </p:grpSpPr>
        <p:sp>
          <p:nvSpPr>
            <p:cNvPr id="33" name="Freeform 33"/>
            <p:cNvSpPr/>
            <p:nvPr/>
          </p:nvSpPr>
          <p:spPr>
            <a:xfrm>
              <a:off x="0" y="57562"/>
              <a:ext cx="772097" cy="697677"/>
            </a:xfrm>
            <a:custGeom>
              <a:avLst/>
              <a:gdLst/>
              <a:ahLst/>
              <a:cxnLst/>
              <a:rect l="l" t="t" r="r" b="b"/>
              <a:pathLst>
                <a:path w="772097" h="697677">
                  <a:moveTo>
                    <a:pt x="743316" y="279354"/>
                  </a:moveTo>
                  <a:lnTo>
                    <a:pt x="475884" y="11922"/>
                  </a:lnTo>
                  <a:cubicBezTo>
                    <a:pt x="464243" y="281"/>
                    <a:pt x="446736" y="-3201"/>
                    <a:pt x="431527" y="3099"/>
                  </a:cubicBezTo>
                  <a:cubicBezTo>
                    <a:pt x="416317" y="9399"/>
                    <a:pt x="406400" y="24241"/>
                    <a:pt x="406400" y="40704"/>
                  </a:cubicBezTo>
                  <a:lnTo>
                    <a:pt x="406400" y="47372"/>
                  </a:lnTo>
                  <a:cubicBezTo>
                    <a:pt x="406400" y="101643"/>
                    <a:pt x="362405" y="145638"/>
                    <a:pt x="308134" y="145638"/>
                  </a:cubicBezTo>
                  <a:lnTo>
                    <a:pt x="98266" y="145638"/>
                  </a:lnTo>
                  <a:cubicBezTo>
                    <a:pt x="43995" y="145638"/>
                    <a:pt x="0" y="189633"/>
                    <a:pt x="0" y="243904"/>
                  </a:cubicBezTo>
                  <a:lnTo>
                    <a:pt x="0" y="453772"/>
                  </a:lnTo>
                  <a:cubicBezTo>
                    <a:pt x="0" y="508043"/>
                    <a:pt x="43995" y="552038"/>
                    <a:pt x="98266" y="552038"/>
                  </a:cubicBezTo>
                  <a:lnTo>
                    <a:pt x="308134" y="552038"/>
                  </a:lnTo>
                  <a:cubicBezTo>
                    <a:pt x="362405" y="552038"/>
                    <a:pt x="406400" y="596033"/>
                    <a:pt x="406400" y="650304"/>
                  </a:cubicBezTo>
                  <a:lnTo>
                    <a:pt x="406400" y="656972"/>
                  </a:lnTo>
                  <a:cubicBezTo>
                    <a:pt x="406400" y="673435"/>
                    <a:pt x="416317" y="688277"/>
                    <a:pt x="431527" y="694577"/>
                  </a:cubicBezTo>
                  <a:cubicBezTo>
                    <a:pt x="446736" y="700877"/>
                    <a:pt x="464243" y="697395"/>
                    <a:pt x="475884" y="685754"/>
                  </a:cubicBezTo>
                  <a:lnTo>
                    <a:pt x="743316" y="418322"/>
                  </a:lnTo>
                  <a:cubicBezTo>
                    <a:pt x="781691" y="379947"/>
                    <a:pt x="781691" y="317729"/>
                    <a:pt x="743316" y="279354"/>
                  </a:cubicBezTo>
                  <a:close/>
                </a:path>
              </a:pathLst>
            </a:custGeom>
            <a:solidFill>
              <a:srgbClr val="4E6C7E"/>
            </a:solidFill>
          </p:spPr>
          <p:txBody>
            <a:bodyPr/>
            <a:lstStyle/>
            <a:p>
              <a:endParaRPr lang="tr-TR"/>
            </a:p>
          </p:txBody>
        </p:sp>
        <p:sp>
          <p:nvSpPr>
            <p:cNvPr id="34" name="TextBox 34"/>
            <p:cNvSpPr txBox="1"/>
            <p:nvPr/>
          </p:nvSpPr>
          <p:spPr>
            <a:xfrm>
              <a:off x="0" y="174625"/>
              <a:ext cx="711200" cy="434975"/>
            </a:xfrm>
            <a:prstGeom prst="rect">
              <a:avLst/>
            </a:prstGeom>
          </p:spPr>
          <p:txBody>
            <a:bodyPr lIns="50800" tIns="50800" rIns="50800" bIns="50800" rtlCol="0" anchor="ctr"/>
            <a:lstStyle/>
            <a:p>
              <a:pPr algn="ctr">
                <a:lnSpc>
                  <a:spcPts val="2520"/>
                </a:lnSpc>
              </a:pPr>
              <a:endParaRPr/>
            </a:p>
          </p:txBody>
        </p:sp>
      </p:grpSp>
      <p:sp>
        <p:nvSpPr>
          <p:cNvPr id="35" name="TextBox 35"/>
          <p:cNvSpPr txBox="1"/>
          <p:nvPr/>
        </p:nvSpPr>
        <p:spPr>
          <a:xfrm>
            <a:off x="918810" y="837501"/>
            <a:ext cx="16440881" cy="870585"/>
          </a:xfrm>
          <a:prstGeom prst="rect">
            <a:avLst/>
          </a:prstGeom>
        </p:spPr>
        <p:txBody>
          <a:bodyPr lIns="0" tIns="0" rIns="0" bIns="0" rtlCol="0" anchor="t">
            <a:spAutoFit/>
          </a:bodyPr>
          <a:lstStyle/>
          <a:p>
            <a:pPr marL="0" lvl="0" indent="0" algn="l">
              <a:lnSpc>
                <a:spcPts val="7139"/>
              </a:lnSpc>
              <a:spcBef>
                <a:spcPct val="0"/>
              </a:spcBef>
            </a:pPr>
            <a:r>
              <a:rPr lang="en-US" sz="5100" b="1" u="none" strike="noStrike">
                <a:solidFill>
                  <a:srgbClr val="154562"/>
                </a:solidFill>
                <a:latin typeface="Montserrat Ultra-Bold"/>
                <a:ea typeface="Montserrat Ultra-Bold"/>
                <a:cs typeface="Montserrat Ultra-Bold"/>
                <a:sym typeface="Montserrat Ultra-Bold"/>
              </a:rPr>
              <a:t>V2 - Klinik Odaklı TensorFlow Modeli</a:t>
            </a:r>
          </a:p>
        </p:txBody>
      </p:sp>
      <p:sp>
        <p:nvSpPr>
          <p:cNvPr id="36" name="TextBox 36"/>
          <p:cNvSpPr txBox="1"/>
          <p:nvPr/>
        </p:nvSpPr>
        <p:spPr>
          <a:xfrm>
            <a:off x="818419" y="2560135"/>
            <a:ext cx="5450620" cy="396599"/>
          </a:xfrm>
          <a:prstGeom prst="rect">
            <a:avLst/>
          </a:prstGeom>
        </p:spPr>
        <p:txBody>
          <a:bodyPr lIns="0" tIns="0" rIns="0" bIns="0" rtlCol="0" anchor="t">
            <a:spAutoFit/>
          </a:bodyPr>
          <a:lstStyle/>
          <a:p>
            <a:pPr algn="just">
              <a:lnSpc>
                <a:spcPts val="3132"/>
              </a:lnSpc>
            </a:pPr>
            <a:r>
              <a:rPr lang="en-US" sz="2900" b="1">
                <a:solidFill>
                  <a:srgbClr val="000000"/>
                </a:solidFill>
                <a:latin typeface="Montserrat Bold"/>
                <a:ea typeface="Montserrat Bold"/>
                <a:cs typeface="Montserrat Bold"/>
                <a:sym typeface="Montserrat Bold"/>
              </a:rPr>
              <a:t>Gerçek Tıbba Uyum Süreci:</a:t>
            </a:r>
          </a:p>
        </p:txBody>
      </p:sp>
      <p:sp>
        <p:nvSpPr>
          <p:cNvPr id="37" name="TextBox 37"/>
          <p:cNvSpPr txBox="1"/>
          <p:nvPr/>
        </p:nvSpPr>
        <p:spPr>
          <a:xfrm>
            <a:off x="818419" y="3023410"/>
            <a:ext cx="5566153" cy="2399030"/>
          </a:xfrm>
          <a:prstGeom prst="rect">
            <a:avLst/>
          </a:prstGeom>
        </p:spPr>
        <p:txBody>
          <a:bodyPr lIns="0" tIns="0" rIns="0" bIns="0" rtlCol="0" anchor="t">
            <a:spAutoFit/>
          </a:bodyPr>
          <a:lstStyle/>
          <a:p>
            <a:pPr algn="just">
              <a:lnSpc>
                <a:spcPts val="3219"/>
              </a:lnSpc>
            </a:pPr>
            <a:r>
              <a:rPr lang="en-US" sz="2299" b="1">
                <a:solidFill>
                  <a:srgbClr val="000000"/>
                </a:solidFill>
                <a:latin typeface="Quicksand Semi-Bold"/>
                <a:ea typeface="Quicksand Semi-Bold"/>
                <a:cs typeface="Quicksand Semi-Bold"/>
                <a:sym typeface="Quicksand Semi-Bold"/>
              </a:rPr>
              <a:t>PyTorch modelinde kullanılan "Erken Evre (Cleavage)" sınıfının, 5. gün embriyo transfer kararında doğrudan bir klinik karşılığı olmadığı fark edildi. Bu yüzden modeli değiştirmeye karar verildi.</a:t>
            </a:r>
          </a:p>
        </p:txBody>
      </p:sp>
      <p:sp>
        <p:nvSpPr>
          <p:cNvPr id="38" name="TextBox 38"/>
          <p:cNvSpPr txBox="1"/>
          <p:nvPr/>
        </p:nvSpPr>
        <p:spPr>
          <a:xfrm>
            <a:off x="818419" y="6713225"/>
            <a:ext cx="5450620" cy="396599"/>
          </a:xfrm>
          <a:prstGeom prst="rect">
            <a:avLst/>
          </a:prstGeom>
        </p:spPr>
        <p:txBody>
          <a:bodyPr lIns="0" tIns="0" rIns="0" bIns="0" rtlCol="0" anchor="t">
            <a:spAutoFit/>
          </a:bodyPr>
          <a:lstStyle/>
          <a:p>
            <a:pPr algn="just">
              <a:lnSpc>
                <a:spcPts val="3132"/>
              </a:lnSpc>
            </a:pPr>
            <a:r>
              <a:rPr lang="en-US" sz="2900" b="1">
                <a:solidFill>
                  <a:srgbClr val="000000"/>
                </a:solidFill>
                <a:latin typeface="Montserrat Bold"/>
                <a:ea typeface="Montserrat Bold"/>
                <a:cs typeface="Montserrat Bold"/>
                <a:sym typeface="Montserrat Bold"/>
              </a:rPr>
              <a:t>Klinik Sınıflara Geçiş:</a:t>
            </a:r>
          </a:p>
        </p:txBody>
      </p:sp>
      <p:sp>
        <p:nvSpPr>
          <p:cNvPr id="39" name="TextBox 39"/>
          <p:cNvSpPr txBox="1"/>
          <p:nvPr/>
        </p:nvSpPr>
        <p:spPr>
          <a:xfrm>
            <a:off x="818419" y="7205074"/>
            <a:ext cx="7307339" cy="1976620"/>
          </a:xfrm>
          <a:prstGeom prst="rect">
            <a:avLst/>
          </a:prstGeom>
        </p:spPr>
        <p:txBody>
          <a:bodyPr lIns="0" tIns="0" rIns="0" bIns="0" rtlCol="0" anchor="t">
            <a:spAutoFit/>
          </a:bodyPr>
          <a:lstStyle/>
          <a:p>
            <a:pPr algn="just">
              <a:lnSpc>
                <a:spcPts val="3919"/>
              </a:lnSpc>
            </a:pPr>
            <a:r>
              <a:rPr lang="en-US" sz="2799" b="1">
                <a:solidFill>
                  <a:srgbClr val="000000"/>
                </a:solidFill>
                <a:latin typeface="Quicksand Semi-Bold"/>
                <a:ea typeface="Quicksand Semi-Bold"/>
                <a:cs typeface="Quicksand Semi-Bold"/>
                <a:sym typeface="Quicksand Semi-Bold"/>
              </a:rPr>
              <a:t>TensorFlow kullanarak; klinikte birebir kullanılan Good (İyi/Transfer Edilir), Fair (Orta) ve Poor (Kötü/Riskli) sınıflarını içeren yapay zeka modelimizi eğittik.</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1677723" y="1320423"/>
            <a:ext cx="5581577" cy="5581577"/>
            <a:chOff x="0" y="0"/>
            <a:chExt cx="812800" cy="812800"/>
          </a:xfrm>
        </p:grpSpPr>
        <p:sp>
          <p:nvSpPr>
            <p:cNvPr id="3" name="Freeform 3"/>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1">
              <a:gsLst>
                <a:gs pos="0">
                  <a:srgbClr val="377FD6">
                    <a:alpha val="31000"/>
                  </a:srgbClr>
                </a:gs>
                <a:gs pos="100000">
                  <a:srgbClr val="CBE2FF">
                    <a:alpha val="31000"/>
                  </a:srgbClr>
                </a:gs>
              </a:gsLst>
              <a:lin ang="5400000"/>
            </a:gradFill>
          </p:spPr>
          <p:txBody>
            <a:bodyPr/>
            <a:lstStyle/>
            <a:p>
              <a:endParaRPr lang="tr-TR"/>
            </a:p>
          </p:txBody>
        </p:sp>
        <p:sp>
          <p:nvSpPr>
            <p:cNvPr id="4" name="TextBox 4"/>
            <p:cNvSpPr txBox="1"/>
            <p:nvPr/>
          </p:nvSpPr>
          <p:spPr>
            <a:xfrm>
              <a:off x="76200" y="47625"/>
              <a:ext cx="660400" cy="688975"/>
            </a:xfrm>
            <a:prstGeom prst="rect">
              <a:avLst/>
            </a:prstGeom>
          </p:spPr>
          <p:txBody>
            <a:bodyPr lIns="50800" tIns="50800" rIns="50800" bIns="50800" rtlCol="0" anchor="ctr"/>
            <a:lstStyle/>
            <a:p>
              <a:pPr algn="ctr">
                <a:lnSpc>
                  <a:spcPts val="2520"/>
                </a:lnSpc>
              </a:pPr>
              <a:endParaRPr/>
            </a:p>
          </p:txBody>
        </p:sp>
      </p:grpSp>
      <p:grpSp>
        <p:nvGrpSpPr>
          <p:cNvPr id="5" name="Group 5"/>
          <p:cNvGrpSpPr/>
          <p:nvPr/>
        </p:nvGrpSpPr>
        <p:grpSpPr>
          <a:xfrm>
            <a:off x="14630120" y="585596"/>
            <a:ext cx="5581577" cy="5581577"/>
            <a:chOff x="0" y="0"/>
            <a:chExt cx="812800" cy="812800"/>
          </a:xfrm>
        </p:grpSpPr>
        <p:sp>
          <p:nvSpPr>
            <p:cNvPr id="6" name="Freeform 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1">
              <a:gsLst>
                <a:gs pos="0">
                  <a:srgbClr val="377FD6">
                    <a:alpha val="31000"/>
                  </a:srgbClr>
                </a:gs>
                <a:gs pos="100000">
                  <a:srgbClr val="CBE2FF">
                    <a:alpha val="31000"/>
                  </a:srgbClr>
                </a:gs>
              </a:gsLst>
              <a:lin ang="5400000"/>
            </a:gradFill>
          </p:spPr>
          <p:txBody>
            <a:bodyPr/>
            <a:lstStyle/>
            <a:p>
              <a:endParaRPr lang="tr-TR"/>
            </a:p>
          </p:txBody>
        </p:sp>
        <p:sp>
          <p:nvSpPr>
            <p:cNvPr id="7" name="TextBox 7"/>
            <p:cNvSpPr txBox="1"/>
            <p:nvPr/>
          </p:nvSpPr>
          <p:spPr>
            <a:xfrm>
              <a:off x="76200" y="47625"/>
              <a:ext cx="660400" cy="688975"/>
            </a:xfrm>
            <a:prstGeom prst="rect">
              <a:avLst/>
            </a:prstGeom>
          </p:spPr>
          <p:txBody>
            <a:bodyPr lIns="50800" tIns="50800" rIns="50800" bIns="50800" rtlCol="0" anchor="ctr"/>
            <a:lstStyle/>
            <a:p>
              <a:pPr algn="ctr">
                <a:lnSpc>
                  <a:spcPts val="2520"/>
                </a:lnSpc>
              </a:pPr>
              <a:endParaRPr/>
            </a:p>
          </p:txBody>
        </p:sp>
      </p:grpSp>
      <p:grpSp>
        <p:nvGrpSpPr>
          <p:cNvPr id="8" name="Group 8"/>
          <p:cNvGrpSpPr/>
          <p:nvPr/>
        </p:nvGrpSpPr>
        <p:grpSpPr>
          <a:xfrm>
            <a:off x="12580156" y="-579648"/>
            <a:ext cx="1928382" cy="1928382"/>
            <a:chOff x="0" y="0"/>
            <a:chExt cx="812800" cy="812800"/>
          </a:xfrm>
        </p:grpSpPr>
        <p:sp>
          <p:nvSpPr>
            <p:cNvPr id="9" name="Freeform 9"/>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1">
              <a:gsLst>
                <a:gs pos="0">
                  <a:srgbClr val="377FD6">
                    <a:alpha val="31000"/>
                  </a:srgbClr>
                </a:gs>
                <a:gs pos="100000">
                  <a:srgbClr val="CBE2FF">
                    <a:alpha val="31000"/>
                  </a:srgbClr>
                </a:gs>
              </a:gsLst>
              <a:lin ang="5400000"/>
            </a:gradFill>
          </p:spPr>
          <p:txBody>
            <a:bodyPr/>
            <a:lstStyle/>
            <a:p>
              <a:endParaRPr lang="tr-TR"/>
            </a:p>
          </p:txBody>
        </p:sp>
        <p:sp>
          <p:nvSpPr>
            <p:cNvPr id="10" name="TextBox 10"/>
            <p:cNvSpPr txBox="1"/>
            <p:nvPr/>
          </p:nvSpPr>
          <p:spPr>
            <a:xfrm>
              <a:off x="76200" y="47625"/>
              <a:ext cx="660400" cy="688975"/>
            </a:xfrm>
            <a:prstGeom prst="rect">
              <a:avLst/>
            </a:prstGeom>
          </p:spPr>
          <p:txBody>
            <a:bodyPr lIns="50800" tIns="50800" rIns="50800" bIns="50800" rtlCol="0" anchor="ctr"/>
            <a:lstStyle/>
            <a:p>
              <a:pPr algn="ctr">
                <a:lnSpc>
                  <a:spcPts val="2520"/>
                </a:lnSpc>
              </a:pPr>
              <a:endParaRPr/>
            </a:p>
          </p:txBody>
        </p:sp>
      </p:grpSp>
      <p:sp>
        <p:nvSpPr>
          <p:cNvPr id="11" name="TextBox 11"/>
          <p:cNvSpPr txBox="1"/>
          <p:nvPr/>
        </p:nvSpPr>
        <p:spPr>
          <a:xfrm>
            <a:off x="918810" y="837501"/>
            <a:ext cx="16440881" cy="870585"/>
          </a:xfrm>
          <a:prstGeom prst="rect">
            <a:avLst/>
          </a:prstGeom>
        </p:spPr>
        <p:txBody>
          <a:bodyPr lIns="0" tIns="0" rIns="0" bIns="0" rtlCol="0" anchor="t">
            <a:spAutoFit/>
          </a:bodyPr>
          <a:lstStyle/>
          <a:p>
            <a:pPr marL="0" lvl="0" indent="0" algn="l">
              <a:lnSpc>
                <a:spcPts val="7139"/>
              </a:lnSpc>
              <a:spcBef>
                <a:spcPct val="0"/>
              </a:spcBef>
            </a:pPr>
            <a:r>
              <a:rPr lang="en-US" sz="5100" b="1" u="none" strike="noStrike">
                <a:solidFill>
                  <a:srgbClr val="154562"/>
                </a:solidFill>
                <a:latin typeface="Montserrat Ultra-Bold"/>
                <a:ea typeface="Montserrat Ultra-Bold"/>
                <a:cs typeface="Montserrat Ultra-Bold"/>
                <a:sym typeface="Montserrat Ultra-Bold"/>
              </a:rPr>
              <a:t>V2 - Klinik Odaklı TensorFlow Modeli</a:t>
            </a:r>
          </a:p>
        </p:txBody>
      </p:sp>
      <p:sp>
        <p:nvSpPr>
          <p:cNvPr id="12" name="Freeform 12"/>
          <p:cNvSpPr/>
          <p:nvPr/>
        </p:nvSpPr>
        <p:spPr>
          <a:xfrm>
            <a:off x="1028700" y="2016653"/>
            <a:ext cx="16230600" cy="6816852"/>
          </a:xfrm>
          <a:custGeom>
            <a:avLst/>
            <a:gdLst/>
            <a:ahLst/>
            <a:cxnLst/>
            <a:rect l="l" t="t" r="r" b="b"/>
            <a:pathLst>
              <a:path w="16230600" h="6816852">
                <a:moveTo>
                  <a:pt x="0" y="0"/>
                </a:moveTo>
                <a:lnTo>
                  <a:pt x="16230600" y="0"/>
                </a:lnTo>
                <a:lnTo>
                  <a:pt x="16230600" y="6816852"/>
                </a:lnTo>
                <a:lnTo>
                  <a:pt x="0" y="6816852"/>
                </a:lnTo>
                <a:lnTo>
                  <a:pt x="0" y="0"/>
                </a:lnTo>
                <a:close/>
              </a:path>
            </a:pathLst>
          </a:custGeom>
          <a:blipFill>
            <a:blip r:embed="rId2"/>
            <a:stretch>
              <a:fillRect/>
            </a:stretch>
          </a:blipFill>
          <a:ln w="47625" cap="rnd">
            <a:gradFill>
              <a:gsLst>
                <a:gs pos="0">
                  <a:srgbClr val="154562">
                    <a:alpha val="100000"/>
                  </a:srgbClr>
                </a:gs>
                <a:gs pos="100000">
                  <a:srgbClr val="6A8DA2">
                    <a:alpha val="100000"/>
                  </a:srgbClr>
                </a:gs>
              </a:gsLst>
              <a:lin ang="5400000"/>
            </a:gradFill>
            <a:prstDash val="solid"/>
            <a:round/>
          </a:ln>
        </p:spPr>
        <p:txBody>
          <a:bodyPr/>
          <a:lstStyle/>
          <a:p>
            <a:endParaRPr lang="tr-T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399193" y="7486448"/>
            <a:ext cx="5581577" cy="5581577"/>
            <a:chOff x="0" y="0"/>
            <a:chExt cx="812800" cy="812800"/>
          </a:xfrm>
        </p:grpSpPr>
        <p:sp>
          <p:nvSpPr>
            <p:cNvPr id="3" name="Freeform 3"/>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1">
              <a:gsLst>
                <a:gs pos="0">
                  <a:srgbClr val="377FD6">
                    <a:alpha val="8000"/>
                  </a:srgbClr>
                </a:gs>
                <a:gs pos="100000">
                  <a:srgbClr val="CBE2FF">
                    <a:alpha val="8000"/>
                  </a:srgbClr>
                </a:gs>
              </a:gsLst>
              <a:lin ang="5400000"/>
            </a:gradFill>
          </p:spPr>
          <p:txBody>
            <a:bodyPr/>
            <a:lstStyle/>
            <a:p>
              <a:endParaRPr lang="tr-TR"/>
            </a:p>
          </p:txBody>
        </p:sp>
        <p:sp>
          <p:nvSpPr>
            <p:cNvPr id="4" name="TextBox 4"/>
            <p:cNvSpPr txBox="1"/>
            <p:nvPr/>
          </p:nvSpPr>
          <p:spPr>
            <a:xfrm>
              <a:off x="76200" y="47625"/>
              <a:ext cx="660400" cy="688975"/>
            </a:xfrm>
            <a:prstGeom prst="rect">
              <a:avLst/>
            </a:prstGeom>
          </p:spPr>
          <p:txBody>
            <a:bodyPr lIns="50800" tIns="50800" rIns="50800" bIns="50800" rtlCol="0" anchor="ctr"/>
            <a:lstStyle/>
            <a:p>
              <a:pPr algn="ctr">
                <a:lnSpc>
                  <a:spcPts val="2520"/>
                </a:lnSpc>
              </a:pPr>
              <a:endParaRPr/>
            </a:p>
          </p:txBody>
        </p:sp>
      </p:grpSp>
      <p:grpSp>
        <p:nvGrpSpPr>
          <p:cNvPr id="5" name="Group 5"/>
          <p:cNvGrpSpPr/>
          <p:nvPr/>
        </p:nvGrpSpPr>
        <p:grpSpPr>
          <a:xfrm>
            <a:off x="705740" y="2036799"/>
            <a:ext cx="5918517" cy="3583662"/>
            <a:chOff x="0" y="0"/>
            <a:chExt cx="7891356" cy="4778216"/>
          </a:xfrm>
        </p:grpSpPr>
        <p:grpSp>
          <p:nvGrpSpPr>
            <p:cNvPr id="6" name="Group 6"/>
            <p:cNvGrpSpPr/>
            <p:nvPr/>
          </p:nvGrpSpPr>
          <p:grpSpPr>
            <a:xfrm>
              <a:off x="167330" y="268160"/>
              <a:ext cx="7724026" cy="4510056"/>
              <a:chOff x="0" y="0"/>
              <a:chExt cx="1624611" cy="948610"/>
            </a:xfrm>
          </p:grpSpPr>
          <p:sp>
            <p:nvSpPr>
              <p:cNvPr id="7" name="Freeform 7"/>
              <p:cNvSpPr/>
              <p:nvPr/>
            </p:nvSpPr>
            <p:spPr>
              <a:xfrm>
                <a:off x="0" y="0"/>
                <a:ext cx="1624611" cy="948610"/>
              </a:xfrm>
              <a:custGeom>
                <a:avLst/>
                <a:gdLst/>
                <a:ahLst/>
                <a:cxnLst/>
                <a:rect l="l" t="t" r="r" b="b"/>
                <a:pathLst>
                  <a:path w="1624611" h="948610">
                    <a:moveTo>
                      <a:pt x="26102" y="0"/>
                    </a:moveTo>
                    <a:lnTo>
                      <a:pt x="1598509" y="0"/>
                    </a:lnTo>
                    <a:cubicBezTo>
                      <a:pt x="1605431" y="0"/>
                      <a:pt x="1612070" y="2750"/>
                      <a:pt x="1616966" y="7645"/>
                    </a:cubicBezTo>
                    <a:cubicBezTo>
                      <a:pt x="1621861" y="12540"/>
                      <a:pt x="1624611" y="19179"/>
                      <a:pt x="1624611" y="26102"/>
                    </a:cubicBezTo>
                    <a:lnTo>
                      <a:pt x="1624611" y="922508"/>
                    </a:lnTo>
                    <a:cubicBezTo>
                      <a:pt x="1624611" y="929430"/>
                      <a:pt x="1621861" y="936069"/>
                      <a:pt x="1616966" y="940964"/>
                    </a:cubicBezTo>
                    <a:cubicBezTo>
                      <a:pt x="1612070" y="945860"/>
                      <a:pt x="1605431" y="948610"/>
                      <a:pt x="1598509" y="948610"/>
                    </a:cubicBezTo>
                    <a:lnTo>
                      <a:pt x="26102" y="948610"/>
                    </a:lnTo>
                    <a:cubicBezTo>
                      <a:pt x="19179" y="948610"/>
                      <a:pt x="12540" y="945860"/>
                      <a:pt x="7645" y="940964"/>
                    </a:cubicBezTo>
                    <a:cubicBezTo>
                      <a:pt x="2750" y="936069"/>
                      <a:pt x="0" y="929430"/>
                      <a:pt x="0" y="922508"/>
                    </a:cubicBezTo>
                    <a:lnTo>
                      <a:pt x="0" y="26102"/>
                    </a:lnTo>
                    <a:cubicBezTo>
                      <a:pt x="0" y="19179"/>
                      <a:pt x="2750" y="12540"/>
                      <a:pt x="7645" y="7645"/>
                    </a:cubicBezTo>
                    <a:cubicBezTo>
                      <a:pt x="12540" y="2750"/>
                      <a:pt x="19179" y="0"/>
                      <a:pt x="26102" y="0"/>
                    </a:cubicBezTo>
                    <a:close/>
                  </a:path>
                </a:pathLst>
              </a:custGeom>
              <a:solidFill>
                <a:srgbClr val="4E6C7E"/>
              </a:solidFill>
              <a:ln w="19050" cap="rnd">
                <a:solidFill>
                  <a:srgbClr val="4383D1"/>
                </a:solidFill>
                <a:prstDash val="solid"/>
                <a:round/>
              </a:ln>
            </p:spPr>
            <p:txBody>
              <a:bodyPr/>
              <a:lstStyle/>
              <a:p>
                <a:endParaRPr lang="tr-TR"/>
              </a:p>
            </p:txBody>
          </p:sp>
          <p:sp>
            <p:nvSpPr>
              <p:cNvPr id="8" name="TextBox 8"/>
              <p:cNvSpPr txBox="1"/>
              <p:nvPr/>
            </p:nvSpPr>
            <p:spPr>
              <a:xfrm>
                <a:off x="0" y="-28575"/>
                <a:ext cx="1624611" cy="977185"/>
              </a:xfrm>
              <a:prstGeom prst="rect">
                <a:avLst/>
              </a:prstGeom>
            </p:spPr>
            <p:txBody>
              <a:bodyPr lIns="37272" tIns="37272" rIns="37272" bIns="37272" rtlCol="0" anchor="ctr"/>
              <a:lstStyle/>
              <a:p>
                <a:pPr algn="ctr">
                  <a:lnSpc>
                    <a:spcPts val="2520"/>
                  </a:lnSpc>
                </a:pPr>
                <a:endParaRPr/>
              </a:p>
            </p:txBody>
          </p:sp>
        </p:grpSp>
        <p:grpSp>
          <p:nvGrpSpPr>
            <p:cNvPr id="9" name="Group 9"/>
            <p:cNvGrpSpPr/>
            <p:nvPr/>
          </p:nvGrpSpPr>
          <p:grpSpPr>
            <a:xfrm>
              <a:off x="0" y="0"/>
              <a:ext cx="7724026" cy="4510056"/>
              <a:chOff x="0" y="0"/>
              <a:chExt cx="1624611" cy="948610"/>
            </a:xfrm>
          </p:grpSpPr>
          <p:sp>
            <p:nvSpPr>
              <p:cNvPr id="10" name="Freeform 10"/>
              <p:cNvSpPr/>
              <p:nvPr/>
            </p:nvSpPr>
            <p:spPr>
              <a:xfrm>
                <a:off x="0" y="0"/>
                <a:ext cx="1624611" cy="948610"/>
              </a:xfrm>
              <a:custGeom>
                <a:avLst/>
                <a:gdLst/>
                <a:ahLst/>
                <a:cxnLst/>
                <a:rect l="l" t="t" r="r" b="b"/>
                <a:pathLst>
                  <a:path w="1624611" h="948610">
                    <a:moveTo>
                      <a:pt x="26102" y="0"/>
                    </a:moveTo>
                    <a:lnTo>
                      <a:pt x="1598509" y="0"/>
                    </a:lnTo>
                    <a:cubicBezTo>
                      <a:pt x="1605431" y="0"/>
                      <a:pt x="1612070" y="2750"/>
                      <a:pt x="1616966" y="7645"/>
                    </a:cubicBezTo>
                    <a:cubicBezTo>
                      <a:pt x="1621861" y="12540"/>
                      <a:pt x="1624611" y="19179"/>
                      <a:pt x="1624611" y="26102"/>
                    </a:cubicBezTo>
                    <a:lnTo>
                      <a:pt x="1624611" y="922508"/>
                    </a:lnTo>
                    <a:cubicBezTo>
                      <a:pt x="1624611" y="929430"/>
                      <a:pt x="1621861" y="936069"/>
                      <a:pt x="1616966" y="940964"/>
                    </a:cubicBezTo>
                    <a:cubicBezTo>
                      <a:pt x="1612070" y="945860"/>
                      <a:pt x="1605431" y="948610"/>
                      <a:pt x="1598509" y="948610"/>
                    </a:cubicBezTo>
                    <a:lnTo>
                      <a:pt x="26102" y="948610"/>
                    </a:lnTo>
                    <a:cubicBezTo>
                      <a:pt x="19179" y="948610"/>
                      <a:pt x="12540" y="945860"/>
                      <a:pt x="7645" y="940964"/>
                    </a:cubicBezTo>
                    <a:cubicBezTo>
                      <a:pt x="2750" y="936069"/>
                      <a:pt x="0" y="929430"/>
                      <a:pt x="0" y="922508"/>
                    </a:cubicBezTo>
                    <a:lnTo>
                      <a:pt x="0" y="26102"/>
                    </a:lnTo>
                    <a:cubicBezTo>
                      <a:pt x="0" y="19179"/>
                      <a:pt x="2750" y="12540"/>
                      <a:pt x="7645" y="7645"/>
                    </a:cubicBezTo>
                    <a:cubicBezTo>
                      <a:pt x="12540" y="2750"/>
                      <a:pt x="19179" y="0"/>
                      <a:pt x="26102" y="0"/>
                    </a:cubicBezTo>
                    <a:close/>
                  </a:path>
                </a:pathLst>
              </a:custGeom>
              <a:solidFill>
                <a:srgbClr val="FFFFFF"/>
              </a:solidFill>
              <a:ln w="19050" cap="rnd">
                <a:solidFill>
                  <a:srgbClr val="4383D1"/>
                </a:solidFill>
                <a:prstDash val="solid"/>
                <a:round/>
              </a:ln>
            </p:spPr>
            <p:txBody>
              <a:bodyPr/>
              <a:lstStyle/>
              <a:p>
                <a:endParaRPr lang="tr-TR"/>
              </a:p>
            </p:txBody>
          </p:sp>
          <p:sp>
            <p:nvSpPr>
              <p:cNvPr id="11" name="TextBox 11"/>
              <p:cNvSpPr txBox="1"/>
              <p:nvPr/>
            </p:nvSpPr>
            <p:spPr>
              <a:xfrm>
                <a:off x="0" y="-28575"/>
                <a:ext cx="1624611" cy="977185"/>
              </a:xfrm>
              <a:prstGeom prst="rect">
                <a:avLst/>
              </a:prstGeom>
            </p:spPr>
            <p:txBody>
              <a:bodyPr lIns="37272" tIns="37272" rIns="37272" bIns="37272" rtlCol="0" anchor="ctr"/>
              <a:lstStyle/>
              <a:p>
                <a:pPr algn="ctr">
                  <a:lnSpc>
                    <a:spcPts val="2520"/>
                  </a:lnSpc>
                </a:pPr>
                <a:endParaRPr/>
              </a:p>
            </p:txBody>
          </p:sp>
        </p:grpSp>
      </p:grpSp>
      <p:grpSp>
        <p:nvGrpSpPr>
          <p:cNvPr id="12" name="Group 12"/>
          <p:cNvGrpSpPr/>
          <p:nvPr/>
        </p:nvGrpSpPr>
        <p:grpSpPr>
          <a:xfrm>
            <a:off x="904909" y="2857688"/>
            <a:ext cx="393928" cy="393928"/>
            <a:chOff x="0" y="0"/>
            <a:chExt cx="812800" cy="812800"/>
          </a:xfrm>
        </p:grpSpPr>
        <p:sp>
          <p:nvSpPr>
            <p:cNvPr id="13" name="Freeform 13"/>
            <p:cNvSpPr/>
            <p:nvPr/>
          </p:nvSpPr>
          <p:spPr>
            <a:xfrm>
              <a:off x="0" y="57562"/>
              <a:ext cx="772097" cy="697677"/>
            </a:xfrm>
            <a:custGeom>
              <a:avLst/>
              <a:gdLst/>
              <a:ahLst/>
              <a:cxnLst/>
              <a:rect l="l" t="t" r="r" b="b"/>
              <a:pathLst>
                <a:path w="772097" h="697677">
                  <a:moveTo>
                    <a:pt x="743316" y="279354"/>
                  </a:moveTo>
                  <a:lnTo>
                    <a:pt x="475884" y="11922"/>
                  </a:lnTo>
                  <a:cubicBezTo>
                    <a:pt x="464243" y="281"/>
                    <a:pt x="446736" y="-3201"/>
                    <a:pt x="431527" y="3099"/>
                  </a:cubicBezTo>
                  <a:cubicBezTo>
                    <a:pt x="416317" y="9399"/>
                    <a:pt x="406400" y="24241"/>
                    <a:pt x="406400" y="40704"/>
                  </a:cubicBezTo>
                  <a:lnTo>
                    <a:pt x="406400" y="47372"/>
                  </a:lnTo>
                  <a:cubicBezTo>
                    <a:pt x="406400" y="101643"/>
                    <a:pt x="362405" y="145638"/>
                    <a:pt x="308134" y="145638"/>
                  </a:cubicBezTo>
                  <a:lnTo>
                    <a:pt x="98266" y="145638"/>
                  </a:lnTo>
                  <a:cubicBezTo>
                    <a:pt x="43995" y="145638"/>
                    <a:pt x="0" y="189633"/>
                    <a:pt x="0" y="243904"/>
                  </a:cubicBezTo>
                  <a:lnTo>
                    <a:pt x="0" y="453772"/>
                  </a:lnTo>
                  <a:cubicBezTo>
                    <a:pt x="0" y="508043"/>
                    <a:pt x="43995" y="552038"/>
                    <a:pt x="98266" y="552038"/>
                  </a:cubicBezTo>
                  <a:lnTo>
                    <a:pt x="308134" y="552038"/>
                  </a:lnTo>
                  <a:cubicBezTo>
                    <a:pt x="362405" y="552038"/>
                    <a:pt x="406400" y="596033"/>
                    <a:pt x="406400" y="650304"/>
                  </a:cubicBezTo>
                  <a:lnTo>
                    <a:pt x="406400" y="656972"/>
                  </a:lnTo>
                  <a:cubicBezTo>
                    <a:pt x="406400" y="673435"/>
                    <a:pt x="416317" y="688277"/>
                    <a:pt x="431527" y="694577"/>
                  </a:cubicBezTo>
                  <a:cubicBezTo>
                    <a:pt x="446736" y="700877"/>
                    <a:pt x="464243" y="697395"/>
                    <a:pt x="475884" y="685754"/>
                  </a:cubicBezTo>
                  <a:lnTo>
                    <a:pt x="743316" y="418322"/>
                  </a:lnTo>
                  <a:cubicBezTo>
                    <a:pt x="781691" y="379947"/>
                    <a:pt x="781691" y="317729"/>
                    <a:pt x="743316" y="279354"/>
                  </a:cubicBezTo>
                  <a:close/>
                </a:path>
              </a:pathLst>
            </a:custGeom>
            <a:solidFill>
              <a:srgbClr val="4E6C7E"/>
            </a:solidFill>
          </p:spPr>
          <p:txBody>
            <a:bodyPr/>
            <a:lstStyle/>
            <a:p>
              <a:endParaRPr lang="tr-TR"/>
            </a:p>
          </p:txBody>
        </p:sp>
        <p:sp>
          <p:nvSpPr>
            <p:cNvPr id="14" name="TextBox 14"/>
            <p:cNvSpPr txBox="1"/>
            <p:nvPr/>
          </p:nvSpPr>
          <p:spPr>
            <a:xfrm>
              <a:off x="0" y="174625"/>
              <a:ext cx="711200" cy="434975"/>
            </a:xfrm>
            <a:prstGeom prst="rect">
              <a:avLst/>
            </a:prstGeom>
          </p:spPr>
          <p:txBody>
            <a:bodyPr lIns="50800" tIns="50800" rIns="50800" bIns="50800" rtlCol="0" anchor="ctr"/>
            <a:lstStyle/>
            <a:p>
              <a:pPr algn="ctr">
                <a:lnSpc>
                  <a:spcPts val="2520"/>
                </a:lnSpc>
              </a:pPr>
              <a:endParaRPr/>
            </a:p>
          </p:txBody>
        </p:sp>
      </p:grpSp>
      <p:sp>
        <p:nvSpPr>
          <p:cNvPr id="15" name="AutoShape 15"/>
          <p:cNvSpPr/>
          <p:nvPr/>
        </p:nvSpPr>
        <p:spPr>
          <a:xfrm flipV="1">
            <a:off x="705740" y="1682238"/>
            <a:ext cx="12938437" cy="14613"/>
          </a:xfrm>
          <a:prstGeom prst="line">
            <a:avLst/>
          </a:prstGeom>
          <a:ln w="38100" cap="flat">
            <a:solidFill>
              <a:srgbClr val="000000"/>
            </a:solidFill>
            <a:prstDash val="solid"/>
            <a:headEnd type="diamond" w="lg" len="lg"/>
            <a:tailEnd type="diamond" w="lg" len="lg"/>
          </a:ln>
        </p:spPr>
        <p:txBody>
          <a:bodyPr/>
          <a:lstStyle/>
          <a:p>
            <a:endParaRPr lang="tr-TR"/>
          </a:p>
        </p:txBody>
      </p:sp>
      <p:grpSp>
        <p:nvGrpSpPr>
          <p:cNvPr id="16" name="Group 16"/>
          <p:cNvGrpSpPr/>
          <p:nvPr/>
        </p:nvGrpSpPr>
        <p:grpSpPr>
          <a:xfrm>
            <a:off x="16803283" y="-1088609"/>
            <a:ext cx="1928382" cy="1928382"/>
            <a:chOff x="0" y="0"/>
            <a:chExt cx="812800" cy="812800"/>
          </a:xfrm>
        </p:grpSpPr>
        <p:sp>
          <p:nvSpPr>
            <p:cNvPr id="17" name="Freeform 17"/>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1">
              <a:gsLst>
                <a:gs pos="0">
                  <a:srgbClr val="377FD6">
                    <a:alpha val="31000"/>
                  </a:srgbClr>
                </a:gs>
                <a:gs pos="100000">
                  <a:srgbClr val="CBE2FF">
                    <a:alpha val="31000"/>
                  </a:srgbClr>
                </a:gs>
              </a:gsLst>
              <a:lin ang="5400000"/>
            </a:gradFill>
          </p:spPr>
          <p:txBody>
            <a:bodyPr/>
            <a:lstStyle/>
            <a:p>
              <a:endParaRPr lang="tr-TR"/>
            </a:p>
          </p:txBody>
        </p:sp>
        <p:sp>
          <p:nvSpPr>
            <p:cNvPr id="18" name="TextBox 18"/>
            <p:cNvSpPr txBox="1"/>
            <p:nvPr/>
          </p:nvSpPr>
          <p:spPr>
            <a:xfrm>
              <a:off x="76200" y="47625"/>
              <a:ext cx="660400" cy="688975"/>
            </a:xfrm>
            <a:prstGeom prst="rect">
              <a:avLst/>
            </a:prstGeom>
          </p:spPr>
          <p:txBody>
            <a:bodyPr lIns="50800" tIns="50800" rIns="50800" bIns="50800" rtlCol="0" anchor="ctr"/>
            <a:lstStyle/>
            <a:p>
              <a:pPr algn="ctr">
                <a:lnSpc>
                  <a:spcPts val="2520"/>
                </a:lnSpc>
              </a:pPr>
              <a:endParaRPr/>
            </a:p>
          </p:txBody>
        </p:sp>
      </p:grpSp>
      <p:sp>
        <p:nvSpPr>
          <p:cNvPr id="19" name="Freeform 19"/>
          <p:cNvSpPr/>
          <p:nvPr/>
        </p:nvSpPr>
        <p:spPr>
          <a:xfrm>
            <a:off x="17374093" y="314756"/>
            <a:ext cx="393381" cy="393381"/>
          </a:xfrm>
          <a:custGeom>
            <a:avLst/>
            <a:gdLst/>
            <a:ahLst/>
            <a:cxnLst/>
            <a:rect l="l" t="t" r="r" b="b"/>
            <a:pathLst>
              <a:path w="393381" h="393381">
                <a:moveTo>
                  <a:pt x="0" y="0"/>
                </a:moveTo>
                <a:lnTo>
                  <a:pt x="393381" y="0"/>
                </a:lnTo>
                <a:lnTo>
                  <a:pt x="393381" y="393381"/>
                </a:lnTo>
                <a:lnTo>
                  <a:pt x="0" y="393381"/>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tr-TR"/>
          </a:p>
        </p:txBody>
      </p:sp>
      <p:grpSp>
        <p:nvGrpSpPr>
          <p:cNvPr id="20" name="Group 20"/>
          <p:cNvGrpSpPr/>
          <p:nvPr/>
        </p:nvGrpSpPr>
        <p:grpSpPr>
          <a:xfrm>
            <a:off x="3178009" y="8140326"/>
            <a:ext cx="5581577" cy="5581577"/>
            <a:chOff x="0" y="0"/>
            <a:chExt cx="812800" cy="812800"/>
          </a:xfrm>
        </p:grpSpPr>
        <p:sp>
          <p:nvSpPr>
            <p:cNvPr id="21" name="Freeform 21"/>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1">
              <a:gsLst>
                <a:gs pos="0">
                  <a:srgbClr val="377FD6">
                    <a:alpha val="8000"/>
                  </a:srgbClr>
                </a:gs>
                <a:gs pos="100000">
                  <a:srgbClr val="CBE2FF">
                    <a:alpha val="8000"/>
                  </a:srgbClr>
                </a:gs>
              </a:gsLst>
              <a:lin ang="5400000"/>
            </a:gradFill>
          </p:spPr>
          <p:txBody>
            <a:bodyPr/>
            <a:lstStyle/>
            <a:p>
              <a:endParaRPr lang="tr-TR"/>
            </a:p>
          </p:txBody>
        </p:sp>
        <p:sp>
          <p:nvSpPr>
            <p:cNvPr id="22" name="TextBox 22"/>
            <p:cNvSpPr txBox="1"/>
            <p:nvPr/>
          </p:nvSpPr>
          <p:spPr>
            <a:xfrm>
              <a:off x="76200" y="47625"/>
              <a:ext cx="660400" cy="688975"/>
            </a:xfrm>
            <a:prstGeom prst="rect">
              <a:avLst/>
            </a:prstGeom>
          </p:spPr>
          <p:txBody>
            <a:bodyPr lIns="50800" tIns="50800" rIns="50800" bIns="50800" rtlCol="0" anchor="ctr"/>
            <a:lstStyle/>
            <a:p>
              <a:pPr algn="ctr">
                <a:lnSpc>
                  <a:spcPts val="2520"/>
                </a:lnSpc>
              </a:pPr>
              <a:endParaRPr/>
            </a:p>
          </p:txBody>
        </p:sp>
      </p:grpSp>
      <p:grpSp>
        <p:nvGrpSpPr>
          <p:cNvPr id="23" name="Group 23"/>
          <p:cNvGrpSpPr/>
          <p:nvPr/>
        </p:nvGrpSpPr>
        <p:grpSpPr>
          <a:xfrm>
            <a:off x="705740" y="5775496"/>
            <a:ext cx="5918517" cy="3789890"/>
            <a:chOff x="0" y="0"/>
            <a:chExt cx="7891356" cy="5053186"/>
          </a:xfrm>
        </p:grpSpPr>
        <p:grpSp>
          <p:nvGrpSpPr>
            <p:cNvPr id="24" name="Group 24"/>
            <p:cNvGrpSpPr/>
            <p:nvPr/>
          </p:nvGrpSpPr>
          <p:grpSpPr>
            <a:xfrm>
              <a:off x="167330" y="283592"/>
              <a:ext cx="7724026" cy="4769594"/>
              <a:chOff x="0" y="0"/>
              <a:chExt cx="1624611" cy="1003199"/>
            </a:xfrm>
          </p:grpSpPr>
          <p:sp>
            <p:nvSpPr>
              <p:cNvPr id="25" name="Freeform 25"/>
              <p:cNvSpPr/>
              <p:nvPr/>
            </p:nvSpPr>
            <p:spPr>
              <a:xfrm>
                <a:off x="0" y="0"/>
                <a:ext cx="1624611" cy="1003199"/>
              </a:xfrm>
              <a:custGeom>
                <a:avLst/>
                <a:gdLst/>
                <a:ahLst/>
                <a:cxnLst/>
                <a:rect l="l" t="t" r="r" b="b"/>
                <a:pathLst>
                  <a:path w="1624611" h="1003199">
                    <a:moveTo>
                      <a:pt x="19151" y="0"/>
                    </a:moveTo>
                    <a:lnTo>
                      <a:pt x="1605460" y="0"/>
                    </a:lnTo>
                    <a:cubicBezTo>
                      <a:pt x="1610539" y="0"/>
                      <a:pt x="1615410" y="2018"/>
                      <a:pt x="1619001" y="5609"/>
                    </a:cubicBezTo>
                    <a:cubicBezTo>
                      <a:pt x="1622593" y="9201"/>
                      <a:pt x="1624611" y="14072"/>
                      <a:pt x="1624611" y="19151"/>
                    </a:cubicBezTo>
                    <a:lnTo>
                      <a:pt x="1624611" y="984048"/>
                    </a:lnTo>
                    <a:cubicBezTo>
                      <a:pt x="1624611" y="989127"/>
                      <a:pt x="1622593" y="993998"/>
                      <a:pt x="1619001" y="997589"/>
                    </a:cubicBezTo>
                    <a:cubicBezTo>
                      <a:pt x="1615410" y="1001181"/>
                      <a:pt x="1610539" y="1003199"/>
                      <a:pt x="1605460" y="1003199"/>
                    </a:cubicBezTo>
                    <a:lnTo>
                      <a:pt x="19151" y="1003199"/>
                    </a:lnTo>
                    <a:cubicBezTo>
                      <a:pt x="14072" y="1003199"/>
                      <a:pt x="9201" y="1001181"/>
                      <a:pt x="5609" y="997589"/>
                    </a:cubicBezTo>
                    <a:cubicBezTo>
                      <a:pt x="2018" y="993998"/>
                      <a:pt x="0" y="989127"/>
                      <a:pt x="0" y="984048"/>
                    </a:cubicBezTo>
                    <a:lnTo>
                      <a:pt x="0" y="19151"/>
                    </a:lnTo>
                    <a:cubicBezTo>
                      <a:pt x="0" y="14072"/>
                      <a:pt x="2018" y="9201"/>
                      <a:pt x="5609" y="5609"/>
                    </a:cubicBezTo>
                    <a:cubicBezTo>
                      <a:pt x="9201" y="2018"/>
                      <a:pt x="14072" y="0"/>
                      <a:pt x="19151" y="0"/>
                    </a:cubicBezTo>
                    <a:close/>
                  </a:path>
                </a:pathLst>
              </a:custGeom>
              <a:solidFill>
                <a:srgbClr val="4E6C7E"/>
              </a:solidFill>
              <a:ln w="19050" cap="rnd">
                <a:solidFill>
                  <a:srgbClr val="4383D1"/>
                </a:solidFill>
                <a:prstDash val="solid"/>
                <a:round/>
              </a:ln>
            </p:spPr>
            <p:txBody>
              <a:bodyPr/>
              <a:lstStyle/>
              <a:p>
                <a:endParaRPr lang="tr-TR"/>
              </a:p>
            </p:txBody>
          </p:sp>
          <p:sp>
            <p:nvSpPr>
              <p:cNvPr id="26" name="TextBox 26"/>
              <p:cNvSpPr txBox="1"/>
              <p:nvPr/>
            </p:nvSpPr>
            <p:spPr>
              <a:xfrm>
                <a:off x="0" y="-28575"/>
                <a:ext cx="1624611" cy="1031774"/>
              </a:xfrm>
              <a:prstGeom prst="rect">
                <a:avLst/>
              </a:prstGeom>
            </p:spPr>
            <p:txBody>
              <a:bodyPr lIns="50800" tIns="50800" rIns="50800" bIns="50800" rtlCol="0" anchor="ctr"/>
              <a:lstStyle/>
              <a:p>
                <a:pPr algn="ctr">
                  <a:lnSpc>
                    <a:spcPts val="2519"/>
                  </a:lnSpc>
                </a:pPr>
                <a:endParaRPr/>
              </a:p>
            </p:txBody>
          </p:sp>
        </p:grpSp>
        <p:grpSp>
          <p:nvGrpSpPr>
            <p:cNvPr id="27" name="Group 27"/>
            <p:cNvGrpSpPr/>
            <p:nvPr/>
          </p:nvGrpSpPr>
          <p:grpSpPr>
            <a:xfrm>
              <a:off x="0" y="0"/>
              <a:ext cx="7724026" cy="4769594"/>
              <a:chOff x="0" y="0"/>
              <a:chExt cx="1624611" cy="1003199"/>
            </a:xfrm>
          </p:grpSpPr>
          <p:sp>
            <p:nvSpPr>
              <p:cNvPr id="28" name="Freeform 28"/>
              <p:cNvSpPr/>
              <p:nvPr/>
            </p:nvSpPr>
            <p:spPr>
              <a:xfrm>
                <a:off x="0" y="0"/>
                <a:ext cx="1624611" cy="1003199"/>
              </a:xfrm>
              <a:custGeom>
                <a:avLst/>
                <a:gdLst/>
                <a:ahLst/>
                <a:cxnLst/>
                <a:rect l="l" t="t" r="r" b="b"/>
                <a:pathLst>
                  <a:path w="1624611" h="1003199">
                    <a:moveTo>
                      <a:pt x="19151" y="0"/>
                    </a:moveTo>
                    <a:lnTo>
                      <a:pt x="1605460" y="0"/>
                    </a:lnTo>
                    <a:cubicBezTo>
                      <a:pt x="1610539" y="0"/>
                      <a:pt x="1615410" y="2018"/>
                      <a:pt x="1619001" y="5609"/>
                    </a:cubicBezTo>
                    <a:cubicBezTo>
                      <a:pt x="1622593" y="9201"/>
                      <a:pt x="1624611" y="14072"/>
                      <a:pt x="1624611" y="19151"/>
                    </a:cubicBezTo>
                    <a:lnTo>
                      <a:pt x="1624611" y="984048"/>
                    </a:lnTo>
                    <a:cubicBezTo>
                      <a:pt x="1624611" y="989127"/>
                      <a:pt x="1622593" y="993998"/>
                      <a:pt x="1619001" y="997589"/>
                    </a:cubicBezTo>
                    <a:cubicBezTo>
                      <a:pt x="1615410" y="1001181"/>
                      <a:pt x="1610539" y="1003199"/>
                      <a:pt x="1605460" y="1003199"/>
                    </a:cubicBezTo>
                    <a:lnTo>
                      <a:pt x="19151" y="1003199"/>
                    </a:lnTo>
                    <a:cubicBezTo>
                      <a:pt x="14072" y="1003199"/>
                      <a:pt x="9201" y="1001181"/>
                      <a:pt x="5609" y="997589"/>
                    </a:cubicBezTo>
                    <a:cubicBezTo>
                      <a:pt x="2018" y="993998"/>
                      <a:pt x="0" y="989127"/>
                      <a:pt x="0" y="984048"/>
                    </a:cubicBezTo>
                    <a:lnTo>
                      <a:pt x="0" y="19151"/>
                    </a:lnTo>
                    <a:cubicBezTo>
                      <a:pt x="0" y="14072"/>
                      <a:pt x="2018" y="9201"/>
                      <a:pt x="5609" y="5609"/>
                    </a:cubicBezTo>
                    <a:cubicBezTo>
                      <a:pt x="9201" y="2018"/>
                      <a:pt x="14072" y="0"/>
                      <a:pt x="19151" y="0"/>
                    </a:cubicBezTo>
                    <a:close/>
                  </a:path>
                </a:pathLst>
              </a:custGeom>
              <a:solidFill>
                <a:srgbClr val="FFFFFF"/>
              </a:solidFill>
              <a:ln w="19050" cap="rnd">
                <a:solidFill>
                  <a:srgbClr val="4383D1"/>
                </a:solidFill>
                <a:prstDash val="solid"/>
                <a:round/>
              </a:ln>
            </p:spPr>
            <p:txBody>
              <a:bodyPr/>
              <a:lstStyle/>
              <a:p>
                <a:endParaRPr lang="tr-TR"/>
              </a:p>
            </p:txBody>
          </p:sp>
          <p:sp>
            <p:nvSpPr>
              <p:cNvPr id="29" name="TextBox 29"/>
              <p:cNvSpPr txBox="1"/>
              <p:nvPr/>
            </p:nvSpPr>
            <p:spPr>
              <a:xfrm>
                <a:off x="0" y="-28575"/>
                <a:ext cx="1624611" cy="1031774"/>
              </a:xfrm>
              <a:prstGeom prst="rect">
                <a:avLst/>
              </a:prstGeom>
            </p:spPr>
            <p:txBody>
              <a:bodyPr lIns="50800" tIns="50800" rIns="50800" bIns="50800" rtlCol="0" anchor="ctr"/>
              <a:lstStyle/>
              <a:p>
                <a:pPr algn="ctr">
                  <a:lnSpc>
                    <a:spcPts val="2519"/>
                  </a:lnSpc>
                </a:pPr>
                <a:endParaRPr/>
              </a:p>
            </p:txBody>
          </p:sp>
        </p:grpSp>
      </p:grpSp>
      <p:grpSp>
        <p:nvGrpSpPr>
          <p:cNvPr id="30" name="Group 30"/>
          <p:cNvGrpSpPr/>
          <p:nvPr/>
        </p:nvGrpSpPr>
        <p:grpSpPr>
          <a:xfrm>
            <a:off x="904909" y="6379011"/>
            <a:ext cx="393928" cy="393928"/>
            <a:chOff x="0" y="0"/>
            <a:chExt cx="812800" cy="812800"/>
          </a:xfrm>
        </p:grpSpPr>
        <p:sp>
          <p:nvSpPr>
            <p:cNvPr id="31" name="Freeform 31"/>
            <p:cNvSpPr/>
            <p:nvPr/>
          </p:nvSpPr>
          <p:spPr>
            <a:xfrm>
              <a:off x="0" y="57562"/>
              <a:ext cx="772097" cy="697677"/>
            </a:xfrm>
            <a:custGeom>
              <a:avLst/>
              <a:gdLst/>
              <a:ahLst/>
              <a:cxnLst/>
              <a:rect l="l" t="t" r="r" b="b"/>
              <a:pathLst>
                <a:path w="772097" h="697677">
                  <a:moveTo>
                    <a:pt x="743316" y="279354"/>
                  </a:moveTo>
                  <a:lnTo>
                    <a:pt x="475884" y="11922"/>
                  </a:lnTo>
                  <a:cubicBezTo>
                    <a:pt x="464243" y="281"/>
                    <a:pt x="446736" y="-3201"/>
                    <a:pt x="431527" y="3099"/>
                  </a:cubicBezTo>
                  <a:cubicBezTo>
                    <a:pt x="416317" y="9399"/>
                    <a:pt x="406400" y="24241"/>
                    <a:pt x="406400" y="40704"/>
                  </a:cubicBezTo>
                  <a:lnTo>
                    <a:pt x="406400" y="47372"/>
                  </a:lnTo>
                  <a:cubicBezTo>
                    <a:pt x="406400" y="101643"/>
                    <a:pt x="362405" y="145638"/>
                    <a:pt x="308134" y="145638"/>
                  </a:cubicBezTo>
                  <a:lnTo>
                    <a:pt x="98266" y="145638"/>
                  </a:lnTo>
                  <a:cubicBezTo>
                    <a:pt x="43995" y="145638"/>
                    <a:pt x="0" y="189633"/>
                    <a:pt x="0" y="243904"/>
                  </a:cubicBezTo>
                  <a:lnTo>
                    <a:pt x="0" y="453772"/>
                  </a:lnTo>
                  <a:cubicBezTo>
                    <a:pt x="0" y="508043"/>
                    <a:pt x="43995" y="552038"/>
                    <a:pt x="98266" y="552038"/>
                  </a:cubicBezTo>
                  <a:lnTo>
                    <a:pt x="308134" y="552038"/>
                  </a:lnTo>
                  <a:cubicBezTo>
                    <a:pt x="362405" y="552038"/>
                    <a:pt x="406400" y="596033"/>
                    <a:pt x="406400" y="650304"/>
                  </a:cubicBezTo>
                  <a:lnTo>
                    <a:pt x="406400" y="656972"/>
                  </a:lnTo>
                  <a:cubicBezTo>
                    <a:pt x="406400" y="673435"/>
                    <a:pt x="416317" y="688277"/>
                    <a:pt x="431527" y="694577"/>
                  </a:cubicBezTo>
                  <a:cubicBezTo>
                    <a:pt x="446736" y="700877"/>
                    <a:pt x="464243" y="697395"/>
                    <a:pt x="475884" y="685754"/>
                  </a:cubicBezTo>
                  <a:lnTo>
                    <a:pt x="743316" y="418322"/>
                  </a:lnTo>
                  <a:cubicBezTo>
                    <a:pt x="781691" y="379947"/>
                    <a:pt x="781691" y="317729"/>
                    <a:pt x="743316" y="279354"/>
                  </a:cubicBezTo>
                  <a:close/>
                </a:path>
              </a:pathLst>
            </a:custGeom>
            <a:solidFill>
              <a:srgbClr val="4E6C7E"/>
            </a:solidFill>
          </p:spPr>
          <p:txBody>
            <a:bodyPr/>
            <a:lstStyle/>
            <a:p>
              <a:endParaRPr lang="tr-TR"/>
            </a:p>
          </p:txBody>
        </p:sp>
        <p:sp>
          <p:nvSpPr>
            <p:cNvPr id="32" name="TextBox 32"/>
            <p:cNvSpPr txBox="1"/>
            <p:nvPr/>
          </p:nvSpPr>
          <p:spPr>
            <a:xfrm>
              <a:off x="0" y="174625"/>
              <a:ext cx="711200" cy="434975"/>
            </a:xfrm>
            <a:prstGeom prst="rect">
              <a:avLst/>
            </a:prstGeom>
          </p:spPr>
          <p:txBody>
            <a:bodyPr lIns="50800" tIns="50800" rIns="50800" bIns="50800" rtlCol="0" anchor="ctr"/>
            <a:lstStyle/>
            <a:p>
              <a:pPr algn="ctr">
                <a:lnSpc>
                  <a:spcPts val="2520"/>
                </a:lnSpc>
              </a:pPr>
              <a:endParaRPr/>
            </a:p>
          </p:txBody>
        </p:sp>
      </p:grpSp>
      <p:grpSp>
        <p:nvGrpSpPr>
          <p:cNvPr id="33" name="Group 33"/>
          <p:cNvGrpSpPr/>
          <p:nvPr/>
        </p:nvGrpSpPr>
        <p:grpSpPr>
          <a:xfrm>
            <a:off x="16237858" y="10271261"/>
            <a:ext cx="7059176" cy="3789890"/>
            <a:chOff x="0" y="0"/>
            <a:chExt cx="9412235" cy="5053186"/>
          </a:xfrm>
        </p:grpSpPr>
        <p:grpSp>
          <p:nvGrpSpPr>
            <p:cNvPr id="34" name="Group 34"/>
            <p:cNvGrpSpPr/>
            <p:nvPr/>
          </p:nvGrpSpPr>
          <p:grpSpPr>
            <a:xfrm>
              <a:off x="199580" y="283592"/>
              <a:ext cx="9212655" cy="4769594"/>
              <a:chOff x="0" y="0"/>
              <a:chExt cx="1937717" cy="1003199"/>
            </a:xfrm>
          </p:grpSpPr>
          <p:sp>
            <p:nvSpPr>
              <p:cNvPr id="35" name="Freeform 35"/>
              <p:cNvSpPr/>
              <p:nvPr/>
            </p:nvSpPr>
            <p:spPr>
              <a:xfrm>
                <a:off x="0" y="0"/>
                <a:ext cx="1937717" cy="1003199"/>
              </a:xfrm>
              <a:custGeom>
                <a:avLst/>
                <a:gdLst/>
                <a:ahLst/>
                <a:cxnLst/>
                <a:rect l="l" t="t" r="r" b="b"/>
                <a:pathLst>
                  <a:path w="1937717" h="1003199">
                    <a:moveTo>
                      <a:pt x="16057" y="0"/>
                    </a:moveTo>
                    <a:lnTo>
                      <a:pt x="1921661" y="0"/>
                    </a:lnTo>
                    <a:cubicBezTo>
                      <a:pt x="1925919" y="0"/>
                      <a:pt x="1930003" y="1692"/>
                      <a:pt x="1933014" y="4703"/>
                    </a:cubicBezTo>
                    <a:cubicBezTo>
                      <a:pt x="1936025" y="7714"/>
                      <a:pt x="1937717" y="11798"/>
                      <a:pt x="1937717" y="16057"/>
                    </a:cubicBezTo>
                    <a:lnTo>
                      <a:pt x="1937717" y="987142"/>
                    </a:lnTo>
                    <a:cubicBezTo>
                      <a:pt x="1937717" y="991401"/>
                      <a:pt x="1936025" y="995485"/>
                      <a:pt x="1933014" y="998496"/>
                    </a:cubicBezTo>
                    <a:cubicBezTo>
                      <a:pt x="1930003" y="1001507"/>
                      <a:pt x="1925919" y="1003199"/>
                      <a:pt x="1921661" y="1003199"/>
                    </a:cubicBezTo>
                    <a:lnTo>
                      <a:pt x="16057" y="1003199"/>
                    </a:lnTo>
                    <a:cubicBezTo>
                      <a:pt x="11798" y="1003199"/>
                      <a:pt x="7714" y="1001507"/>
                      <a:pt x="4703" y="998496"/>
                    </a:cubicBezTo>
                    <a:cubicBezTo>
                      <a:pt x="1692" y="995485"/>
                      <a:pt x="0" y="991401"/>
                      <a:pt x="0" y="987142"/>
                    </a:cubicBezTo>
                    <a:lnTo>
                      <a:pt x="0" y="16057"/>
                    </a:lnTo>
                    <a:cubicBezTo>
                      <a:pt x="0" y="11798"/>
                      <a:pt x="1692" y="7714"/>
                      <a:pt x="4703" y="4703"/>
                    </a:cubicBezTo>
                    <a:cubicBezTo>
                      <a:pt x="7714" y="1692"/>
                      <a:pt x="11798" y="0"/>
                      <a:pt x="16057" y="0"/>
                    </a:cubicBezTo>
                    <a:close/>
                  </a:path>
                </a:pathLst>
              </a:custGeom>
              <a:solidFill>
                <a:srgbClr val="4E6C7E"/>
              </a:solidFill>
              <a:ln w="19050" cap="rnd">
                <a:solidFill>
                  <a:srgbClr val="4383D1"/>
                </a:solidFill>
                <a:prstDash val="solid"/>
                <a:round/>
              </a:ln>
            </p:spPr>
            <p:txBody>
              <a:bodyPr/>
              <a:lstStyle/>
              <a:p>
                <a:endParaRPr lang="tr-TR"/>
              </a:p>
            </p:txBody>
          </p:sp>
          <p:sp>
            <p:nvSpPr>
              <p:cNvPr id="36" name="TextBox 36"/>
              <p:cNvSpPr txBox="1"/>
              <p:nvPr/>
            </p:nvSpPr>
            <p:spPr>
              <a:xfrm>
                <a:off x="0" y="-28575"/>
                <a:ext cx="1937717" cy="1031774"/>
              </a:xfrm>
              <a:prstGeom prst="rect">
                <a:avLst/>
              </a:prstGeom>
            </p:spPr>
            <p:txBody>
              <a:bodyPr lIns="50800" tIns="50800" rIns="50800" bIns="50800" rtlCol="0" anchor="ctr"/>
              <a:lstStyle/>
              <a:p>
                <a:pPr algn="ctr">
                  <a:lnSpc>
                    <a:spcPts val="2519"/>
                  </a:lnSpc>
                </a:pPr>
                <a:endParaRPr/>
              </a:p>
            </p:txBody>
          </p:sp>
        </p:grpSp>
        <p:grpSp>
          <p:nvGrpSpPr>
            <p:cNvPr id="37" name="Group 37"/>
            <p:cNvGrpSpPr/>
            <p:nvPr/>
          </p:nvGrpSpPr>
          <p:grpSpPr>
            <a:xfrm>
              <a:off x="0" y="0"/>
              <a:ext cx="9212655" cy="4769594"/>
              <a:chOff x="0" y="0"/>
              <a:chExt cx="1937717" cy="1003199"/>
            </a:xfrm>
          </p:grpSpPr>
          <p:sp>
            <p:nvSpPr>
              <p:cNvPr id="38" name="Freeform 38"/>
              <p:cNvSpPr/>
              <p:nvPr/>
            </p:nvSpPr>
            <p:spPr>
              <a:xfrm>
                <a:off x="0" y="0"/>
                <a:ext cx="1937717" cy="1003199"/>
              </a:xfrm>
              <a:custGeom>
                <a:avLst/>
                <a:gdLst/>
                <a:ahLst/>
                <a:cxnLst/>
                <a:rect l="l" t="t" r="r" b="b"/>
                <a:pathLst>
                  <a:path w="1937717" h="1003199">
                    <a:moveTo>
                      <a:pt x="16057" y="0"/>
                    </a:moveTo>
                    <a:lnTo>
                      <a:pt x="1921661" y="0"/>
                    </a:lnTo>
                    <a:cubicBezTo>
                      <a:pt x="1925919" y="0"/>
                      <a:pt x="1930003" y="1692"/>
                      <a:pt x="1933014" y="4703"/>
                    </a:cubicBezTo>
                    <a:cubicBezTo>
                      <a:pt x="1936025" y="7714"/>
                      <a:pt x="1937717" y="11798"/>
                      <a:pt x="1937717" y="16057"/>
                    </a:cubicBezTo>
                    <a:lnTo>
                      <a:pt x="1937717" y="987142"/>
                    </a:lnTo>
                    <a:cubicBezTo>
                      <a:pt x="1937717" y="991401"/>
                      <a:pt x="1936025" y="995485"/>
                      <a:pt x="1933014" y="998496"/>
                    </a:cubicBezTo>
                    <a:cubicBezTo>
                      <a:pt x="1930003" y="1001507"/>
                      <a:pt x="1925919" y="1003199"/>
                      <a:pt x="1921661" y="1003199"/>
                    </a:cubicBezTo>
                    <a:lnTo>
                      <a:pt x="16057" y="1003199"/>
                    </a:lnTo>
                    <a:cubicBezTo>
                      <a:pt x="11798" y="1003199"/>
                      <a:pt x="7714" y="1001507"/>
                      <a:pt x="4703" y="998496"/>
                    </a:cubicBezTo>
                    <a:cubicBezTo>
                      <a:pt x="1692" y="995485"/>
                      <a:pt x="0" y="991401"/>
                      <a:pt x="0" y="987142"/>
                    </a:cubicBezTo>
                    <a:lnTo>
                      <a:pt x="0" y="16057"/>
                    </a:lnTo>
                    <a:cubicBezTo>
                      <a:pt x="0" y="11798"/>
                      <a:pt x="1692" y="7714"/>
                      <a:pt x="4703" y="4703"/>
                    </a:cubicBezTo>
                    <a:cubicBezTo>
                      <a:pt x="7714" y="1692"/>
                      <a:pt x="11798" y="0"/>
                      <a:pt x="16057" y="0"/>
                    </a:cubicBezTo>
                    <a:close/>
                  </a:path>
                </a:pathLst>
              </a:custGeom>
              <a:solidFill>
                <a:srgbClr val="FFFFFF"/>
              </a:solidFill>
              <a:ln w="19050" cap="rnd">
                <a:solidFill>
                  <a:srgbClr val="4383D1"/>
                </a:solidFill>
                <a:prstDash val="solid"/>
                <a:round/>
              </a:ln>
            </p:spPr>
            <p:txBody>
              <a:bodyPr/>
              <a:lstStyle/>
              <a:p>
                <a:endParaRPr lang="tr-TR"/>
              </a:p>
            </p:txBody>
          </p:sp>
          <p:sp>
            <p:nvSpPr>
              <p:cNvPr id="39" name="TextBox 39"/>
              <p:cNvSpPr txBox="1"/>
              <p:nvPr/>
            </p:nvSpPr>
            <p:spPr>
              <a:xfrm>
                <a:off x="0" y="-28575"/>
                <a:ext cx="1937717" cy="1031774"/>
              </a:xfrm>
              <a:prstGeom prst="rect">
                <a:avLst/>
              </a:prstGeom>
            </p:spPr>
            <p:txBody>
              <a:bodyPr lIns="50800" tIns="50800" rIns="50800" bIns="50800" rtlCol="0" anchor="ctr"/>
              <a:lstStyle/>
              <a:p>
                <a:pPr algn="ctr">
                  <a:lnSpc>
                    <a:spcPts val="2519"/>
                  </a:lnSpc>
                </a:pPr>
                <a:endParaRPr/>
              </a:p>
            </p:txBody>
          </p:sp>
        </p:grpSp>
      </p:grpSp>
      <p:sp>
        <p:nvSpPr>
          <p:cNvPr id="40" name="Freeform 40"/>
          <p:cNvSpPr/>
          <p:nvPr/>
        </p:nvSpPr>
        <p:spPr>
          <a:xfrm>
            <a:off x="7982390" y="2036799"/>
            <a:ext cx="8423594" cy="7528587"/>
          </a:xfrm>
          <a:custGeom>
            <a:avLst/>
            <a:gdLst/>
            <a:ahLst/>
            <a:cxnLst/>
            <a:rect l="l" t="t" r="r" b="b"/>
            <a:pathLst>
              <a:path w="8423594" h="7528587">
                <a:moveTo>
                  <a:pt x="0" y="0"/>
                </a:moveTo>
                <a:lnTo>
                  <a:pt x="8423594" y="0"/>
                </a:lnTo>
                <a:lnTo>
                  <a:pt x="8423594" y="7528587"/>
                </a:lnTo>
                <a:lnTo>
                  <a:pt x="0" y="7528587"/>
                </a:lnTo>
                <a:lnTo>
                  <a:pt x="0" y="0"/>
                </a:lnTo>
                <a:close/>
              </a:path>
            </a:pathLst>
          </a:custGeom>
          <a:blipFill>
            <a:blip r:embed="rId3"/>
            <a:stretch>
              <a:fillRect/>
            </a:stretch>
          </a:blipFill>
          <a:ln w="47625" cap="rnd">
            <a:gradFill>
              <a:gsLst>
                <a:gs pos="0">
                  <a:srgbClr val="154562">
                    <a:alpha val="100000"/>
                  </a:srgbClr>
                </a:gs>
                <a:gs pos="100000">
                  <a:srgbClr val="6A8DA2">
                    <a:alpha val="100000"/>
                  </a:srgbClr>
                </a:gs>
              </a:gsLst>
              <a:lin ang="5400000"/>
            </a:gradFill>
            <a:prstDash val="solid"/>
            <a:round/>
          </a:ln>
        </p:spPr>
        <p:txBody>
          <a:bodyPr/>
          <a:lstStyle/>
          <a:p>
            <a:endParaRPr lang="tr-TR"/>
          </a:p>
        </p:txBody>
      </p:sp>
      <p:sp>
        <p:nvSpPr>
          <p:cNvPr id="41" name="TextBox 41"/>
          <p:cNvSpPr txBox="1"/>
          <p:nvPr/>
        </p:nvSpPr>
        <p:spPr>
          <a:xfrm>
            <a:off x="1399193" y="2371426"/>
            <a:ext cx="4243784" cy="396599"/>
          </a:xfrm>
          <a:prstGeom prst="rect">
            <a:avLst/>
          </a:prstGeom>
        </p:spPr>
        <p:txBody>
          <a:bodyPr lIns="0" tIns="0" rIns="0" bIns="0" rtlCol="0" anchor="t">
            <a:spAutoFit/>
          </a:bodyPr>
          <a:lstStyle/>
          <a:p>
            <a:pPr algn="just">
              <a:lnSpc>
                <a:spcPts val="3132"/>
              </a:lnSpc>
            </a:pPr>
            <a:r>
              <a:rPr lang="en-US" sz="2900" b="1">
                <a:solidFill>
                  <a:srgbClr val="000000"/>
                </a:solidFill>
                <a:latin typeface="Montserrat Bold"/>
                <a:ea typeface="Montserrat Bold"/>
                <a:cs typeface="Montserrat Bold"/>
                <a:sym typeface="Montserrat Bold"/>
              </a:rPr>
              <a:t>Genel Performans:</a:t>
            </a:r>
          </a:p>
        </p:txBody>
      </p:sp>
      <p:sp>
        <p:nvSpPr>
          <p:cNvPr id="42" name="TextBox 42"/>
          <p:cNvSpPr txBox="1"/>
          <p:nvPr/>
        </p:nvSpPr>
        <p:spPr>
          <a:xfrm>
            <a:off x="1399193" y="2800538"/>
            <a:ext cx="4707733" cy="1999035"/>
          </a:xfrm>
          <a:prstGeom prst="rect">
            <a:avLst/>
          </a:prstGeom>
        </p:spPr>
        <p:txBody>
          <a:bodyPr lIns="0" tIns="0" rIns="0" bIns="0" rtlCol="0" anchor="t">
            <a:spAutoFit/>
          </a:bodyPr>
          <a:lstStyle/>
          <a:p>
            <a:pPr algn="just">
              <a:lnSpc>
                <a:spcPts val="3219"/>
              </a:lnSpc>
            </a:pPr>
            <a:r>
              <a:rPr lang="en-US" sz="2299" b="1">
                <a:solidFill>
                  <a:srgbClr val="000000"/>
                </a:solidFill>
                <a:latin typeface="Quicksand Semi-Bold"/>
                <a:ea typeface="Quicksand Semi-Bold"/>
                <a:cs typeface="Quicksand Semi-Bold"/>
                <a:sym typeface="Quicksand Semi-Bold"/>
              </a:rPr>
              <a:t>Oldukça kısıtlı olan veri setine rağmen uygulanan mimari çözümlerle, 3 sınıflı klinik modelde genel test doğruluğu (Accuracy) %68 seviyesine ulaşmıştır.</a:t>
            </a:r>
          </a:p>
        </p:txBody>
      </p:sp>
      <p:sp>
        <p:nvSpPr>
          <p:cNvPr id="43" name="TextBox 43"/>
          <p:cNvSpPr txBox="1"/>
          <p:nvPr/>
        </p:nvSpPr>
        <p:spPr>
          <a:xfrm>
            <a:off x="705740" y="561470"/>
            <a:ext cx="14991460" cy="1120768"/>
          </a:xfrm>
          <a:prstGeom prst="rect">
            <a:avLst/>
          </a:prstGeom>
        </p:spPr>
        <p:txBody>
          <a:bodyPr wrap="square" lIns="0" tIns="0" rIns="0" bIns="0" rtlCol="0" anchor="t">
            <a:spAutoFit/>
          </a:bodyPr>
          <a:lstStyle/>
          <a:p>
            <a:pPr marL="0" lvl="0" indent="0" algn="l">
              <a:lnSpc>
                <a:spcPts val="9100"/>
              </a:lnSpc>
              <a:spcBef>
                <a:spcPct val="0"/>
              </a:spcBef>
            </a:pPr>
            <a:r>
              <a:rPr lang="en-US" sz="6500" b="1" u="none" strike="noStrike" dirty="0">
                <a:solidFill>
                  <a:srgbClr val="154562"/>
                </a:solidFill>
                <a:latin typeface="Montserrat Ultra-Bold"/>
                <a:ea typeface="Montserrat Ultra-Bold"/>
                <a:cs typeface="Montserrat Ultra-Bold"/>
                <a:sym typeface="Montserrat Ultra-Bold"/>
              </a:rPr>
              <a:t>Klinik </a:t>
            </a:r>
            <a:r>
              <a:rPr lang="en-US" sz="6500" b="1" u="none" strike="noStrike" dirty="0" err="1">
                <a:solidFill>
                  <a:srgbClr val="154562"/>
                </a:solidFill>
                <a:latin typeface="Montserrat Ultra-Bold"/>
                <a:ea typeface="Montserrat Ultra-Bold"/>
                <a:cs typeface="Montserrat Ultra-Bold"/>
                <a:sym typeface="Montserrat Ultra-Bold"/>
              </a:rPr>
              <a:t>Modelin</a:t>
            </a:r>
            <a:r>
              <a:rPr lang="en-US" sz="6500" b="1" u="none" strike="noStrike" dirty="0">
                <a:solidFill>
                  <a:srgbClr val="154562"/>
                </a:solidFill>
                <a:latin typeface="Montserrat Ultra-Bold"/>
                <a:ea typeface="Montserrat Ultra-Bold"/>
                <a:cs typeface="Montserrat Ultra-Bold"/>
                <a:sym typeface="Montserrat Ultra-Bold"/>
              </a:rPr>
              <a:t> Test </a:t>
            </a:r>
            <a:r>
              <a:rPr lang="en-US" sz="6500" b="1" u="none" strike="noStrike" dirty="0" err="1">
                <a:solidFill>
                  <a:srgbClr val="154562"/>
                </a:solidFill>
                <a:latin typeface="Montserrat Ultra-Bold"/>
                <a:ea typeface="Montserrat Ultra-Bold"/>
                <a:cs typeface="Montserrat Ultra-Bold"/>
                <a:sym typeface="Montserrat Ultra-Bold"/>
              </a:rPr>
              <a:t>Metrikleri</a:t>
            </a:r>
            <a:endParaRPr lang="en-US" sz="6500" b="1" u="none" strike="noStrike" dirty="0">
              <a:solidFill>
                <a:srgbClr val="154562"/>
              </a:solidFill>
              <a:latin typeface="Montserrat Ultra-Bold"/>
              <a:ea typeface="Montserrat Ultra-Bold"/>
              <a:cs typeface="Montserrat Ultra-Bold"/>
              <a:sym typeface="Montserrat Ultra-Bold"/>
            </a:endParaRPr>
          </a:p>
        </p:txBody>
      </p:sp>
      <p:sp>
        <p:nvSpPr>
          <p:cNvPr id="44" name="TextBox 44"/>
          <p:cNvSpPr txBox="1"/>
          <p:nvPr/>
        </p:nvSpPr>
        <p:spPr>
          <a:xfrm>
            <a:off x="1399193" y="6022175"/>
            <a:ext cx="5110801" cy="396599"/>
          </a:xfrm>
          <a:prstGeom prst="rect">
            <a:avLst/>
          </a:prstGeom>
        </p:spPr>
        <p:txBody>
          <a:bodyPr lIns="0" tIns="0" rIns="0" bIns="0" rtlCol="0" anchor="t">
            <a:spAutoFit/>
          </a:bodyPr>
          <a:lstStyle/>
          <a:p>
            <a:pPr algn="just">
              <a:lnSpc>
                <a:spcPts val="3132"/>
              </a:lnSpc>
            </a:pPr>
            <a:r>
              <a:rPr lang="en-US" sz="2900" b="1">
                <a:solidFill>
                  <a:srgbClr val="000000"/>
                </a:solidFill>
                <a:latin typeface="Montserrat Bold"/>
                <a:ea typeface="Montserrat Bold"/>
                <a:cs typeface="Montserrat Bold"/>
                <a:sym typeface="Montserrat Bold"/>
              </a:rPr>
              <a:t>Kritik Başarı Ölçütü:</a:t>
            </a:r>
          </a:p>
        </p:txBody>
      </p:sp>
      <p:sp>
        <p:nvSpPr>
          <p:cNvPr id="45" name="TextBox 45"/>
          <p:cNvSpPr txBox="1"/>
          <p:nvPr/>
        </p:nvSpPr>
        <p:spPr>
          <a:xfrm>
            <a:off x="1399193" y="6371149"/>
            <a:ext cx="4707733" cy="2725267"/>
          </a:xfrm>
          <a:prstGeom prst="rect">
            <a:avLst/>
          </a:prstGeom>
        </p:spPr>
        <p:txBody>
          <a:bodyPr lIns="0" tIns="0" rIns="0" bIns="0" rtlCol="0" anchor="t">
            <a:spAutoFit/>
          </a:bodyPr>
          <a:lstStyle/>
          <a:p>
            <a:pPr algn="just">
              <a:lnSpc>
                <a:spcPts val="3079"/>
              </a:lnSpc>
            </a:pPr>
            <a:r>
              <a:rPr lang="en-US" sz="2199" b="1">
                <a:solidFill>
                  <a:srgbClr val="000000"/>
                </a:solidFill>
                <a:latin typeface="Quicksand Semi-Bold"/>
                <a:ea typeface="Quicksand Semi-Bold"/>
                <a:cs typeface="Quicksand Semi-Bold"/>
                <a:sym typeface="Quicksand Semi-Bold"/>
              </a:rPr>
              <a:t>Klinik açıdan en önemli olan, anne adayına transfer edilecek </a:t>
            </a:r>
            <a:r>
              <a:rPr lang="en-US" sz="2199" b="1">
                <a:solidFill>
                  <a:srgbClr val="D95051"/>
                </a:solidFill>
                <a:latin typeface="Quicksand Bold"/>
                <a:ea typeface="Quicksand Bold"/>
                <a:cs typeface="Quicksand Bold"/>
                <a:sym typeface="Quicksand Bold"/>
              </a:rPr>
              <a:t>"Good"</a:t>
            </a:r>
            <a:r>
              <a:rPr lang="en-US" sz="2199" b="1">
                <a:solidFill>
                  <a:srgbClr val="000000"/>
                </a:solidFill>
                <a:latin typeface="Quicksand Semi-Bold"/>
                <a:ea typeface="Quicksand Semi-Bold"/>
                <a:cs typeface="Quicksand Semi-Bold"/>
                <a:sym typeface="Quicksand Semi-Bold"/>
              </a:rPr>
              <a:t> sınıfı embriyoları doğru tespit etme başarısıdır. Model, iyi embriyoları yakalamada </a:t>
            </a:r>
            <a:r>
              <a:rPr lang="en-US" sz="2199" b="1">
                <a:solidFill>
                  <a:srgbClr val="D95051"/>
                </a:solidFill>
                <a:latin typeface="Quicksand Semi-Bold"/>
                <a:ea typeface="Quicksand Semi-Bold"/>
                <a:cs typeface="Quicksand Semi-Bold"/>
                <a:sym typeface="Quicksand Semi-Bold"/>
              </a:rPr>
              <a:t>%93 Recall</a:t>
            </a:r>
            <a:r>
              <a:rPr lang="en-US" sz="2199" b="1">
                <a:solidFill>
                  <a:srgbClr val="000000"/>
                </a:solidFill>
                <a:latin typeface="Quicksand Semi-Bold"/>
                <a:ea typeface="Quicksand Semi-Bold"/>
                <a:cs typeface="Quicksand Semi-Bold"/>
                <a:sym typeface="Quicksand Semi-Bold"/>
              </a:rPr>
              <a:t> ve </a:t>
            </a:r>
            <a:r>
              <a:rPr lang="en-US" sz="2199" b="1">
                <a:solidFill>
                  <a:srgbClr val="D95051"/>
                </a:solidFill>
                <a:latin typeface="Quicksand Semi-Bold"/>
                <a:ea typeface="Quicksand Semi-Bold"/>
                <a:cs typeface="Quicksand Semi-Bold"/>
                <a:sym typeface="Quicksand Semi-Bold"/>
              </a:rPr>
              <a:t>0.80 F1-Skoru</a:t>
            </a:r>
            <a:r>
              <a:rPr lang="en-US" sz="2199" b="1">
                <a:solidFill>
                  <a:srgbClr val="000000"/>
                </a:solidFill>
                <a:latin typeface="Quicksand Semi-Bold"/>
                <a:ea typeface="Quicksand Semi-Bold"/>
                <a:cs typeface="Quicksand Semi-Bold"/>
                <a:sym typeface="Quicksand Semi-Bold"/>
              </a:rPr>
              <a:t> gibi yüksek bir performansa imza atmıştır.</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rot="8423578">
            <a:off x="16011010" y="4993566"/>
            <a:ext cx="5581577" cy="5581577"/>
            <a:chOff x="0" y="0"/>
            <a:chExt cx="812800" cy="812800"/>
          </a:xfrm>
        </p:grpSpPr>
        <p:sp>
          <p:nvSpPr>
            <p:cNvPr id="3" name="Freeform 3"/>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1">
              <a:gsLst>
                <a:gs pos="0">
                  <a:srgbClr val="377FD6">
                    <a:alpha val="31000"/>
                  </a:srgbClr>
                </a:gs>
                <a:gs pos="100000">
                  <a:srgbClr val="CBE2FF">
                    <a:alpha val="31000"/>
                  </a:srgbClr>
                </a:gs>
              </a:gsLst>
              <a:lin ang="5400000"/>
            </a:gradFill>
          </p:spPr>
          <p:txBody>
            <a:bodyPr/>
            <a:lstStyle/>
            <a:p>
              <a:endParaRPr lang="tr-TR"/>
            </a:p>
          </p:txBody>
        </p:sp>
        <p:sp>
          <p:nvSpPr>
            <p:cNvPr id="4" name="TextBox 4"/>
            <p:cNvSpPr txBox="1"/>
            <p:nvPr/>
          </p:nvSpPr>
          <p:spPr>
            <a:xfrm>
              <a:off x="76200" y="47625"/>
              <a:ext cx="660400" cy="688975"/>
            </a:xfrm>
            <a:prstGeom prst="rect">
              <a:avLst/>
            </a:prstGeom>
          </p:spPr>
          <p:txBody>
            <a:bodyPr lIns="50800" tIns="50800" rIns="50800" bIns="50800" rtlCol="0" anchor="ctr"/>
            <a:lstStyle/>
            <a:p>
              <a:pPr algn="ctr">
                <a:lnSpc>
                  <a:spcPts val="2520"/>
                </a:lnSpc>
              </a:pPr>
              <a:endParaRPr/>
            </a:p>
          </p:txBody>
        </p:sp>
      </p:grpSp>
      <p:grpSp>
        <p:nvGrpSpPr>
          <p:cNvPr id="5" name="Group 5"/>
          <p:cNvGrpSpPr/>
          <p:nvPr/>
        </p:nvGrpSpPr>
        <p:grpSpPr>
          <a:xfrm rot="8423578">
            <a:off x="14791027" y="6734765"/>
            <a:ext cx="5581577" cy="5581577"/>
            <a:chOff x="0" y="0"/>
            <a:chExt cx="812800" cy="812800"/>
          </a:xfrm>
        </p:grpSpPr>
        <p:sp>
          <p:nvSpPr>
            <p:cNvPr id="6" name="Freeform 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1">
              <a:gsLst>
                <a:gs pos="0">
                  <a:srgbClr val="377FD6">
                    <a:alpha val="31000"/>
                  </a:srgbClr>
                </a:gs>
                <a:gs pos="100000">
                  <a:srgbClr val="CBE2FF">
                    <a:alpha val="31000"/>
                  </a:srgbClr>
                </a:gs>
              </a:gsLst>
              <a:lin ang="5400000"/>
            </a:gradFill>
          </p:spPr>
          <p:txBody>
            <a:bodyPr/>
            <a:lstStyle/>
            <a:p>
              <a:endParaRPr lang="tr-TR"/>
            </a:p>
          </p:txBody>
        </p:sp>
        <p:sp>
          <p:nvSpPr>
            <p:cNvPr id="7" name="TextBox 7"/>
            <p:cNvSpPr txBox="1"/>
            <p:nvPr/>
          </p:nvSpPr>
          <p:spPr>
            <a:xfrm>
              <a:off x="76200" y="47625"/>
              <a:ext cx="660400" cy="688975"/>
            </a:xfrm>
            <a:prstGeom prst="rect">
              <a:avLst/>
            </a:prstGeom>
          </p:spPr>
          <p:txBody>
            <a:bodyPr lIns="50800" tIns="50800" rIns="50800" bIns="50800" rtlCol="0" anchor="ctr"/>
            <a:lstStyle/>
            <a:p>
              <a:pPr algn="ctr">
                <a:lnSpc>
                  <a:spcPts val="2520"/>
                </a:lnSpc>
              </a:pPr>
              <a:endParaRPr/>
            </a:p>
          </p:txBody>
        </p:sp>
      </p:grpSp>
      <p:grpSp>
        <p:nvGrpSpPr>
          <p:cNvPr id="8" name="Group 8"/>
          <p:cNvGrpSpPr/>
          <p:nvPr/>
        </p:nvGrpSpPr>
        <p:grpSpPr>
          <a:xfrm>
            <a:off x="991575" y="1893731"/>
            <a:ext cx="7276467" cy="3577195"/>
            <a:chOff x="0" y="0"/>
            <a:chExt cx="2040633" cy="1003199"/>
          </a:xfrm>
        </p:grpSpPr>
        <p:sp>
          <p:nvSpPr>
            <p:cNvPr id="9" name="Freeform 9"/>
            <p:cNvSpPr/>
            <p:nvPr/>
          </p:nvSpPr>
          <p:spPr>
            <a:xfrm>
              <a:off x="0" y="0"/>
              <a:ext cx="2040633" cy="1003199"/>
            </a:xfrm>
            <a:custGeom>
              <a:avLst/>
              <a:gdLst/>
              <a:ahLst/>
              <a:cxnLst/>
              <a:rect l="l" t="t" r="r" b="b"/>
              <a:pathLst>
                <a:path w="2040633" h="1003199">
                  <a:moveTo>
                    <a:pt x="20781" y="0"/>
                  </a:moveTo>
                  <a:lnTo>
                    <a:pt x="2019852" y="0"/>
                  </a:lnTo>
                  <a:cubicBezTo>
                    <a:pt x="2031329" y="0"/>
                    <a:pt x="2040633" y="9304"/>
                    <a:pt x="2040633" y="20781"/>
                  </a:cubicBezTo>
                  <a:lnTo>
                    <a:pt x="2040633" y="982418"/>
                  </a:lnTo>
                  <a:cubicBezTo>
                    <a:pt x="2040633" y="993895"/>
                    <a:pt x="2031329" y="1003199"/>
                    <a:pt x="2019852" y="1003199"/>
                  </a:cubicBezTo>
                  <a:lnTo>
                    <a:pt x="20781" y="1003199"/>
                  </a:lnTo>
                  <a:cubicBezTo>
                    <a:pt x="9304" y="1003199"/>
                    <a:pt x="0" y="993895"/>
                    <a:pt x="0" y="982418"/>
                  </a:cubicBezTo>
                  <a:lnTo>
                    <a:pt x="0" y="20781"/>
                  </a:lnTo>
                  <a:cubicBezTo>
                    <a:pt x="0" y="9304"/>
                    <a:pt x="9304" y="0"/>
                    <a:pt x="20781" y="0"/>
                  </a:cubicBezTo>
                  <a:close/>
                </a:path>
              </a:pathLst>
            </a:custGeom>
            <a:solidFill>
              <a:srgbClr val="4E6C7E"/>
            </a:solidFill>
            <a:ln w="19050" cap="rnd">
              <a:solidFill>
                <a:srgbClr val="4383D1"/>
              </a:solidFill>
              <a:prstDash val="solid"/>
              <a:round/>
            </a:ln>
          </p:spPr>
          <p:txBody>
            <a:bodyPr/>
            <a:lstStyle/>
            <a:p>
              <a:endParaRPr lang="tr-TR"/>
            </a:p>
          </p:txBody>
        </p:sp>
        <p:sp>
          <p:nvSpPr>
            <p:cNvPr id="10" name="TextBox 10"/>
            <p:cNvSpPr txBox="1"/>
            <p:nvPr/>
          </p:nvSpPr>
          <p:spPr>
            <a:xfrm>
              <a:off x="0" y="-28575"/>
              <a:ext cx="2040633" cy="1031774"/>
            </a:xfrm>
            <a:prstGeom prst="rect">
              <a:avLst/>
            </a:prstGeom>
          </p:spPr>
          <p:txBody>
            <a:bodyPr lIns="37272" tIns="37272" rIns="37272" bIns="37272" rtlCol="0" anchor="ctr"/>
            <a:lstStyle/>
            <a:p>
              <a:pPr algn="ctr">
                <a:lnSpc>
                  <a:spcPts val="2520"/>
                </a:lnSpc>
              </a:pPr>
              <a:endParaRPr/>
            </a:p>
          </p:txBody>
        </p:sp>
      </p:grpSp>
      <p:grpSp>
        <p:nvGrpSpPr>
          <p:cNvPr id="11" name="Group 11"/>
          <p:cNvGrpSpPr/>
          <p:nvPr/>
        </p:nvGrpSpPr>
        <p:grpSpPr>
          <a:xfrm>
            <a:off x="833941" y="1681037"/>
            <a:ext cx="7276467" cy="3577195"/>
            <a:chOff x="0" y="0"/>
            <a:chExt cx="2040633" cy="1003199"/>
          </a:xfrm>
        </p:grpSpPr>
        <p:sp>
          <p:nvSpPr>
            <p:cNvPr id="12" name="Freeform 12"/>
            <p:cNvSpPr/>
            <p:nvPr/>
          </p:nvSpPr>
          <p:spPr>
            <a:xfrm>
              <a:off x="0" y="0"/>
              <a:ext cx="2040633" cy="1003199"/>
            </a:xfrm>
            <a:custGeom>
              <a:avLst/>
              <a:gdLst/>
              <a:ahLst/>
              <a:cxnLst/>
              <a:rect l="l" t="t" r="r" b="b"/>
              <a:pathLst>
                <a:path w="2040633" h="1003199">
                  <a:moveTo>
                    <a:pt x="20781" y="0"/>
                  </a:moveTo>
                  <a:lnTo>
                    <a:pt x="2019852" y="0"/>
                  </a:lnTo>
                  <a:cubicBezTo>
                    <a:pt x="2031329" y="0"/>
                    <a:pt x="2040633" y="9304"/>
                    <a:pt x="2040633" y="20781"/>
                  </a:cubicBezTo>
                  <a:lnTo>
                    <a:pt x="2040633" y="982418"/>
                  </a:lnTo>
                  <a:cubicBezTo>
                    <a:pt x="2040633" y="993895"/>
                    <a:pt x="2031329" y="1003199"/>
                    <a:pt x="2019852" y="1003199"/>
                  </a:cubicBezTo>
                  <a:lnTo>
                    <a:pt x="20781" y="1003199"/>
                  </a:lnTo>
                  <a:cubicBezTo>
                    <a:pt x="9304" y="1003199"/>
                    <a:pt x="0" y="993895"/>
                    <a:pt x="0" y="982418"/>
                  </a:cubicBezTo>
                  <a:lnTo>
                    <a:pt x="0" y="20781"/>
                  </a:lnTo>
                  <a:cubicBezTo>
                    <a:pt x="0" y="9304"/>
                    <a:pt x="9304" y="0"/>
                    <a:pt x="20781" y="0"/>
                  </a:cubicBezTo>
                  <a:close/>
                </a:path>
              </a:pathLst>
            </a:custGeom>
            <a:solidFill>
              <a:srgbClr val="FFFFFF"/>
            </a:solidFill>
            <a:ln w="19050" cap="rnd">
              <a:solidFill>
                <a:srgbClr val="4383D1"/>
              </a:solidFill>
              <a:prstDash val="solid"/>
              <a:round/>
            </a:ln>
          </p:spPr>
          <p:txBody>
            <a:bodyPr/>
            <a:lstStyle/>
            <a:p>
              <a:endParaRPr lang="tr-TR"/>
            </a:p>
          </p:txBody>
        </p:sp>
        <p:sp>
          <p:nvSpPr>
            <p:cNvPr id="13" name="TextBox 13"/>
            <p:cNvSpPr txBox="1"/>
            <p:nvPr/>
          </p:nvSpPr>
          <p:spPr>
            <a:xfrm>
              <a:off x="0" y="-28575"/>
              <a:ext cx="2040633" cy="1031774"/>
            </a:xfrm>
            <a:prstGeom prst="rect">
              <a:avLst/>
            </a:prstGeom>
          </p:spPr>
          <p:txBody>
            <a:bodyPr lIns="37272" tIns="37272" rIns="37272" bIns="37272" rtlCol="0" anchor="ctr"/>
            <a:lstStyle/>
            <a:p>
              <a:pPr algn="ctr">
                <a:lnSpc>
                  <a:spcPts val="2520"/>
                </a:lnSpc>
              </a:pPr>
              <a:endParaRPr/>
            </a:p>
          </p:txBody>
        </p:sp>
      </p:grpSp>
      <p:grpSp>
        <p:nvGrpSpPr>
          <p:cNvPr id="14" name="Group 14"/>
          <p:cNvGrpSpPr/>
          <p:nvPr/>
        </p:nvGrpSpPr>
        <p:grpSpPr>
          <a:xfrm>
            <a:off x="1033109" y="2562926"/>
            <a:ext cx="393928" cy="393928"/>
            <a:chOff x="0" y="0"/>
            <a:chExt cx="812800" cy="812800"/>
          </a:xfrm>
        </p:grpSpPr>
        <p:sp>
          <p:nvSpPr>
            <p:cNvPr id="15" name="Freeform 15"/>
            <p:cNvSpPr/>
            <p:nvPr/>
          </p:nvSpPr>
          <p:spPr>
            <a:xfrm>
              <a:off x="0" y="57562"/>
              <a:ext cx="772097" cy="697677"/>
            </a:xfrm>
            <a:custGeom>
              <a:avLst/>
              <a:gdLst/>
              <a:ahLst/>
              <a:cxnLst/>
              <a:rect l="l" t="t" r="r" b="b"/>
              <a:pathLst>
                <a:path w="772097" h="697677">
                  <a:moveTo>
                    <a:pt x="743316" y="279354"/>
                  </a:moveTo>
                  <a:lnTo>
                    <a:pt x="475884" y="11922"/>
                  </a:lnTo>
                  <a:cubicBezTo>
                    <a:pt x="464243" y="281"/>
                    <a:pt x="446736" y="-3201"/>
                    <a:pt x="431527" y="3099"/>
                  </a:cubicBezTo>
                  <a:cubicBezTo>
                    <a:pt x="416317" y="9399"/>
                    <a:pt x="406400" y="24241"/>
                    <a:pt x="406400" y="40704"/>
                  </a:cubicBezTo>
                  <a:lnTo>
                    <a:pt x="406400" y="47372"/>
                  </a:lnTo>
                  <a:cubicBezTo>
                    <a:pt x="406400" y="101643"/>
                    <a:pt x="362405" y="145638"/>
                    <a:pt x="308134" y="145638"/>
                  </a:cubicBezTo>
                  <a:lnTo>
                    <a:pt x="98266" y="145638"/>
                  </a:lnTo>
                  <a:cubicBezTo>
                    <a:pt x="43995" y="145638"/>
                    <a:pt x="0" y="189633"/>
                    <a:pt x="0" y="243904"/>
                  </a:cubicBezTo>
                  <a:lnTo>
                    <a:pt x="0" y="453772"/>
                  </a:lnTo>
                  <a:cubicBezTo>
                    <a:pt x="0" y="508043"/>
                    <a:pt x="43995" y="552038"/>
                    <a:pt x="98266" y="552038"/>
                  </a:cubicBezTo>
                  <a:lnTo>
                    <a:pt x="308134" y="552038"/>
                  </a:lnTo>
                  <a:cubicBezTo>
                    <a:pt x="362405" y="552038"/>
                    <a:pt x="406400" y="596033"/>
                    <a:pt x="406400" y="650304"/>
                  </a:cubicBezTo>
                  <a:lnTo>
                    <a:pt x="406400" y="656972"/>
                  </a:lnTo>
                  <a:cubicBezTo>
                    <a:pt x="406400" y="673435"/>
                    <a:pt x="416317" y="688277"/>
                    <a:pt x="431527" y="694577"/>
                  </a:cubicBezTo>
                  <a:cubicBezTo>
                    <a:pt x="446736" y="700877"/>
                    <a:pt x="464243" y="697395"/>
                    <a:pt x="475884" y="685754"/>
                  </a:cubicBezTo>
                  <a:lnTo>
                    <a:pt x="743316" y="418322"/>
                  </a:lnTo>
                  <a:cubicBezTo>
                    <a:pt x="781691" y="379947"/>
                    <a:pt x="781691" y="317729"/>
                    <a:pt x="743316" y="279354"/>
                  </a:cubicBezTo>
                  <a:close/>
                </a:path>
              </a:pathLst>
            </a:custGeom>
            <a:solidFill>
              <a:srgbClr val="4E6C7E"/>
            </a:solidFill>
          </p:spPr>
          <p:txBody>
            <a:bodyPr/>
            <a:lstStyle/>
            <a:p>
              <a:endParaRPr lang="tr-TR"/>
            </a:p>
          </p:txBody>
        </p:sp>
        <p:sp>
          <p:nvSpPr>
            <p:cNvPr id="16" name="TextBox 16"/>
            <p:cNvSpPr txBox="1"/>
            <p:nvPr/>
          </p:nvSpPr>
          <p:spPr>
            <a:xfrm>
              <a:off x="0" y="174625"/>
              <a:ext cx="711200" cy="434975"/>
            </a:xfrm>
            <a:prstGeom prst="rect">
              <a:avLst/>
            </a:prstGeom>
          </p:spPr>
          <p:txBody>
            <a:bodyPr lIns="50800" tIns="50800" rIns="50800" bIns="50800" rtlCol="0" anchor="ctr"/>
            <a:lstStyle/>
            <a:p>
              <a:pPr algn="ctr">
                <a:lnSpc>
                  <a:spcPts val="2520"/>
                </a:lnSpc>
              </a:pPr>
              <a:endParaRPr/>
            </a:p>
          </p:txBody>
        </p:sp>
      </p:grpSp>
      <p:grpSp>
        <p:nvGrpSpPr>
          <p:cNvPr id="17" name="Group 17"/>
          <p:cNvGrpSpPr/>
          <p:nvPr/>
        </p:nvGrpSpPr>
        <p:grpSpPr>
          <a:xfrm>
            <a:off x="991575" y="5843326"/>
            <a:ext cx="7276467" cy="4155393"/>
            <a:chOff x="0" y="0"/>
            <a:chExt cx="2040633" cy="1165350"/>
          </a:xfrm>
        </p:grpSpPr>
        <p:sp>
          <p:nvSpPr>
            <p:cNvPr id="18" name="Freeform 18"/>
            <p:cNvSpPr/>
            <p:nvPr/>
          </p:nvSpPr>
          <p:spPr>
            <a:xfrm>
              <a:off x="0" y="0"/>
              <a:ext cx="2040633" cy="1165350"/>
            </a:xfrm>
            <a:custGeom>
              <a:avLst/>
              <a:gdLst/>
              <a:ahLst/>
              <a:cxnLst/>
              <a:rect l="l" t="t" r="r" b="b"/>
              <a:pathLst>
                <a:path w="2040633" h="1165350">
                  <a:moveTo>
                    <a:pt x="20781" y="0"/>
                  </a:moveTo>
                  <a:lnTo>
                    <a:pt x="2019852" y="0"/>
                  </a:lnTo>
                  <a:cubicBezTo>
                    <a:pt x="2031329" y="0"/>
                    <a:pt x="2040633" y="9304"/>
                    <a:pt x="2040633" y="20781"/>
                  </a:cubicBezTo>
                  <a:lnTo>
                    <a:pt x="2040633" y="1144569"/>
                  </a:lnTo>
                  <a:cubicBezTo>
                    <a:pt x="2040633" y="1156046"/>
                    <a:pt x="2031329" y="1165350"/>
                    <a:pt x="2019852" y="1165350"/>
                  </a:cubicBezTo>
                  <a:lnTo>
                    <a:pt x="20781" y="1165350"/>
                  </a:lnTo>
                  <a:cubicBezTo>
                    <a:pt x="9304" y="1165350"/>
                    <a:pt x="0" y="1156046"/>
                    <a:pt x="0" y="1144569"/>
                  </a:cubicBezTo>
                  <a:lnTo>
                    <a:pt x="0" y="20781"/>
                  </a:lnTo>
                  <a:cubicBezTo>
                    <a:pt x="0" y="9304"/>
                    <a:pt x="9304" y="0"/>
                    <a:pt x="20781" y="0"/>
                  </a:cubicBezTo>
                  <a:close/>
                </a:path>
              </a:pathLst>
            </a:custGeom>
            <a:solidFill>
              <a:srgbClr val="4E6C7E"/>
            </a:solidFill>
            <a:ln w="19050" cap="rnd">
              <a:solidFill>
                <a:srgbClr val="4383D1"/>
              </a:solidFill>
              <a:prstDash val="solid"/>
              <a:round/>
            </a:ln>
          </p:spPr>
          <p:txBody>
            <a:bodyPr/>
            <a:lstStyle/>
            <a:p>
              <a:endParaRPr lang="tr-TR"/>
            </a:p>
          </p:txBody>
        </p:sp>
        <p:sp>
          <p:nvSpPr>
            <p:cNvPr id="19" name="TextBox 19"/>
            <p:cNvSpPr txBox="1"/>
            <p:nvPr/>
          </p:nvSpPr>
          <p:spPr>
            <a:xfrm>
              <a:off x="0" y="-28575"/>
              <a:ext cx="2040633" cy="1193925"/>
            </a:xfrm>
            <a:prstGeom prst="rect">
              <a:avLst/>
            </a:prstGeom>
          </p:spPr>
          <p:txBody>
            <a:bodyPr lIns="37272" tIns="37272" rIns="37272" bIns="37272" rtlCol="0" anchor="ctr"/>
            <a:lstStyle/>
            <a:p>
              <a:pPr algn="ctr">
                <a:lnSpc>
                  <a:spcPts val="2520"/>
                </a:lnSpc>
              </a:pPr>
              <a:endParaRPr/>
            </a:p>
          </p:txBody>
        </p:sp>
      </p:grpSp>
      <p:grpSp>
        <p:nvGrpSpPr>
          <p:cNvPr id="20" name="Group 20"/>
          <p:cNvGrpSpPr/>
          <p:nvPr/>
        </p:nvGrpSpPr>
        <p:grpSpPr>
          <a:xfrm>
            <a:off x="833941" y="5596253"/>
            <a:ext cx="7276467" cy="4155393"/>
            <a:chOff x="0" y="0"/>
            <a:chExt cx="2040633" cy="1165350"/>
          </a:xfrm>
        </p:grpSpPr>
        <p:sp>
          <p:nvSpPr>
            <p:cNvPr id="21" name="Freeform 21"/>
            <p:cNvSpPr/>
            <p:nvPr/>
          </p:nvSpPr>
          <p:spPr>
            <a:xfrm>
              <a:off x="0" y="0"/>
              <a:ext cx="2040633" cy="1165350"/>
            </a:xfrm>
            <a:custGeom>
              <a:avLst/>
              <a:gdLst/>
              <a:ahLst/>
              <a:cxnLst/>
              <a:rect l="l" t="t" r="r" b="b"/>
              <a:pathLst>
                <a:path w="2040633" h="1165350">
                  <a:moveTo>
                    <a:pt x="20781" y="0"/>
                  </a:moveTo>
                  <a:lnTo>
                    <a:pt x="2019852" y="0"/>
                  </a:lnTo>
                  <a:cubicBezTo>
                    <a:pt x="2031329" y="0"/>
                    <a:pt x="2040633" y="9304"/>
                    <a:pt x="2040633" y="20781"/>
                  </a:cubicBezTo>
                  <a:lnTo>
                    <a:pt x="2040633" y="1144569"/>
                  </a:lnTo>
                  <a:cubicBezTo>
                    <a:pt x="2040633" y="1156046"/>
                    <a:pt x="2031329" y="1165350"/>
                    <a:pt x="2019852" y="1165350"/>
                  </a:cubicBezTo>
                  <a:lnTo>
                    <a:pt x="20781" y="1165350"/>
                  </a:lnTo>
                  <a:cubicBezTo>
                    <a:pt x="9304" y="1165350"/>
                    <a:pt x="0" y="1156046"/>
                    <a:pt x="0" y="1144569"/>
                  </a:cubicBezTo>
                  <a:lnTo>
                    <a:pt x="0" y="20781"/>
                  </a:lnTo>
                  <a:cubicBezTo>
                    <a:pt x="0" y="9304"/>
                    <a:pt x="9304" y="0"/>
                    <a:pt x="20781" y="0"/>
                  </a:cubicBezTo>
                  <a:close/>
                </a:path>
              </a:pathLst>
            </a:custGeom>
            <a:solidFill>
              <a:srgbClr val="FFFFFF"/>
            </a:solidFill>
            <a:ln w="19050" cap="rnd">
              <a:solidFill>
                <a:srgbClr val="4383D1"/>
              </a:solidFill>
              <a:prstDash val="solid"/>
              <a:round/>
            </a:ln>
          </p:spPr>
          <p:txBody>
            <a:bodyPr/>
            <a:lstStyle/>
            <a:p>
              <a:endParaRPr lang="tr-TR"/>
            </a:p>
          </p:txBody>
        </p:sp>
        <p:sp>
          <p:nvSpPr>
            <p:cNvPr id="22" name="TextBox 22"/>
            <p:cNvSpPr txBox="1"/>
            <p:nvPr/>
          </p:nvSpPr>
          <p:spPr>
            <a:xfrm>
              <a:off x="0" y="-28575"/>
              <a:ext cx="2040633" cy="1193925"/>
            </a:xfrm>
            <a:prstGeom prst="rect">
              <a:avLst/>
            </a:prstGeom>
          </p:spPr>
          <p:txBody>
            <a:bodyPr lIns="37272" tIns="37272" rIns="37272" bIns="37272" rtlCol="0" anchor="ctr"/>
            <a:lstStyle/>
            <a:p>
              <a:pPr algn="ctr">
                <a:lnSpc>
                  <a:spcPts val="2520"/>
                </a:lnSpc>
              </a:pPr>
              <a:endParaRPr/>
            </a:p>
          </p:txBody>
        </p:sp>
      </p:grpSp>
      <p:grpSp>
        <p:nvGrpSpPr>
          <p:cNvPr id="23" name="Group 23"/>
          <p:cNvGrpSpPr/>
          <p:nvPr/>
        </p:nvGrpSpPr>
        <p:grpSpPr>
          <a:xfrm>
            <a:off x="1033109" y="6476205"/>
            <a:ext cx="393928" cy="393928"/>
            <a:chOff x="0" y="0"/>
            <a:chExt cx="812800" cy="812800"/>
          </a:xfrm>
        </p:grpSpPr>
        <p:sp>
          <p:nvSpPr>
            <p:cNvPr id="24" name="Freeform 24"/>
            <p:cNvSpPr/>
            <p:nvPr/>
          </p:nvSpPr>
          <p:spPr>
            <a:xfrm>
              <a:off x="0" y="57562"/>
              <a:ext cx="772097" cy="697677"/>
            </a:xfrm>
            <a:custGeom>
              <a:avLst/>
              <a:gdLst/>
              <a:ahLst/>
              <a:cxnLst/>
              <a:rect l="l" t="t" r="r" b="b"/>
              <a:pathLst>
                <a:path w="772097" h="697677">
                  <a:moveTo>
                    <a:pt x="743316" y="279354"/>
                  </a:moveTo>
                  <a:lnTo>
                    <a:pt x="475884" y="11922"/>
                  </a:lnTo>
                  <a:cubicBezTo>
                    <a:pt x="464243" y="281"/>
                    <a:pt x="446736" y="-3201"/>
                    <a:pt x="431527" y="3099"/>
                  </a:cubicBezTo>
                  <a:cubicBezTo>
                    <a:pt x="416317" y="9399"/>
                    <a:pt x="406400" y="24241"/>
                    <a:pt x="406400" y="40704"/>
                  </a:cubicBezTo>
                  <a:lnTo>
                    <a:pt x="406400" y="47372"/>
                  </a:lnTo>
                  <a:cubicBezTo>
                    <a:pt x="406400" y="101643"/>
                    <a:pt x="362405" y="145638"/>
                    <a:pt x="308134" y="145638"/>
                  </a:cubicBezTo>
                  <a:lnTo>
                    <a:pt x="98266" y="145638"/>
                  </a:lnTo>
                  <a:cubicBezTo>
                    <a:pt x="43995" y="145638"/>
                    <a:pt x="0" y="189633"/>
                    <a:pt x="0" y="243904"/>
                  </a:cubicBezTo>
                  <a:lnTo>
                    <a:pt x="0" y="453772"/>
                  </a:lnTo>
                  <a:cubicBezTo>
                    <a:pt x="0" y="508043"/>
                    <a:pt x="43995" y="552038"/>
                    <a:pt x="98266" y="552038"/>
                  </a:cubicBezTo>
                  <a:lnTo>
                    <a:pt x="308134" y="552038"/>
                  </a:lnTo>
                  <a:cubicBezTo>
                    <a:pt x="362405" y="552038"/>
                    <a:pt x="406400" y="596033"/>
                    <a:pt x="406400" y="650304"/>
                  </a:cubicBezTo>
                  <a:lnTo>
                    <a:pt x="406400" y="656972"/>
                  </a:lnTo>
                  <a:cubicBezTo>
                    <a:pt x="406400" y="673435"/>
                    <a:pt x="416317" y="688277"/>
                    <a:pt x="431527" y="694577"/>
                  </a:cubicBezTo>
                  <a:cubicBezTo>
                    <a:pt x="446736" y="700877"/>
                    <a:pt x="464243" y="697395"/>
                    <a:pt x="475884" y="685754"/>
                  </a:cubicBezTo>
                  <a:lnTo>
                    <a:pt x="743316" y="418322"/>
                  </a:lnTo>
                  <a:cubicBezTo>
                    <a:pt x="781691" y="379947"/>
                    <a:pt x="781691" y="317729"/>
                    <a:pt x="743316" y="279354"/>
                  </a:cubicBezTo>
                  <a:close/>
                </a:path>
              </a:pathLst>
            </a:custGeom>
            <a:solidFill>
              <a:srgbClr val="4E6C7E"/>
            </a:solidFill>
          </p:spPr>
          <p:txBody>
            <a:bodyPr/>
            <a:lstStyle/>
            <a:p>
              <a:endParaRPr lang="tr-TR"/>
            </a:p>
          </p:txBody>
        </p:sp>
        <p:sp>
          <p:nvSpPr>
            <p:cNvPr id="25" name="TextBox 25"/>
            <p:cNvSpPr txBox="1"/>
            <p:nvPr/>
          </p:nvSpPr>
          <p:spPr>
            <a:xfrm>
              <a:off x="0" y="174625"/>
              <a:ext cx="711200" cy="434975"/>
            </a:xfrm>
            <a:prstGeom prst="rect">
              <a:avLst/>
            </a:prstGeom>
          </p:spPr>
          <p:txBody>
            <a:bodyPr lIns="50800" tIns="50800" rIns="50800" bIns="50800" rtlCol="0" anchor="ctr"/>
            <a:lstStyle/>
            <a:p>
              <a:pPr algn="ctr">
                <a:lnSpc>
                  <a:spcPts val="2520"/>
                </a:lnSpc>
              </a:pPr>
              <a:endParaRPr/>
            </a:p>
          </p:txBody>
        </p:sp>
      </p:grpSp>
      <p:sp>
        <p:nvSpPr>
          <p:cNvPr id="26" name="Freeform 26"/>
          <p:cNvSpPr/>
          <p:nvPr/>
        </p:nvSpPr>
        <p:spPr>
          <a:xfrm>
            <a:off x="8435318" y="2079753"/>
            <a:ext cx="8823982" cy="7599654"/>
          </a:xfrm>
          <a:custGeom>
            <a:avLst/>
            <a:gdLst/>
            <a:ahLst/>
            <a:cxnLst/>
            <a:rect l="l" t="t" r="r" b="b"/>
            <a:pathLst>
              <a:path w="8823982" h="7599654">
                <a:moveTo>
                  <a:pt x="0" y="0"/>
                </a:moveTo>
                <a:lnTo>
                  <a:pt x="8823982" y="0"/>
                </a:lnTo>
                <a:lnTo>
                  <a:pt x="8823982" y="7599655"/>
                </a:lnTo>
                <a:lnTo>
                  <a:pt x="0" y="7599655"/>
                </a:lnTo>
                <a:lnTo>
                  <a:pt x="0" y="0"/>
                </a:lnTo>
                <a:close/>
              </a:path>
            </a:pathLst>
          </a:custGeom>
          <a:blipFill>
            <a:blip r:embed="rId2"/>
            <a:stretch>
              <a:fillRect/>
            </a:stretch>
          </a:blipFill>
          <a:ln w="47625" cap="sq">
            <a:solidFill>
              <a:srgbClr val="000000"/>
            </a:solidFill>
            <a:prstDash val="solid"/>
            <a:miter/>
          </a:ln>
        </p:spPr>
        <p:txBody>
          <a:bodyPr/>
          <a:lstStyle/>
          <a:p>
            <a:endParaRPr lang="tr-TR"/>
          </a:p>
        </p:txBody>
      </p:sp>
      <p:sp>
        <p:nvSpPr>
          <p:cNvPr id="27" name="TextBox 27"/>
          <p:cNvSpPr txBox="1"/>
          <p:nvPr/>
        </p:nvSpPr>
        <p:spPr>
          <a:xfrm>
            <a:off x="1544514" y="2002465"/>
            <a:ext cx="6419214" cy="396599"/>
          </a:xfrm>
          <a:prstGeom prst="rect">
            <a:avLst/>
          </a:prstGeom>
        </p:spPr>
        <p:txBody>
          <a:bodyPr lIns="0" tIns="0" rIns="0" bIns="0" rtlCol="0" anchor="t">
            <a:spAutoFit/>
          </a:bodyPr>
          <a:lstStyle/>
          <a:p>
            <a:pPr algn="l">
              <a:lnSpc>
                <a:spcPts val="3132"/>
              </a:lnSpc>
            </a:pPr>
            <a:r>
              <a:rPr lang="en-US" sz="2900" b="1">
                <a:solidFill>
                  <a:srgbClr val="000000"/>
                </a:solidFill>
                <a:latin typeface="Montserrat Bold"/>
                <a:ea typeface="Montserrat Bold"/>
                <a:cs typeface="Montserrat Bold"/>
                <a:sym typeface="Montserrat Bold"/>
              </a:rPr>
              <a:t>Kara Kutu Probleminin Çözümü:</a:t>
            </a:r>
          </a:p>
        </p:txBody>
      </p:sp>
      <p:sp>
        <p:nvSpPr>
          <p:cNvPr id="28" name="TextBox 28"/>
          <p:cNvSpPr txBox="1"/>
          <p:nvPr/>
        </p:nvSpPr>
        <p:spPr>
          <a:xfrm>
            <a:off x="1544514" y="2505776"/>
            <a:ext cx="6012955" cy="2276907"/>
          </a:xfrm>
          <a:prstGeom prst="rect">
            <a:avLst/>
          </a:prstGeom>
        </p:spPr>
        <p:txBody>
          <a:bodyPr lIns="0" tIns="0" rIns="0" bIns="0" rtlCol="0" anchor="t">
            <a:spAutoFit/>
          </a:bodyPr>
          <a:lstStyle/>
          <a:p>
            <a:pPr algn="just">
              <a:lnSpc>
                <a:spcPts val="3639"/>
              </a:lnSpc>
            </a:pPr>
            <a:r>
              <a:rPr lang="en-US" sz="2599" b="1">
                <a:solidFill>
                  <a:srgbClr val="000000"/>
                </a:solidFill>
                <a:latin typeface="Quicksand Semi-Bold"/>
                <a:ea typeface="Quicksand Semi-Bold"/>
                <a:cs typeface="Quicksand Semi-Bold"/>
                <a:sym typeface="Quicksand Semi-Bold"/>
              </a:rPr>
              <a:t>Tıp alanında bir yapay zekanın neden bu kararı verdiğini açıklaması zorunludur. Bu şeffaflığı sağlamak için sisteme Grad-CAM ısı haritaları (Heatmap) entegre edilmiştir.</a:t>
            </a:r>
          </a:p>
        </p:txBody>
      </p:sp>
      <p:sp>
        <p:nvSpPr>
          <p:cNvPr id="29" name="TextBox 29"/>
          <p:cNvSpPr txBox="1"/>
          <p:nvPr/>
        </p:nvSpPr>
        <p:spPr>
          <a:xfrm>
            <a:off x="833941" y="552463"/>
            <a:ext cx="15923492" cy="854019"/>
          </a:xfrm>
          <a:prstGeom prst="rect">
            <a:avLst/>
          </a:prstGeom>
        </p:spPr>
        <p:txBody>
          <a:bodyPr lIns="0" tIns="0" rIns="0" bIns="0" rtlCol="0" anchor="t">
            <a:spAutoFit/>
          </a:bodyPr>
          <a:lstStyle/>
          <a:p>
            <a:pPr marL="0" lvl="0" indent="0" algn="l">
              <a:lnSpc>
                <a:spcPts val="7000"/>
              </a:lnSpc>
              <a:spcBef>
                <a:spcPct val="0"/>
              </a:spcBef>
            </a:pPr>
            <a:r>
              <a:rPr lang="en-US" sz="5000" b="1" u="none" strike="noStrike">
                <a:solidFill>
                  <a:srgbClr val="154562"/>
                </a:solidFill>
                <a:latin typeface="Montserrat Ultra-Bold"/>
                <a:ea typeface="Montserrat Ultra-Bold"/>
                <a:cs typeface="Montserrat Ultra-Bold"/>
                <a:sym typeface="Montserrat Ultra-Bold"/>
              </a:rPr>
              <a:t>Açıklanabilir Yapay Zeka (XAI) ve Şeffaflık</a:t>
            </a:r>
          </a:p>
        </p:txBody>
      </p:sp>
      <p:sp>
        <p:nvSpPr>
          <p:cNvPr id="30" name="TextBox 30"/>
          <p:cNvSpPr txBox="1"/>
          <p:nvPr/>
        </p:nvSpPr>
        <p:spPr>
          <a:xfrm>
            <a:off x="1544514" y="5917681"/>
            <a:ext cx="6419214" cy="396599"/>
          </a:xfrm>
          <a:prstGeom prst="rect">
            <a:avLst/>
          </a:prstGeom>
        </p:spPr>
        <p:txBody>
          <a:bodyPr lIns="0" tIns="0" rIns="0" bIns="0" rtlCol="0" anchor="t">
            <a:spAutoFit/>
          </a:bodyPr>
          <a:lstStyle/>
          <a:p>
            <a:pPr algn="l">
              <a:lnSpc>
                <a:spcPts val="3132"/>
              </a:lnSpc>
            </a:pPr>
            <a:r>
              <a:rPr lang="en-US" sz="2900" b="1">
                <a:solidFill>
                  <a:srgbClr val="000000"/>
                </a:solidFill>
                <a:latin typeface="Montserrat Bold"/>
                <a:ea typeface="Montserrat Bold"/>
                <a:cs typeface="Montserrat Bold"/>
                <a:sym typeface="Montserrat Bold"/>
              </a:rPr>
              <a:t>Morfolojik Odaklanma Kanıtı:</a:t>
            </a:r>
          </a:p>
        </p:txBody>
      </p:sp>
      <p:sp>
        <p:nvSpPr>
          <p:cNvPr id="31" name="TextBox 31"/>
          <p:cNvSpPr txBox="1"/>
          <p:nvPr/>
        </p:nvSpPr>
        <p:spPr>
          <a:xfrm>
            <a:off x="1544514" y="6419055"/>
            <a:ext cx="6012955" cy="3191225"/>
          </a:xfrm>
          <a:prstGeom prst="rect">
            <a:avLst/>
          </a:prstGeom>
        </p:spPr>
        <p:txBody>
          <a:bodyPr lIns="0" tIns="0" rIns="0" bIns="0" rtlCol="0" anchor="t">
            <a:spAutoFit/>
          </a:bodyPr>
          <a:lstStyle/>
          <a:p>
            <a:pPr algn="just">
              <a:lnSpc>
                <a:spcPts val="3639"/>
              </a:lnSpc>
            </a:pPr>
            <a:r>
              <a:rPr lang="en-US" sz="2599" b="1">
                <a:solidFill>
                  <a:srgbClr val="000000"/>
                </a:solidFill>
                <a:latin typeface="Quicksand Semi-Bold"/>
                <a:ea typeface="Quicksand Semi-Bold"/>
                <a:cs typeface="Quicksand Semi-Bold"/>
                <a:sym typeface="Quicksand Semi-Bold"/>
              </a:rPr>
              <a:t>Isı haritalarını incelendiğinde, modelin rastgele boşluklara bakmadığı; kararlarını verirken embriyonun kalitesini belirleyen Dış Halka (Trofektoderm) ve İç Hücre Kütlesi (ICM) zarlarına odaklandığı bilimsel olarak kanıtlanmıştır.</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rot="8423578">
            <a:off x="16494430" y="4932808"/>
            <a:ext cx="5581577" cy="5581577"/>
            <a:chOff x="0" y="0"/>
            <a:chExt cx="812800" cy="812800"/>
          </a:xfrm>
        </p:grpSpPr>
        <p:sp>
          <p:nvSpPr>
            <p:cNvPr id="3" name="Freeform 3"/>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1">
              <a:gsLst>
                <a:gs pos="0">
                  <a:srgbClr val="377FD6">
                    <a:alpha val="31000"/>
                  </a:srgbClr>
                </a:gs>
                <a:gs pos="100000">
                  <a:srgbClr val="CBE2FF">
                    <a:alpha val="31000"/>
                  </a:srgbClr>
                </a:gs>
              </a:gsLst>
              <a:lin ang="5400000"/>
            </a:gradFill>
          </p:spPr>
          <p:txBody>
            <a:bodyPr/>
            <a:lstStyle/>
            <a:p>
              <a:endParaRPr lang="tr-TR"/>
            </a:p>
          </p:txBody>
        </p:sp>
        <p:sp>
          <p:nvSpPr>
            <p:cNvPr id="4" name="TextBox 4"/>
            <p:cNvSpPr txBox="1"/>
            <p:nvPr/>
          </p:nvSpPr>
          <p:spPr>
            <a:xfrm>
              <a:off x="76200" y="47625"/>
              <a:ext cx="660400" cy="688975"/>
            </a:xfrm>
            <a:prstGeom prst="rect">
              <a:avLst/>
            </a:prstGeom>
          </p:spPr>
          <p:txBody>
            <a:bodyPr lIns="50800" tIns="50800" rIns="50800" bIns="50800" rtlCol="0" anchor="ctr"/>
            <a:lstStyle/>
            <a:p>
              <a:pPr algn="ctr">
                <a:lnSpc>
                  <a:spcPts val="2520"/>
                </a:lnSpc>
              </a:pPr>
              <a:endParaRPr/>
            </a:p>
          </p:txBody>
        </p:sp>
      </p:grpSp>
      <p:grpSp>
        <p:nvGrpSpPr>
          <p:cNvPr id="5" name="Group 5"/>
          <p:cNvGrpSpPr/>
          <p:nvPr/>
        </p:nvGrpSpPr>
        <p:grpSpPr>
          <a:xfrm rot="8423578">
            <a:off x="15274448" y="6674007"/>
            <a:ext cx="5581577" cy="5581577"/>
            <a:chOff x="0" y="0"/>
            <a:chExt cx="812800" cy="812800"/>
          </a:xfrm>
        </p:grpSpPr>
        <p:sp>
          <p:nvSpPr>
            <p:cNvPr id="6" name="Freeform 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1">
              <a:gsLst>
                <a:gs pos="0">
                  <a:srgbClr val="377FD6">
                    <a:alpha val="31000"/>
                  </a:srgbClr>
                </a:gs>
                <a:gs pos="100000">
                  <a:srgbClr val="CBE2FF">
                    <a:alpha val="31000"/>
                  </a:srgbClr>
                </a:gs>
              </a:gsLst>
              <a:lin ang="5400000"/>
            </a:gradFill>
          </p:spPr>
          <p:txBody>
            <a:bodyPr/>
            <a:lstStyle/>
            <a:p>
              <a:endParaRPr lang="tr-TR"/>
            </a:p>
          </p:txBody>
        </p:sp>
        <p:sp>
          <p:nvSpPr>
            <p:cNvPr id="7" name="TextBox 7"/>
            <p:cNvSpPr txBox="1"/>
            <p:nvPr/>
          </p:nvSpPr>
          <p:spPr>
            <a:xfrm>
              <a:off x="76200" y="47625"/>
              <a:ext cx="660400" cy="688975"/>
            </a:xfrm>
            <a:prstGeom prst="rect">
              <a:avLst/>
            </a:prstGeom>
          </p:spPr>
          <p:txBody>
            <a:bodyPr lIns="50800" tIns="50800" rIns="50800" bIns="50800" rtlCol="0" anchor="ctr"/>
            <a:lstStyle/>
            <a:p>
              <a:pPr algn="ctr">
                <a:lnSpc>
                  <a:spcPts val="2520"/>
                </a:lnSpc>
              </a:pPr>
              <a:endParaRPr/>
            </a:p>
          </p:txBody>
        </p:sp>
      </p:grpSp>
      <p:grpSp>
        <p:nvGrpSpPr>
          <p:cNvPr id="8" name="Group 8"/>
          <p:cNvGrpSpPr/>
          <p:nvPr/>
        </p:nvGrpSpPr>
        <p:grpSpPr>
          <a:xfrm>
            <a:off x="12580156" y="-579648"/>
            <a:ext cx="1928382" cy="1928382"/>
            <a:chOff x="0" y="0"/>
            <a:chExt cx="812800" cy="812800"/>
          </a:xfrm>
        </p:grpSpPr>
        <p:sp>
          <p:nvSpPr>
            <p:cNvPr id="9" name="Freeform 9"/>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1">
              <a:gsLst>
                <a:gs pos="0">
                  <a:srgbClr val="377FD6">
                    <a:alpha val="31000"/>
                  </a:srgbClr>
                </a:gs>
                <a:gs pos="100000">
                  <a:srgbClr val="CBE2FF">
                    <a:alpha val="31000"/>
                  </a:srgbClr>
                </a:gs>
              </a:gsLst>
              <a:lin ang="5400000"/>
            </a:gradFill>
          </p:spPr>
          <p:txBody>
            <a:bodyPr/>
            <a:lstStyle/>
            <a:p>
              <a:endParaRPr lang="tr-TR"/>
            </a:p>
          </p:txBody>
        </p:sp>
        <p:sp>
          <p:nvSpPr>
            <p:cNvPr id="10" name="TextBox 10"/>
            <p:cNvSpPr txBox="1"/>
            <p:nvPr/>
          </p:nvSpPr>
          <p:spPr>
            <a:xfrm>
              <a:off x="76200" y="47625"/>
              <a:ext cx="660400" cy="688975"/>
            </a:xfrm>
            <a:prstGeom prst="rect">
              <a:avLst/>
            </a:prstGeom>
          </p:spPr>
          <p:txBody>
            <a:bodyPr lIns="50800" tIns="50800" rIns="50800" bIns="50800" rtlCol="0" anchor="ctr"/>
            <a:lstStyle/>
            <a:p>
              <a:pPr algn="ctr">
                <a:lnSpc>
                  <a:spcPts val="2520"/>
                </a:lnSpc>
              </a:pPr>
              <a:endParaRPr/>
            </a:p>
          </p:txBody>
        </p:sp>
      </p:grpSp>
      <p:sp>
        <p:nvSpPr>
          <p:cNvPr id="11" name="Freeform 11"/>
          <p:cNvSpPr/>
          <p:nvPr/>
        </p:nvSpPr>
        <p:spPr>
          <a:xfrm>
            <a:off x="17742720" y="6096508"/>
            <a:ext cx="393381" cy="393381"/>
          </a:xfrm>
          <a:custGeom>
            <a:avLst/>
            <a:gdLst/>
            <a:ahLst/>
            <a:cxnLst/>
            <a:rect l="l" t="t" r="r" b="b"/>
            <a:pathLst>
              <a:path w="393381" h="393381">
                <a:moveTo>
                  <a:pt x="0" y="0"/>
                </a:moveTo>
                <a:lnTo>
                  <a:pt x="393381" y="0"/>
                </a:lnTo>
                <a:lnTo>
                  <a:pt x="393381" y="393381"/>
                </a:lnTo>
                <a:lnTo>
                  <a:pt x="0" y="393381"/>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tr-TR"/>
          </a:p>
        </p:txBody>
      </p:sp>
      <p:grpSp>
        <p:nvGrpSpPr>
          <p:cNvPr id="12" name="Group 12"/>
          <p:cNvGrpSpPr/>
          <p:nvPr/>
        </p:nvGrpSpPr>
        <p:grpSpPr>
          <a:xfrm>
            <a:off x="-944262" y="1804497"/>
            <a:ext cx="8357016" cy="3605992"/>
            <a:chOff x="0" y="0"/>
            <a:chExt cx="11142687" cy="4807989"/>
          </a:xfrm>
        </p:grpSpPr>
        <p:grpSp>
          <p:nvGrpSpPr>
            <p:cNvPr id="13" name="Group 13"/>
            <p:cNvGrpSpPr/>
            <p:nvPr/>
          </p:nvGrpSpPr>
          <p:grpSpPr>
            <a:xfrm>
              <a:off x="236273" y="269831"/>
              <a:ext cx="10906415" cy="4538158"/>
              <a:chOff x="0" y="0"/>
              <a:chExt cx="2253631" cy="937736"/>
            </a:xfrm>
          </p:grpSpPr>
          <p:sp>
            <p:nvSpPr>
              <p:cNvPr id="14" name="Freeform 14"/>
              <p:cNvSpPr/>
              <p:nvPr/>
            </p:nvSpPr>
            <p:spPr>
              <a:xfrm>
                <a:off x="0" y="0"/>
                <a:ext cx="2253631" cy="937736"/>
              </a:xfrm>
              <a:custGeom>
                <a:avLst/>
                <a:gdLst/>
                <a:ahLst/>
                <a:cxnLst/>
                <a:rect l="l" t="t" r="r" b="b"/>
                <a:pathLst>
                  <a:path w="2253631" h="937736">
                    <a:moveTo>
                      <a:pt x="13806" y="0"/>
                    </a:moveTo>
                    <a:lnTo>
                      <a:pt x="2239826" y="0"/>
                    </a:lnTo>
                    <a:cubicBezTo>
                      <a:pt x="2243487" y="0"/>
                      <a:pt x="2246999" y="1455"/>
                      <a:pt x="2249588" y="4044"/>
                    </a:cubicBezTo>
                    <a:cubicBezTo>
                      <a:pt x="2252177" y="6633"/>
                      <a:pt x="2253631" y="10144"/>
                      <a:pt x="2253631" y="13806"/>
                    </a:cubicBezTo>
                    <a:lnTo>
                      <a:pt x="2253631" y="923930"/>
                    </a:lnTo>
                    <a:cubicBezTo>
                      <a:pt x="2253631" y="927592"/>
                      <a:pt x="2252177" y="931103"/>
                      <a:pt x="2249588" y="933692"/>
                    </a:cubicBezTo>
                    <a:cubicBezTo>
                      <a:pt x="2246999" y="936281"/>
                      <a:pt x="2243487" y="937736"/>
                      <a:pt x="2239826" y="937736"/>
                    </a:cubicBezTo>
                    <a:lnTo>
                      <a:pt x="13806" y="937736"/>
                    </a:lnTo>
                    <a:cubicBezTo>
                      <a:pt x="10144" y="937736"/>
                      <a:pt x="6633" y="936281"/>
                      <a:pt x="4044" y="933692"/>
                    </a:cubicBezTo>
                    <a:cubicBezTo>
                      <a:pt x="1455" y="931103"/>
                      <a:pt x="0" y="927592"/>
                      <a:pt x="0" y="923930"/>
                    </a:cubicBezTo>
                    <a:lnTo>
                      <a:pt x="0" y="13806"/>
                    </a:lnTo>
                    <a:cubicBezTo>
                      <a:pt x="0" y="10144"/>
                      <a:pt x="1455" y="6633"/>
                      <a:pt x="4044" y="4044"/>
                    </a:cubicBezTo>
                    <a:cubicBezTo>
                      <a:pt x="6633" y="1455"/>
                      <a:pt x="10144" y="0"/>
                      <a:pt x="13806" y="0"/>
                    </a:cubicBezTo>
                    <a:close/>
                  </a:path>
                </a:pathLst>
              </a:custGeom>
              <a:solidFill>
                <a:srgbClr val="4E6C7E"/>
              </a:solidFill>
              <a:ln w="19050" cap="rnd">
                <a:solidFill>
                  <a:srgbClr val="4383D1"/>
                </a:solidFill>
                <a:prstDash val="solid"/>
                <a:round/>
              </a:ln>
            </p:spPr>
            <p:txBody>
              <a:bodyPr/>
              <a:lstStyle/>
              <a:p>
                <a:endParaRPr lang="tr-TR"/>
              </a:p>
            </p:txBody>
          </p:sp>
          <p:sp>
            <p:nvSpPr>
              <p:cNvPr id="15" name="TextBox 15"/>
              <p:cNvSpPr txBox="1"/>
              <p:nvPr/>
            </p:nvSpPr>
            <p:spPr>
              <a:xfrm>
                <a:off x="0" y="-28575"/>
                <a:ext cx="2253631" cy="966311"/>
              </a:xfrm>
              <a:prstGeom prst="rect">
                <a:avLst/>
              </a:prstGeom>
            </p:spPr>
            <p:txBody>
              <a:bodyPr lIns="50800" tIns="50800" rIns="50800" bIns="50800" rtlCol="0" anchor="ctr"/>
              <a:lstStyle/>
              <a:p>
                <a:pPr algn="ctr">
                  <a:lnSpc>
                    <a:spcPts val="2519"/>
                  </a:lnSpc>
                </a:pPr>
                <a:endParaRPr/>
              </a:p>
            </p:txBody>
          </p:sp>
        </p:grpSp>
        <p:grpSp>
          <p:nvGrpSpPr>
            <p:cNvPr id="16" name="Group 16"/>
            <p:cNvGrpSpPr/>
            <p:nvPr/>
          </p:nvGrpSpPr>
          <p:grpSpPr>
            <a:xfrm>
              <a:off x="0" y="0"/>
              <a:ext cx="10906415" cy="4538158"/>
              <a:chOff x="0" y="0"/>
              <a:chExt cx="2253631" cy="937736"/>
            </a:xfrm>
          </p:grpSpPr>
          <p:sp>
            <p:nvSpPr>
              <p:cNvPr id="17" name="Freeform 17"/>
              <p:cNvSpPr/>
              <p:nvPr/>
            </p:nvSpPr>
            <p:spPr>
              <a:xfrm>
                <a:off x="0" y="0"/>
                <a:ext cx="2253631" cy="937736"/>
              </a:xfrm>
              <a:custGeom>
                <a:avLst/>
                <a:gdLst/>
                <a:ahLst/>
                <a:cxnLst/>
                <a:rect l="l" t="t" r="r" b="b"/>
                <a:pathLst>
                  <a:path w="2253631" h="937736">
                    <a:moveTo>
                      <a:pt x="13806" y="0"/>
                    </a:moveTo>
                    <a:lnTo>
                      <a:pt x="2239826" y="0"/>
                    </a:lnTo>
                    <a:cubicBezTo>
                      <a:pt x="2243487" y="0"/>
                      <a:pt x="2246999" y="1455"/>
                      <a:pt x="2249588" y="4044"/>
                    </a:cubicBezTo>
                    <a:cubicBezTo>
                      <a:pt x="2252177" y="6633"/>
                      <a:pt x="2253631" y="10144"/>
                      <a:pt x="2253631" y="13806"/>
                    </a:cubicBezTo>
                    <a:lnTo>
                      <a:pt x="2253631" y="923930"/>
                    </a:lnTo>
                    <a:cubicBezTo>
                      <a:pt x="2253631" y="927592"/>
                      <a:pt x="2252177" y="931103"/>
                      <a:pt x="2249588" y="933692"/>
                    </a:cubicBezTo>
                    <a:cubicBezTo>
                      <a:pt x="2246999" y="936281"/>
                      <a:pt x="2243487" y="937736"/>
                      <a:pt x="2239826" y="937736"/>
                    </a:cubicBezTo>
                    <a:lnTo>
                      <a:pt x="13806" y="937736"/>
                    </a:lnTo>
                    <a:cubicBezTo>
                      <a:pt x="10144" y="937736"/>
                      <a:pt x="6633" y="936281"/>
                      <a:pt x="4044" y="933692"/>
                    </a:cubicBezTo>
                    <a:cubicBezTo>
                      <a:pt x="1455" y="931103"/>
                      <a:pt x="0" y="927592"/>
                      <a:pt x="0" y="923930"/>
                    </a:cubicBezTo>
                    <a:lnTo>
                      <a:pt x="0" y="13806"/>
                    </a:lnTo>
                    <a:cubicBezTo>
                      <a:pt x="0" y="10144"/>
                      <a:pt x="1455" y="6633"/>
                      <a:pt x="4044" y="4044"/>
                    </a:cubicBezTo>
                    <a:cubicBezTo>
                      <a:pt x="6633" y="1455"/>
                      <a:pt x="10144" y="0"/>
                      <a:pt x="13806" y="0"/>
                    </a:cubicBezTo>
                    <a:close/>
                  </a:path>
                </a:pathLst>
              </a:custGeom>
              <a:solidFill>
                <a:srgbClr val="FFFFFF"/>
              </a:solidFill>
              <a:ln w="19050" cap="rnd">
                <a:solidFill>
                  <a:srgbClr val="4383D1"/>
                </a:solidFill>
                <a:prstDash val="solid"/>
                <a:round/>
              </a:ln>
            </p:spPr>
            <p:txBody>
              <a:bodyPr/>
              <a:lstStyle/>
              <a:p>
                <a:endParaRPr lang="tr-TR"/>
              </a:p>
            </p:txBody>
          </p:sp>
          <p:sp>
            <p:nvSpPr>
              <p:cNvPr id="18" name="TextBox 18"/>
              <p:cNvSpPr txBox="1"/>
              <p:nvPr/>
            </p:nvSpPr>
            <p:spPr>
              <a:xfrm>
                <a:off x="0" y="-28575"/>
                <a:ext cx="2253631" cy="966311"/>
              </a:xfrm>
              <a:prstGeom prst="rect">
                <a:avLst/>
              </a:prstGeom>
            </p:spPr>
            <p:txBody>
              <a:bodyPr lIns="50800" tIns="50800" rIns="50800" bIns="50800" rtlCol="0" anchor="ctr"/>
              <a:lstStyle/>
              <a:p>
                <a:pPr algn="ctr">
                  <a:lnSpc>
                    <a:spcPts val="2519"/>
                  </a:lnSpc>
                </a:pPr>
                <a:endParaRPr/>
              </a:p>
            </p:txBody>
          </p:sp>
        </p:grpSp>
      </p:grpSp>
      <p:grpSp>
        <p:nvGrpSpPr>
          <p:cNvPr id="19" name="Group 19"/>
          <p:cNvGrpSpPr/>
          <p:nvPr/>
        </p:nvGrpSpPr>
        <p:grpSpPr>
          <a:xfrm>
            <a:off x="400443" y="2651378"/>
            <a:ext cx="393928" cy="393928"/>
            <a:chOff x="0" y="0"/>
            <a:chExt cx="812800" cy="812800"/>
          </a:xfrm>
        </p:grpSpPr>
        <p:sp>
          <p:nvSpPr>
            <p:cNvPr id="20" name="Freeform 20"/>
            <p:cNvSpPr/>
            <p:nvPr/>
          </p:nvSpPr>
          <p:spPr>
            <a:xfrm>
              <a:off x="0" y="57562"/>
              <a:ext cx="772097" cy="697677"/>
            </a:xfrm>
            <a:custGeom>
              <a:avLst/>
              <a:gdLst/>
              <a:ahLst/>
              <a:cxnLst/>
              <a:rect l="l" t="t" r="r" b="b"/>
              <a:pathLst>
                <a:path w="772097" h="697677">
                  <a:moveTo>
                    <a:pt x="743316" y="279354"/>
                  </a:moveTo>
                  <a:lnTo>
                    <a:pt x="475884" y="11922"/>
                  </a:lnTo>
                  <a:cubicBezTo>
                    <a:pt x="464243" y="281"/>
                    <a:pt x="446736" y="-3201"/>
                    <a:pt x="431527" y="3099"/>
                  </a:cubicBezTo>
                  <a:cubicBezTo>
                    <a:pt x="416317" y="9399"/>
                    <a:pt x="406400" y="24241"/>
                    <a:pt x="406400" y="40704"/>
                  </a:cubicBezTo>
                  <a:lnTo>
                    <a:pt x="406400" y="47372"/>
                  </a:lnTo>
                  <a:cubicBezTo>
                    <a:pt x="406400" y="101643"/>
                    <a:pt x="362405" y="145638"/>
                    <a:pt x="308134" y="145638"/>
                  </a:cubicBezTo>
                  <a:lnTo>
                    <a:pt x="98266" y="145638"/>
                  </a:lnTo>
                  <a:cubicBezTo>
                    <a:pt x="43995" y="145638"/>
                    <a:pt x="0" y="189633"/>
                    <a:pt x="0" y="243904"/>
                  </a:cubicBezTo>
                  <a:lnTo>
                    <a:pt x="0" y="453772"/>
                  </a:lnTo>
                  <a:cubicBezTo>
                    <a:pt x="0" y="508043"/>
                    <a:pt x="43995" y="552038"/>
                    <a:pt x="98266" y="552038"/>
                  </a:cubicBezTo>
                  <a:lnTo>
                    <a:pt x="308134" y="552038"/>
                  </a:lnTo>
                  <a:cubicBezTo>
                    <a:pt x="362405" y="552038"/>
                    <a:pt x="406400" y="596033"/>
                    <a:pt x="406400" y="650304"/>
                  </a:cubicBezTo>
                  <a:lnTo>
                    <a:pt x="406400" y="656972"/>
                  </a:lnTo>
                  <a:cubicBezTo>
                    <a:pt x="406400" y="673435"/>
                    <a:pt x="416317" y="688277"/>
                    <a:pt x="431527" y="694577"/>
                  </a:cubicBezTo>
                  <a:cubicBezTo>
                    <a:pt x="446736" y="700877"/>
                    <a:pt x="464243" y="697395"/>
                    <a:pt x="475884" y="685754"/>
                  </a:cubicBezTo>
                  <a:lnTo>
                    <a:pt x="743316" y="418322"/>
                  </a:lnTo>
                  <a:cubicBezTo>
                    <a:pt x="781691" y="379947"/>
                    <a:pt x="781691" y="317729"/>
                    <a:pt x="743316" y="279354"/>
                  </a:cubicBezTo>
                  <a:close/>
                </a:path>
              </a:pathLst>
            </a:custGeom>
            <a:solidFill>
              <a:srgbClr val="4E6C7E"/>
            </a:solidFill>
          </p:spPr>
          <p:txBody>
            <a:bodyPr/>
            <a:lstStyle/>
            <a:p>
              <a:endParaRPr lang="tr-TR"/>
            </a:p>
          </p:txBody>
        </p:sp>
        <p:sp>
          <p:nvSpPr>
            <p:cNvPr id="21" name="TextBox 21"/>
            <p:cNvSpPr txBox="1"/>
            <p:nvPr/>
          </p:nvSpPr>
          <p:spPr>
            <a:xfrm>
              <a:off x="0" y="174625"/>
              <a:ext cx="711200" cy="434975"/>
            </a:xfrm>
            <a:prstGeom prst="rect">
              <a:avLst/>
            </a:prstGeom>
          </p:spPr>
          <p:txBody>
            <a:bodyPr lIns="50800" tIns="50800" rIns="50800" bIns="50800" rtlCol="0" anchor="ctr"/>
            <a:lstStyle/>
            <a:p>
              <a:pPr algn="ctr">
                <a:lnSpc>
                  <a:spcPts val="2520"/>
                </a:lnSpc>
              </a:pPr>
              <a:endParaRPr/>
            </a:p>
          </p:txBody>
        </p:sp>
      </p:grpSp>
      <p:grpSp>
        <p:nvGrpSpPr>
          <p:cNvPr id="22" name="Group 22"/>
          <p:cNvGrpSpPr/>
          <p:nvPr/>
        </p:nvGrpSpPr>
        <p:grpSpPr>
          <a:xfrm>
            <a:off x="8337009" y="1804497"/>
            <a:ext cx="8567911" cy="3562691"/>
            <a:chOff x="0" y="0"/>
            <a:chExt cx="11423882" cy="4750255"/>
          </a:xfrm>
        </p:grpSpPr>
        <p:grpSp>
          <p:nvGrpSpPr>
            <p:cNvPr id="23" name="Group 23"/>
            <p:cNvGrpSpPr/>
            <p:nvPr/>
          </p:nvGrpSpPr>
          <p:grpSpPr>
            <a:xfrm>
              <a:off x="242235" y="266591"/>
              <a:ext cx="11181647" cy="4483663"/>
              <a:chOff x="0" y="0"/>
              <a:chExt cx="2310504" cy="926475"/>
            </a:xfrm>
          </p:grpSpPr>
          <p:sp>
            <p:nvSpPr>
              <p:cNvPr id="24" name="Freeform 24"/>
              <p:cNvSpPr/>
              <p:nvPr/>
            </p:nvSpPr>
            <p:spPr>
              <a:xfrm>
                <a:off x="0" y="0"/>
                <a:ext cx="2310504" cy="926475"/>
              </a:xfrm>
              <a:custGeom>
                <a:avLst/>
                <a:gdLst/>
                <a:ahLst/>
                <a:cxnLst/>
                <a:rect l="l" t="t" r="r" b="b"/>
                <a:pathLst>
                  <a:path w="2310504" h="926475">
                    <a:moveTo>
                      <a:pt x="13466" y="0"/>
                    </a:moveTo>
                    <a:lnTo>
                      <a:pt x="2297038" y="0"/>
                    </a:lnTo>
                    <a:cubicBezTo>
                      <a:pt x="2304475" y="0"/>
                      <a:pt x="2310504" y="6029"/>
                      <a:pt x="2310504" y="13466"/>
                    </a:cubicBezTo>
                    <a:lnTo>
                      <a:pt x="2310504" y="913009"/>
                    </a:lnTo>
                    <a:cubicBezTo>
                      <a:pt x="2310504" y="920446"/>
                      <a:pt x="2304475" y="926475"/>
                      <a:pt x="2297038" y="926475"/>
                    </a:cubicBezTo>
                    <a:lnTo>
                      <a:pt x="13466" y="926475"/>
                    </a:lnTo>
                    <a:cubicBezTo>
                      <a:pt x="9895" y="926475"/>
                      <a:pt x="6469" y="925057"/>
                      <a:pt x="3944" y="922531"/>
                    </a:cubicBezTo>
                    <a:cubicBezTo>
                      <a:pt x="1419" y="920006"/>
                      <a:pt x="0" y="916581"/>
                      <a:pt x="0" y="913009"/>
                    </a:cubicBezTo>
                    <a:lnTo>
                      <a:pt x="0" y="13466"/>
                    </a:lnTo>
                    <a:cubicBezTo>
                      <a:pt x="0" y="9895"/>
                      <a:pt x="1419" y="6469"/>
                      <a:pt x="3944" y="3944"/>
                    </a:cubicBezTo>
                    <a:cubicBezTo>
                      <a:pt x="6469" y="1419"/>
                      <a:pt x="9895" y="0"/>
                      <a:pt x="13466" y="0"/>
                    </a:cubicBezTo>
                    <a:close/>
                  </a:path>
                </a:pathLst>
              </a:custGeom>
              <a:solidFill>
                <a:srgbClr val="4E6C7E"/>
              </a:solidFill>
              <a:ln w="19050" cap="rnd">
                <a:solidFill>
                  <a:srgbClr val="4383D1"/>
                </a:solidFill>
                <a:prstDash val="solid"/>
                <a:round/>
              </a:ln>
            </p:spPr>
            <p:txBody>
              <a:bodyPr/>
              <a:lstStyle/>
              <a:p>
                <a:endParaRPr lang="tr-TR"/>
              </a:p>
            </p:txBody>
          </p:sp>
          <p:sp>
            <p:nvSpPr>
              <p:cNvPr id="25" name="TextBox 25"/>
              <p:cNvSpPr txBox="1"/>
              <p:nvPr/>
            </p:nvSpPr>
            <p:spPr>
              <a:xfrm>
                <a:off x="0" y="-28575"/>
                <a:ext cx="2310504" cy="955050"/>
              </a:xfrm>
              <a:prstGeom prst="rect">
                <a:avLst/>
              </a:prstGeom>
            </p:spPr>
            <p:txBody>
              <a:bodyPr lIns="50800" tIns="50800" rIns="50800" bIns="50800" rtlCol="0" anchor="ctr"/>
              <a:lstStyle/>
              <a:p>
                <a:pPr algn="ctr">
                  <a:lnSpc>
                    <a:spcPts val="2519"/>
                  </a:lnSpc>
                </a:pPr>
                <a:endParaRPr/>
              </a:p>
            </p:txBody>
          </p:sp>
        </p:grpSp>
        <p:grpSp>
          <p:nvGrpSpPr>
            <p:cNvPr id="26" name="Group 26"/>
            <p:cNvGrpSpPr/>
            <p:nvPr/>
          </p:nvGrpSpPr>
          <p:grpSpPr>
            <a:xfrm>
              <a:off x="0" y="0"/>
              <a:ext cx="11181647" cy="4483663"/>
              <a:chOff x="0" y="0"/>
              <a:chExt cx="2310504" cy="926475"/>
            </a:xfrm>
          </p:grpSpPr>
          <p:sp>
            <p:nvSpPr>
              <p:cNvPr id="27" name="Freeform 27"/>
              <p:cNvSpPr/>
              <p:nvPr/>
            </p:nvSpPr>
            <p:spPr>
              <a:xfrm>
                <a:off x="0" y="0"/>
                <a:ext cx="2310504" cy="926475"/>
              </a:xfrm>
              <a:custGeom>
                <a:avLst/>
                <a:gdLst/>
                <a:ahLst/>
                <a:cxnLst/>
                <a:rect l="l" t="t" r="r" b="b"/>
                <a:pathLst>
                  <a:path w="2310504" h="926475">
                    <a:moveTo>
                      <a:pt x="13466" y="0"/>
                    </a:moveTo>
                    <a:lnTo>
                      <a:pt x="2297038" y="0"/>
                    </a:lnTo>
                    <a:cubicBezTo>
                      <a:pt x="2304475" y="0"/>
                      <a:pt x="2310504" y="6029"/>
                      <a:pt x="2310504" y="13466"/>
                    </a:cubicBezTo>
                    <a:lnTo>
                      <a:pt x="2310504" y="913009"/>
                    </a:lnTo>
                    <a:cubicBezTo>
                      <a:pt x="2310504" y="920446"/>
                      <a:pt x="2304475" y="926475"/>
                      <a:pt x="2297038" y="926475"/>
                    </a:cubicBezTo>
                    <a:lnTo>
                      <a:pt x="13466" y="926475"/>
                    </a:lnTo>
                    <a:cubicBezTo>
                      <a:pt x="9895" y="926475"/>
                      <a:pt x="6469" y="925057"/>
                      <a:pt x="3944" y="922531"/>
                    </a:cubicBezTo>
                    <a:cubicBezTo>
                      <a:pt x="1419" y="920006"/>
                      <a:pt x="0" y="916581"/>
                      <a:pt x="0" y="913009"/>
                    </a:cubicBezTo>
                    <a:lnTo>
                      <a:pt x="0" y="13466"/>
                    </a:lnTo>
                    <a:cubicBezTo>
                      <a:pt x="0" y="9895"/>
                      <a:pt x="1419" y="6469"/>
                      <a:pt x="3944" y="3944"/>
                    </a:cubicBezTo>
                    <a:cubicBezTo>
                      <a:pt x="6469" y="1419"/>
                      <a:pt x="9895" y="0"/>
                      <a:pt x="13466" y="0"/>
                    </a:cubicBezTo>
                    <a:close/>
                  </a:path>
                </a:pathLst>
              </a:custGeom>
              <a:solidFill>
                <a:srgbClr val="FFFFFF"/>
              </a:solidFill>
              <a:ln w="19050" cap="rnd">
                <a:solidFill>
                  <a:srgbClr val="4383D1"/>
                </a:solidFill>
                <a:prstDash val="solid"/>
                <a:round/>
              </a:ln>
            </p:spPr>
            <p:txBody>
              <a:bodyPr/>
              <a:lstStyle/>
              <a:p>
                <a:endParaRPr lang="tr-TR"/>
              </a:p>
            </p:txBody>
          </p:sp>
          <p:sp>
            <p:nvSpPr>
              <p:cNvPr id="28" name="TextBox 28"/>
              <p:cNvSpPr txBox="1"/>
              <p:nvPr/>
            </p:nvSpPr>
            <p:spPr>
              <a:xfrm>
                <a:off x="0" y="-28575"/>
                <a:ext cx="2310504" cy="955050"/>
              </a:xfrm>
              <a:prstGeom prst="rect">
                <a:avLst/>
              </a:prstGeom>
            </p:spPr>
            <p:txBody>
              <a:bodyPr lIns="50800" tIns="50800" rIns="50800" bIns="50800" rtlCol="0" anchor="ctr"/>
              <a:lstStyle/>
              <a:p>
                <a:pPr algn="ctr">
                  <a:lnSpc>
                    <a:spcPts val="2519"/>
                  </a:lnSpc>
                </a:pPr>
                <a:endParaRPr/>
              </a:p>
            </p:txBody>
          </p:sp>
        </p:grpSp>
      </p:grpSp>
      <p:sp>
        <p:nvSpPr>
          <p:cNvPr id="29" name="TextBox 29"/>
          <p:cNvSpPr txBox="1"/>
          <p:nvPr/>
        </p:nvSpPr>
        <p:spPr>
          <a:xfrm>
            <a:off x="9144000" y="2021796"/>
            <a:ext cx="6419214" cy="396599"/>
          </a:xfrm>
          <a:prstGeom prst="rect">
            <a:avLst/>
          </a:prstGeom>
        </p:spPr>
        <p:txBody>
          <a:bodyPr lIns="0" tIns="0" rIns="0" bIns="0" rtlCol="0" anchor="t">
            <a:spAutoFit/>
          </a:bodyPr>
          <a:lstStyle/>
          <a:p>
            <a:pPr algn="l">
              <a:lnSpc>
                <a:spcPts val="3132"/>
              </a:lnSpc>
            </a:pPr>
            <a:r>
              <a:rPr lang="en-US" sz="2900" b="1">
                <a:solidFill>
                  <a:srgbClr val="000000"/>
                </a:solidFill>
                <a:latin typeface="Montserrat Bold"/>
                <a:ea typeface="Montserrat Bold"/>
                <a:cs typeface="Montserrat Bold"/>
                <a:sym typeface="Montserrat Bold"/>
              </a:rPr>
              <a:t>Model Wrapper ve Güvenlik:</a:t>
            </a:r>
          </a:p>
        </p:txBody>
      </p:sp>
      <p:grpSp>
        <p:nvGrpSpPr>
          <p:cNvPr id="30" name="Group 30"/>
          <p:cNvGrpSpPr/>
          <p:nvPr/>
        </p:nvGrpSpPr>
        <p:grpSpPr>
          <a:xfrm>
            <a:off x="8750072" y="2392586"/>
            <a:ext cx="7741785" cy="1305438"/>
            <a:chOff x="0" y="0"/>
            <a:chExt cx="10322379" cy="1740584"/>
          </a:xfrm>
        </p:grpSpPr>
        <p:grpSp>
          <p:nvGrpSpPr>
            <p:cNvPr id="31" name="Group 31"/>
            <p:cNvGrpSpPr/>
            <p:nvPr/>
          </p:nvGrpSpPr>
          <p:grpSpPr>
            <a:xfrm>
              <a:off x="0" y="135683"/>
              <a:ext cx="616109" cy="525237"/>
              <a:chOff x="0" y="0"/>
              <a:chExt cx="953424" cy="812800"/>
            </a:xfrm>
          </p:grpSpPr>
          <p:sp>
            <p:nvSpPr>
              <p:cNvPr id="32" name="Freeform 32"/>
              <p:cNvSpPr/>
              <p:nvPr/>
            </p:nvSpPr>
            <p:spPr>
              <a:xfrm>
                <a:off x="0" y="49072"/>
                <a:ext cx="918724" cy="714657"/>
              </a:xfrm>
              <a:custGeom>
                <a:avLst/>
                <a:gdLst/>
                <a:ahLst/>
                <a:cxnLst/>
                <a:rect l="l" t="t" r="r" b="b"/>
                <a:pathLst>
                  <a:path w="918724" h="714657">
                    <a:moveTo>
                      <a:pt x="894188" y="298092"/>
                    </a:moveTo>
                    <a:lnTo>
                      <a:pt x="606260" y="10164"/>
                    </a:lnTo>
                    <a:cubicBezTo>
                      <a:pt x="596336" y="240"/>
                      <a:pt x="581411" y="-2729"/>
                      <a:pt x="568445" y="2642"/>
                    </a:cubicBezTo>
                    <a:cubicBezTo>
                      <a:pt x="555478" y="8013"/>
                      <a:pt x="547024" y="20665"/>
                      <a:pt x="547024" y="34700"/>
                    </a:cubicBezTo>
                    <a:lnTo>
                      <a:pt x="547024" y="70356"/>
                    </a:lnTo>
                    <a:cubicBezTo>
                      <a:pt x="547024" y="116622"/>
                      <a:pt x="509518" y="154128"/>
                      <a:pt x="463252" y="154128"/>
                    </a:cubicBezTo>
                    <a:lnTo>
                      <a:pt x="83772" y="154128"/>
                    </a:lnTo>
                    <a:cubicBezTo>
                      <a:pt x="37506" y="154128"/>
                      <a:pt x="0" y="191634"/>
                      <a:pt x="0" y="237900"/>
                    </a:cubicBezTo>
                    <a:lnTo>
                      <a:pt x="0" y="476756"/>
                    </a:lnTo>
                    <a:cubicBezTo>
                      <a:pt x="0" y="523022"/>
                      <a:pt x="37506" y="560528"/>
                      <a:pt x="83772" y="560528"/>
                    </a:cubicBezTo>
                    <a:lnTo>
                      <a:pt x="463252" y="560528"/>
                    </a:lnTo>
                    <a:cubicBezTo>
                      <a:pt x="509518" y="560528"/>
                      <a:pt x="547024" y="598034"/>
                      <a:pt x="547024" y="644300"/>
                    </a:cubicBezTo>
                    <a:lnTo>
                      <a:pt x="547024" y="679956"/>
                    </a:lnTo>
                    <a:cubicBezTo>
                      <a:pt x="547024" y="693991"/>
                      <a:pt x="555478" y="706643"/>
                      <a:pt x="568445" y="712014"/>
                    </a:cubicBezTo>
                    <a:cubicBezTo>
                      <a:pt x="581411" y="717385"/>
                      <a:pt x="596336" y="714416"/>
                      <a:pt x="606260" y="704492"/>
                    </a:cubicBezTo>
                    <a:lnTo>
                      <a:pt x="894188" y="416564"/>
                    </a:lnTo>
                    <a:cubicBezTo>
                      <a:pt x="926903" y="383849"/>
                      <a:pt x="926903" y="330807"/>
                      <a:pt x="894188" y="298092"/>
                    </a:cubicBezTo>
                    <a:close/>
                  </a:path>
                </a:pathLst>
              </a:custGeom>
              <a:solidFill>
                <a:srgbClr val="4E6C7E"/>
              </a:solidFill>
            </p:spPr>
            <p:txBody>
              <a:bodyPr/>
              <a:lstStyle/>
              <a:p>
                <a:endParaRPr lang="tr-TR"/>
              </a:p>
            </p:txBody>
          </p:sp>
          <p:sp>
            <p:nvSpPr>
              <p:cNvPr id="33" name="TextBox 33"/>
              <p:cNvSpPr txBox="1"/>
              <p:nvPr/>
            </p:nvSpPr>
            <p:spPr>
              <a:xfrm>
                <a:off x="0" y="174625"/>
                <a:ext cx="851824" cy="434975"/>
              </a:xfrm>
              <a:prstGeom prst="rect">
                <a:avLst/>
              </a:prstGeom>
            </p:spPr>
            <p:txBody>
              <a:bodyPr lIns="50800" tIns="50800" rIns="50800" bIns="50800" rtlCol="0" anchor="ctr"/>
              <a:lstStyle/>
              <a:p>
                <a:pPr algn="ctr">
                  <a:lnSpc>
                    <a:spcPts val="2520"/>
                  </a:lnSpc>
                </a:pPr>
                <a:endParaRPr/>
              </a:p>
            </p:txBody>
          </p:sp>
        </p:grpSp>
        <p:sp>
          <p:nvSpPr>
            <p:cNvPr id="34" name="TextBox 34"/>
            <p:cNvSpPr txBox="1"/>
            <p:nvPr/>
          </p:nvSpPr>
          <p:spPr>
            <a:xfrm>
              <a:off x="928952" y="-57150"/>
              <a:ext cx="9393428" cy="1797734"/>
            </a:xfrm>
            <a:prstGeom prst="rect">
              <a:avLst/>
            </a:prstGeom>
          </p:spPr>
          <p:txBody>
            <a:bodyPr lIns="0" tIns="0" rIns="0" bIns="0" rtlCol="0" anchor="t">
              <a:spAutoFit/>
            </a:bodyPr>
            <a:lstStyle/>
            <a:p>
              <a:pPr algn="just">
                <a:lnSpc>
                  <a:spcPts val="3639"/>
                </a:lnSpc>
              </a:pPr>
              <a:r>
                <a:rPr lang="en-US" sz="2599" b="1">
                  <a:solidFill>
                    <a:srgbClr val="000000"/>
                  </a:solidFill>
                  <a:latin typeface="Quicksand Semi-Bold"/>
                  <a:ea typeface="Quicksand Semi-Bold"/>
                  <a:cs typeface="Quicksand Semi-Bold"/>
                  <a:sym typeface="Quicksand Semi-Bold"/>
                </a:rPr>
                <a:t>Kurulan sistem hem PyTorch hem TensorFlow modellerini arka planda dinamik olarak çalıştırabilmektedir.</a:t>
              </a:r>
            </a:p>
          </p:txBody>
        </p:sp>
      </p:grpSp>
      <p:grpSp>
        <p:nvGrpSpPr>
          <p:cNvPr id="35" name="Group 35"/>
          <p:cNvGrpSpPr/>
          <p:nvPr/>
        </p:nvGrpSpPr>
        <p:grpSpPr>
          <a:xfrm>
            <a:off x="8750072" y="3794296"/>
            <a:ext cx="7741785" cy="1305438"/>
            <a:chOff x="0" y="0"/>
            <a:chExt cx="10322379" cy="1740584"/>
          </a:xfrm>
        </p:grpSpPr>
        <p:grpSp>
          <p:nvGrpSpPr>
            <p:cNvPr id="36" name="Group 36"/>
            <p:cNvGrpSpPr/>
            <p:nvPr/>
          </p:nvGrpSpPr>
          <p:grpSpPr>
            <a:xfrm>
              <a:off x="0" y="0"/>
              <a:ext cx="525237" cy="525237"/>
              <a:chOff x="0" y="0"/>
              <a:chExt cx="812800" cy="812800"/>
            </a:xfrm>
          </p:grpSpPr>
          <p:sp>
            <p:nvSpPr>
              <p:cNvPr id="37" name="Freeform 37"/>
              <p:cNvSpPr/>
              <p:nvPr/>
            </p:nvSpPr>
            <p:spPr>
              <a:xfrm>
                <a:off x="0" y="57562"/>
                <a:ext cx="772097" cy="697677"/>
              </a:xfrm>
              <a:custGeom>
                <a:avLst/>
                <a:gdLst/>
                <a:ahLst/>
                <a:cxnLst/>
                <a:rect l="l" t="t" r="r" b="b"/>
                <a:pathLst>
                  <a:path w="772097" h="697677">
                    <a:moveTo>
                      <a:pt x="743316" y="279354"/>
                    </a:moveTo>
                    <a:lnTo>
                      <a:pt x="475884" y="11922"/>
                    </a:lnTo>
                    <a:cubicBezTo>
                      <a:pt x="464243" y="281"/>
                      <a:pt x="446736" y="-3201"/>
                      <a:pt x="431527" y="3099"/>
                    </a:cubicBezTo>
                    <a:cubicBezTo>
                      <a:pt x="416317" y="9399"/>
                      <a:pt x="406400" y="24241"/>
                      <a:pt x="406400" y="40704"/>
                    </a:cubicBezTo>
                    <a:lnTo>
                      <a:pt x="406400" y="47372"/>
                    </a:lnTo>
                    <a:cubicBezTo>
                      <a:pt x="406400" y="101643"/>
                      <a:pt x="362405" y="145638"/>
                      <a:pt x="308134" y="145638"/>
                    </a:cubicBezTo>
                    <a:lnTo>
                      <a:pt x="98266" y="145638"/>
                    </a:lnTo>
                    <a:cubicBezTo>
                      <a:pt x="43995" y="145638"/>
                      <a:pt x="0" y="189633"/>
                      <a:pt x="0" y="243904"/>
                    </a:cubicBezTo>
                    <a:lnTo>
                      <a:pt x="0" y="453772"/>
                    </a:lnTo>
                    <a:cubicBezTo>
                      <a:pt x="0" y="508043"/>
                      <a:pt x="43995" y="552038"/>
                      <a:pt x="98266" y="552038"/>
                    </a:cubicBezTo>
                    <a:lnTo>
                      <a:pt x="308134" y="552038"/>
                    </a:lnTo>
                    <a:cubicBezTo>
                      <a:pt x="362405" y="552038"/>
                      <a:pt x="406400" y="596033"/>
                      <a:pt x="406400" y="650304"/>
                    </a:cubicBezTo>
                    <a:lnTo>
                      <a:pt x="406400" y="656972"/>
                    </a:lnTo>
                    <a:cubicBezTo>
                      <a:pt x="406400" y="673435"/>
                      <a:pt x="416317" y="688277"/>
                      <a:pt x="431527" y="694577"/>
                    </a:cubicBezTo>
                    <a:cubicBezTo>
                      <a:pt x="446736" y="700877"/>
                      <a:pt x="464243" y="697395"/>
                      <a:pt x="475884" y="685754"/>
                    </a:cubicBezTo>
                    <a:lnTo>
                      <a:pt x="743316" y="418322"/>
                    </a:lnTo>
                    <a:cubicBezTo>
                      <a:pt x="781691" y="379947"/>
                      <a:pt x="781691" y="317729"/>
                      <a:pt x="743316" y="279354"/>
                    </a:cubicBezTo>
                    <a:close/>
                  </a:path>
                </a:pathLst>
              </a:custGeom>
              <a:solidFill>
                <a:srgbClr val="4E6C7E"/>
              </a:solidFill>
            </p:spPr>
            <p:txBody>
              <a:bodyPr/>
              <a:lstStyle/>
              <a:p>
                <a:endParaRPr lang="tr-TR"/>
              </a:p>
            </p:txBody>
          </p:sp>
          <p:sp>
            <p:nvSpPr>
              <p:cNvPr id="38" name="TextBox 38"/>
              <p:cNvSpPr txBox="1"/>
              <p:nvPr/>
            </p:nvSpPr>
            <p:spPr>
              <a:xfrm>
                <a:off x="0" y="174625"/>
                <a:ext cx="711200" cy="434975"/>
              </a:xfrm>
              <a:prstGeom prst="rect">
                <a:avLst/>
              </a:prstGeom>
            </p:spPr>
            <p:txBody>
              <a:bodyPr lIns="50800" tIns="50800" rIns="50800" bIns="50800" rtlCol="0" anchor="ctr"/>
              <a:lstStyle/>
              <a:p>
                <a:pPr algn="ctr">
                  <a:lnSpc>
                    <a:spcPts val="2520"/>
                  </a:lnSpc>
                </a:pPr>
                <a:endParaRPr/>
              </a:p>
            </p:txBody>
          </p:sp>
        </p:grpSp>
        <p:sp>
          <p:nvSpPr>
            <p:cNvPr id="39" name="TextBox 39"/>
            <p:cNvSpPr txBox="1"/>
            <p:nvPr/>
          </p:nvSpPr>
          <p:spPr>
            <a:xfrm>
              <a:off x="687923" y="-57150"/>
              <a:ext cx="9634457" cy="1797734"/>
            </a:xfrm>
            <a:prstGeom prst="rect">
              <a:avLst/>
            </a:prstGeom>
          </p:spPr>
          <p:txBody>
            <a:bodyPr lIns="0" tIns="0" rIns="0" bIns="0" rtlCol="0" anchor="t">
              <a:spAutoFit/>
            </a:bodyPr>
            <a:lstStyle/>
            <a:p>
              <a:pPr algn="just">
                <a:lnSpc>
                  <a:spcPts val="3639"/>
                </a:lnSpc>
              </a:pPr>
              <a:r>
                <a:rPr lang="en-US" sz="2599" b="1">
                  <a:solidFill>
                    <a:srgbClr val="000000"/>
                  </a:solidFill>
                  <a:latin typeface="Quicksand Semi-Bold"/>
                  <a:ea typeface="Quicksand Semi-Bold"/>
                  <a:cs typeface="Quicksand Semi-Bold"/>
                  <a:sym typeface="Quicksand Semi-Bold"/>
                </a:rPr>
                <a:t>Ayrıca, modelin Softmax güven puanı %70'in altındaysa ekranda doktoru uyaran otomatik bir "Manuel Kontrol" barı tasarlanmıştır.</a:t>
              </a:r>
            </a:p>
          </p:txBody>
        </p:sp>
      </p:grpSp>
      <p:sp>
        <p:nvSpPr>
          <p:cNvPr id="40" name="Freeform 40"/>
          <p:cNvSpPr/>
          <p:nvPr/>
        </p:nvSpPr>
        <p:spPr>
          <a:xfrm>
            <a:off x="-798484" y="5505739"/>
            <a:ext cx="8500019" cy="4781261"/>
          </a:xfrm>
          <a:custGeom>
            <a:avLst/>
            <a:gdLst/>
            <a:ahLst/>
            <a:cxnLst/>
            <a:rect l="l" t="t" r="r" b="b"/>
            <a:pathLst>
              <a:path w="8500019" h="4781261">
                <a:moveTo>
                  <a:pt x="0" y="0"/>
                </a:moveTo>
                <a:lnTo>
                  <a:pt x="8500019" y="0"/>
                </a:lnTo>
                <a:lnTo>
                  <a:pt x="8500019" y="4781261"/>
                </a:lnTo>
                <a:lnTo>
                  <a:pt x="0" y="4781261"/>
                </a:lnTo>
                <a:lnTo>
                  <a:pt x="0" y="0"/>
                </a:lnTo>
                <a:close/>
              </a:path>
            </a:pathLst>
          </a:custGeom>
          <a:blipFill>
            <a:blip r:embed="rId3">
              <a:alphaModFix amt="64000"/>
            </a:blip>
            <a:stretch>
              <a:fillRect/>
            </a:stretch>
          </a:blipFill>
        </p:spPr>
        <p:txBody>
          <a:bodyPr/>
          <a:lstStyle/>
          <a:p>
            <a:endParaRPr lang="tr-TR"/>
          </a:p>
        </p:txBody>
      </p:sp>
      <p:sp>
        <p:nvSpPr>
          <p:cNvPr id="41" name="Freeform 41"/>
          <p:cNvSpPr/>
          <p:nvPr/>
        </p:nvSpPr>
        <p:spPr>
          <a:xfrm>
            <a:off x="7412754" y="5543469"/>
            <a:ext cx="7696592" cy="4629602"/>
          </a:xfrm>
          <a:custGeom>
            <a:avLst/>
            <a:gdLst/>
            <a:ahLst/>
            <a:cxnLst/>
            <a:rect l="l" t="t" r="r" b="b"/>
            <a:pathLst>
              <a:path w="7696592" h="4629602">
                <a:moveTo>
                  <a:pt x="0" y="0"/>
                </a:moveTo>
                <a:lnTo>
                  <a:pt x="7696592" y="0"/>
                </a:lnTo>
                <a:lnTo>
                  <a:pt x="7696592" y="4629602"/>
                </a:lnTo>
                <a:lnTo>
                  <a:pt x="0" y="4629602"/>
                </a:lnTo>
                <a:lnTo>
                  <a:pt x="0" y="0"/>
                </a:lnTo>
                <a:close/>
              </a:path>
            </a:pathLst>
          </a:custGeom>
          <a:blipFill>
            <a:blip r:embed="rId4"/>
            <a:stretch>
              <a:fillRect/>
            </a:stretch>
          </a:blipFill>
          <a:ln w="47625" cap="sq">
            <a:solidFill>
              <a:srgbClr val="154562"/>
            </a:solidFill>
            <a:prstDash val="solid"/>
            <a:miter/>
          </a:ln>
        </p:spPr>
        <p:txBody>
          <a:bodyPr/>
          <a:lstStyle/>
          <a:p>
            <a:endParaRPr lang="tr-TR"/>
          </a:p>
        </p:txBody>
      </p:sp>
      <p:sp>
        <p:nvSpPr>
          <p:cNvPr id="42" name="TextBox 42"/>
          <p:cNvSpPr txBox="1"/>
          <p:nvPr/>
        </p:nvSpPr>
        <p:spPr>
          <a:xfrm>
            <a:off x="1028700" y="674908"/>
            <a:ext cx="8365412" cy="854019"/>
          </a:xfrm>
          <a:prstGeom prst="rect">
            <a:avLst/>
          </a:prstGeom>
        </p:spPr>
        <p:txBody>
          <a:bodyPr lIns="0" tIns="0" rIns="0" bIns="0" rtlCol="0" anchor="t">
            <a:spAutoFit/>
          </a:bodyPr>
          <a:lstStyle/>
          <a:p>
            <a:pPr marL="0" lvl="0" indent="0" algn="l">
              <a:lnSpc>
                <a:spcPts val="7000"/>
              </a:lnSpc>
              <a:spcBef>
                <a:spcPct val="0"/>
              </a:spcBef>
            </a:pPr>
            <a:r>
              <a:rPr lang="en-US" sz="5000" b="1" u="none" strike="noStrike">
                <a:solidFill>
                  <a:srgbClr val="154562"/>
                </a:solidFill>
                <a:latin typeface="Montserrat Ultra-Bold"/>
                <a:ea typeface="Montserrat Ultra-Bold"/>
                <a:cs typeface="Montserrat Ultra-Bold"/>
                <a:sym typeface="Montserrat Ultra-Bold"/>
              </a:rPr>
              <a:t>Arayüz Uygulaması (UI)</a:t>
            </a:r>
          </a:p>
        </p:txBody>
      </p:sp>
      <p:sp>
        <p:nvSpPr>
          <p:cNvPr id="43" name="TextBox 43"/>
          <p:cNvSpPr txBox="1"/>
          <p:nvPr/>
        </p:nvSpPr>
        <p:spPr>
          <a:xfrm>
            <a:off x="993540" y="2021796"/>
            <a:ext cx="6419214" cy="396599"/>
          </a:xfrm>
          <a:prstGeom prst="rect">
            <a:avLst/>
          </a:prstGeom>
        </p:spPr>
        <p:txBody>
          <a:bodyPr lIns="0" tIns="0" rIns="0" bIns="0" rtlCol="0" anchor="t">
            <a:spAutoFit/>
          </a:bodyPr>
          <a:lstStyle/>
          <a:p>
            <a:pPr algn="l">
              <a:lnSpc>
                <a:spcPts val="3132"/>
              </a:lnSpc>
            </a:pPr>
            <a:r>
              <a:rPr lang="en-US" sz="2900" b="1">
                <a:solidFill>
                  <a:srgbClr val="000000"/>
                </a:solidFill>
                <a:latin typeface="Montserrat Bold"/>
                <a:ea typeface="Montserrat Bold"/>
                <a:cs typeface="Montserrat Bold"/>
                <a:sym typeface="Montserrat Bold"/>
              </a:rPr>
              <a:t>Klinik Kullanıma Hazır Yazılım:</a:t>
            </a:r>
          </a:p>
        </p:txBody>
      </p:sp>
      <p:sp>
        <p:nvSpPr>
          <p:cNvPr id="44" name="TextBox 44"/>
          <p:cNvSpPr txBox="1"/>
          <p:nvPr/>
        </p:nvSpPr>
        <p:spPr>
          <a:xfrm>
            <a:off x="993540" y="2594228"/>
            <a:ext cx="5645616" cy="2276907"/>
          </a:xfrm>
          <a:prstGeom prst="rect">
            <a:avLst/>
          </a:prstGeom>
        </p:spPr>
        <p:txBody>
          <a:bodyPr lIns="0" tIns="0" rIns="0" bIns="0" rtlCol="0" anchor="t">
            <a:spAutoFit/>
          </a:bodyPr>
          <a:lstStyle/>
          <a:p>
            <a:pPr algn="just">
              <a:lnSpc>
                <a:spcPts val="3639"/>
              </a:lnSpc>
            </a:pPr>
            <a:r>
              <a:rPr lang="en-US" sz="2599" b="1">
                <a:solidFill>
                  <a:srgbClr val="000000"/>
                </a:solidFill>
                <a:latin typeface="Quicksand Semi-Bold"/>
                <a:ea typeface="Quicksand Semi-Bold"/>
                <a:cs typeface="Quicksand Semi-Bold"/>
                <a:sym typeface="Quicksand Semi-Bold"/>
              </a:rPr>
              <a:t>Geliştirilen model laboratuvar ortamında anında kullanılabilecek PyQt5 tabanlı, temiz arayüzlü bir masaüstü yazılımı demosuna dönüştürüldü.</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rot="8423578">
            <a:off x="13709952" y="2096296"/>
            <a:ext cx="7492791" cy="7492791"/>
            <a:chOff x="0" y="0"/>
            <a:chExt cx="812800" cy="812800"/>
          </a:xfrm>
        </p:grpSpPr>
        <p:sp>
          <p:nvSpPr>
            <p:cNvPr id="3" name="Freeform 3"/>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1">
              <a:gsLst>
                <a:gs pos="0">
                  <a:srgbClr val="377FD6">
                    <a:alpha val="31000"/>
                  </a:srgbClr>
                </a:gs>
                <a:gs pos="100000">
                  <a:srgbClr val="CBE2FF">
                    <a:alpha val="31000"/>
                  </a:srgbClr>
                </a:gs>
              </a:gsLst>
              <a:lin ang="5400000"/>
            </a:gradFill>
          </p:spPr>
          <p:txBody>
            <a:bodyPr/>
            <a:lstStyle/>
            <a:p>
              <a:endParaRPr lang="tr-TR"/>
            </a:p>
          </p:txBody>
        </p:sp>
        <p:sp>
          <p:nvSpPr>
            <p:cNvPr id="4" name="TextBox 4"/>
            <p:cNvSpPr txBox="1"/>
            <p:nvPr/>
          </p:nvSpPr>
          <p:spPr>
            <a:xfrm>
              <a:off x="76200" y="47625"/>
              <a:ext cx="660400" cy="688975"/>
            </a:xfrm>
            <a:prstGeom prst="rect">
              <a:avLst/>
            </a:prstGeom>
          </p:spPr>
          <p:txBody>
            <a:bodyPr lIns="50800" tIns="50800" rIns="50800" bIns="50800" rtlCol="0" anchor="ctr"/>
            <a:lstStyle/>
            <a:p>
              <a:pPr algn="ctr">
                <a:lnSpc>
                  <a:spcPts val="2520"/>
                </a:lnSpc>
              </a:pPr>
              <a:endParaRPr/>
            </a:p>
          </p:txBody>
        </p:sp>
      </p:grpSp>
      <p:grpSp>
        <p:nvGrpSpPr>
          <p:cNvPr id="5" name="Group 5"/>
          <p:cNvGrpSpPr/>
          <p:nvPr/>
        </p:nvGrpSpPr>
        <p:grpSpPr>
          <a:xfrm rot="8423578">
            <a:off x="12072230" y="4433707"/>
            <a:ext cx="7492791" cy="7492791"/>
            <a:chOff x="0" y="0"/>
            <a:chExt cx="812800" cy="812800"/>
          </a:xfrm>
        </p:grpSpPr>
        <p:sp>
          <p:nvSpPr>
            <p:cNvPr id="6" name="Freeform 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1">
              <a:gsLst>
                <a:gs pos="0">
                  <a:srgbClr val="377FD6">
                    <a:alpha val="31000"/>
                  </a:srgbClr>
                </a:gs>
                <a:gs pos="100000">
                  <a:srgbClr val="CBE2FF">
                    <a:alpha val="31000"/>
                  </a:srgbClr>
                </a:gs>
              </a:gsLst>
              <a:lin ang="5400000"/>
            </a:gradFill>
          </p:spPr>
          <p:txBody>
            <a:bodyPr/>
            <a:lstStyle/>
            <a:p>
              <a:endParaRPr lang="tr-TR"/>
            </a:p>
          </p:txBody>
        </p:sp>
        <p:sp>
          <p:nvSpPr>
            <p:cNvPr id="7" name="TextBox 7"/>
            <p:cNvSpPr txBox="1"/>
            <p:nvPr/>
          </p:nvSpPr>
          <p:spPr>
            <a:xfrm>
              <a:off x="76200" y="47625"/>
              <a:ext cx="660400" cy="688975"/>
            </a:xfrm>
            <a:prstGeom prst="rect">
              <a:avLst/>
            </a:prstGeom>
          </p:spPr>
          <p:txBody>
            <a:bodyPr lIns="50800" tIns="50800" rIns="50800" bIns="50800" rtlCol="0" anchor="ctr"/>
            <a:lstStyle/>
            <a:p>
              <a:pPr algn="ctr">
                <a:lnSpc>
                  <a:spcPts val="2520"/>
                </a:lnSpc>
              </a:pPr>
              <a:endParaRPr/>
            </a:p>
          </p:txBody>
        </p:sp>
      </p:grpSp>
      <p:grpSp>
        <p:nvGrpSpPr>
          <p:cNvPr id="8" name="Group 8"/>
          <p:cNvGrpSpPr/>
          <p:nvPr/>
        </p:nvGrpSpPr>
        <p:grpSpPr>
          <a:xfrm>
            <a:off x="16873416" y="-396250"/>
            <a:ext cx="1928382" cy="1928382"/>
            <a:chOff x="0" y="0"/>
            <a:chExt cx="812800" cy="812800"/>
          </a:xfrm>
        </p:grpSpPr>
        <p:sp>
          <p:nvSpPr>
            <p:cNvPr id="9" name="Freeform 9"/>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1">
              <a:gsLst>
                <a:gs pos="0">
                  <a:srgbClr val="377FD6">
                    <a:alpha val="31000"/>
                  </a:srgbClr>
                </a:gs>
                <a:gs pos="100000">
                  <a:srgbClr val="CBE2FF">
                    <a:alpha val="31000"/>
                  </a:srgbClr>
                </a:gs>
              </a:gsLst>
              <a:lin ang="5400000"/>
            </a:gradFill>
          </p:spPr>
          <p:txBody>
            <a:bodyPr/>
            <a:lstStyle/>
            <a:p>
              <a:endParaRPr lang="tr-TR"/>
            </a:p>
          </p:txBody>
        </p:sp>
        <p:sp>
          <p:nvSpPr>
            <p:cNvPr id="10" name="TextBox 10"/>
            <p:cNvSpPr txBox="1"/>
            <p:nvPr/>
          </p:nvSpPr>
          <p:spPr>
            <a:xfrm>
              <a:off x="76200" y="47625"/>
              <a:ext cx="660400" cy="688975"/>
            </a:xfrm>
            <a:prstGeom prst="rect">
              <a:avLst/>
            </a:prstGeom>
          </p:spPr>
          <p:txBody>
            <a:bodyPr lIns="50800" tIns="50800" rIns="50800" bIns="50800" rtlCol="0" anchor="ctr"/>
            <a:lstStyle/>
            <a:p>
              <a:pPr algn="ctr">
                <a:lnSpc>
                  <a:spcPts val="2520"/>
                </a:lnSpc>
              </a:pPr>
              <a:endParaRPr/>
            </a:p>
          </p:txBody>
        </p:sp>
      </p:grpSp>
      <p:sp>
        <p:nvSpPr>
          <p:cNvPr id="11" name="Freeform 11"/>
          <p:cNvSpPr/>
          <p:nvPr/>
        </p:nvSpPr>
        <p:spPr>
          <a:xfrm>
            <a:off x="2757599" y="1851190"/>
            <a:ext cx="12772803" cy="7983002"/>
          </a:xfrm>
          <a:custGeom>
            <a:avLst/>
            <a:gdLst/>
            <a:ahLst/>
            <a:cxnLst/>
            <a:rect l="l" t="t" r="r" b="b"/>
            <a:pathLst>
              <a:path w="12772803" h="7983002">
                <a:moveTo>
                  <a:pt x="0" y="0"/>
                </a:moveTo>
                <a:lnTo>
                  <a:pt x="12772802" y="0"/>
                </a:lnTo>
                <a:lnTo>
                  <a:pt x="12772802" y="7983002"/>
                </a:lnTo>
                <a:lnTo>
                  <a:pt x="0" y="7983002"/>
                </a:lnTo>
                <a:lnTo>
                  <a:pt x="0" y="0"/>
                </a:lnTo>
                <a:close/>
              </a:path>
            </a:pathLst>
          </a:custGeom>
          <a:blipFill>
            <a:blip r:embed="rId2"/>
            <a:stretch>
              <a:fillRect/>
            </a:stretch>
          </a:blipFill>
          <a:ln w="47625" cap="rnd">
            <a:solidFill>
              <a:srgbClr val="154562"/>
            </a:solidFill>
            <a:prstDash val="solid"/>
            <a:round/>
          </a:ln>
        </p:spPr>
        <p:txBody>
          <a:bodyPr/>
          <a:lstStyle/>
          <a:p>
            <a:endParaRPr lang="tr-TR"/>
          </a:p>
        </p:txBody>
      </p:sp>
      <p:sp>
        <p:nvSpPr>
          <p:cNvPr id="12" name="TextBox 12"/>
          <p:cNvSpPr txBox="1"/>
          <p:nvPr/>
        </p:nvSpPr>
        <p:spPr>
          <a:xfrm>
            <a:off x="1028700" y="674908"/>
            <a:ext cx="8365412" cy="854019"/>
          </a:xfrm>
          <a:prstGeom prst="rect">
            <a:avLst/>
          </a:prstGeom>
        </p:spPr>
        <p:txBody>
          <a:bodyPr lIns="0" tIns="0" rIns="0" bIns="0" rtlCol="0" anchor="t">
            <a:spAutoFit/>
          </a:bodyPr>
          <a:lstStyle/>
          <a:p>
            <a:pPr marL="0" lvl="0" indent="0" algn="l">
              <a:lnSpc>
                <a:spcPts val="7000"/>
              </a:lnSpc>
              <a:spcBef>
                <a:spcPct val="0"/>
              </a:spcBef>
            </a:pPr>
            <a:r>
              <a:rPr lang="en-US" sz="5000" b="1" u="none" strike="noStrike">
                <a:solidFill>
                  <a:srgbClr val="154562"/>
                </a:solidFill>
                <a:latin typeface="Montserrat Ultra-Bold"/>
                <a:ea typeface="Montserrat Ultra-Bold"/>
                <a:cs typeface="Montserrat Ultra-Bold"/>
                <a:sym typeface="Montserrat Ultra-Bold"/>
              </a:rPr>
              <a:t>Arayüz Uygulaması (UI)</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rot="8423578">
            <a:off x="13709952" y="2096296"/>
            <a:ext cx="7492791" cy="7492791"/>
            <a:chOff x="0" y="0"/>
            <a:chExt cx="812800" cy="812800"/>
          </a:xfrm>
        </p:grpSpPr>
        <p:sp>
          <p:nvSpPr>
            <p:cNvPr id="3" name="Freeform 3"/>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1">
              <a:gsLst>
                <a:gs pos="0">
                  <a:srgbClr val="377FD6">
                    <a:alpha val="31000"/>
                  </a:srgbClr>
                </a:gs>
                <a:gs pos="100000">
                  <a:srgbClr val="CBE2FF">
                    <a:alpha val="31000"/>
                  </a:srgbClr>
                </a:gs>
              </a:gsLst>
              <a:lin ang="5400000"/>
            </a:gradFill>
          </p:spPr>
          <p:txBody>
            <a:bodyPr/>
            <a:lstStyle/>
            <a:p>
              <a:endParaRPr lang="tr-TR"/>
            </a:p>
          </p:txBody>
        </p:sp>
        <p:sp>
          <p:nvSpPr>
            <p:cNvPr id="4" name="TextBox 4"/>
            <p:cNvSpPr txBox="1"/>
            <p:nvPr/>
          </p:nvSpPr>
          <p:spPr>
            <a:xfrm>
              <a:off x="76200" y="47625"/>
              <a:ext cx="660400" cy="688975"/>
            </a:xfrm>
            <a:prstGeom prst="rect">
              <a:avLst/>
            </a:prstGeom>
          </p:spPr>
          <p:txBody>
            <a:bodyPr lIns="50800" tIns="50800" rIns="50800" bIns="50800" rtlCol="0" anchor="ctr"/>
            <a:lstStyle/>
            <a:p>
              <a:pPr algn="ctr">
                <a:lnSpc>
                  <a:spcPts val="2520"/>
                </a:lnSpc>
              </a:pPr>
              <a:endParaRPr/>
            </a:p>
          </p:txBody>
        </p:sp>
      </p:grpSp>
      <p:grpSp>
        <p:nvGrpSpPr>
          <p:cNvPr id="5" name="Group 5"/>
          <p:cNvGrpSpPr/>
          <p:nvPr/>
        </p:nvGrpSpPr>
        <p:grpSpPr>
          <a:xfrm rot="8423578">
            <a:off x="12072230" y="4433707"/>
            <a:ext cx="7492791" cy="7492791"/>
            <a:chOff x="0" y="0"/>
            <a:chExt cx="812800" cy="812800"/>
          </a:xfrm>
        </p:grpSpPr>
        <p:sp>
          <p:nvSpPr>
            <p:cNvPr id="6" name="Freeform 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1">
              <a:gsLst>
                <a:gs pos="0">
                  <a:srgbClr val="377FD6">
                    <a:alpha val="31000"/>
                  </a:srgbClr>
                </a:gs>
                <a:gs pos="100000">
                  <a:srgbClr val="CBE2FF">
                    <a:alpha val="31000"/>
                  </a:srgbClr>
                </a:gs>
              </a:gsLst>
              <a:lin ang="5400000"/>
            </a:gradFill>
          </p:spPr>
          <p:txBody>
            <a:bodyPr/>
            <a:lstStyle/>
            <a:p>
              <a:endParaRPr lang="tr-TR"/>
            </a:p>
          </p:txBody>
        </p:sp>
        <p:sp>
          <p:nvSpPr>
            <p:cNvPr id="7" name="TextBox 7"/>
            <p:cNvSpPr txBox="1"/>
            <p:nvPr/>
          </p:nvSpPr>
          <p:spPr>
            <a:xfrm>
              <a:off x="76200" y="47625"/>
              <a:ext cx="660400" cy="688975"/>
            </a:xfrm>
            <a:prstGeom prst="rect">
              <a:avLst/>
            </a:prstGeom>
          </p:spPr>
          <p:txBody>
            <a:bodyPr lIns="50800" tIns="50800" rIns="50800" bIns="50800" rtlCol="0" anchor="ctr"/>
            <a:lstStyle/>
            <a:p>
              <a:pPr algn="ctr">
                <a:lnSpc>
                  <a:spcPts val="2520"/>
                </a:lnSpc>
              </a:pPr>
              <a:endParaRPr/>
            </a:p>
          </p:txBody>
        </p:sp>
      </p:grpSp>
      <p:grpSp>
        <p:nvGrpSpPr>
          <p:cNvPr id="8" name="Group 8"/>
          <p:cNvGrpSpPr/>
          <p:nvPr/>
        </p:nvGrpSpPr>
        <p:grpSpPr>
          <a:xfrm>
            <a:off x="16873416" y="-396250"/>
            <a:ext cx="1928382" cy="1928382"/>
            <a:chOff x="0" y="0"/>
            <a:chExt cx="812800" cy="812800"/>
          </a:xfrm>
        </p:grpSpPr>
        <p:sp>
          <p:nvSpPr>
            <p:cNvPr id="9" name="Freeform 9"/>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1">
              <a:gsLst>
                <a:gs pos="0">
                  <a:srgbClr val="377FD6">
                    <a:alpha val="31000"/>
                  </a:srgbClr>
                </a:gs>
                <a:gs pos="100000">
                  <a:srgbClr val="CBE2FF">
                    <a:alpha val="31000"/>
                  </a:srgbClr>
                </a:gs>
              </a:gsLst>
              <a:lin ang="5400000"/>
            </a:gradFill>
          </p:spPr>
          <p:txBody>
            <a:bodyPr/>
            <a:lstStyle/>
            <a:p>
              <a:endParaRPr lang="tr-TR"/>
            </a:p>
          </p:txBody>
        </p:sp>
        <p:sp>
          <p:nvSpPr>
            <p:cNvPr id="10" name="TextBox 10"/>
            <p:cNvSpPr txBox="1"/>
            <p:nvPr/>
          </p:nvSpPr>
          <p:spPr>
            <a:xfrm>
              <a:off x="76200" y="47625"/>
              <a:ext cx="660400" cy="688975"/>
            </a:xfrm>
            <a:prstGeom prst="rect">
              <a:avLst/>
            </a:prstGeom>
          </p:spPr>
          <p:txBody>
            <a:bodyPr lIns="50800" tIns="50800" rIns="50800" bIns="50800" rtlCol="0" anchor="ctr"/>
            <a:lstStyle/>
            <a:p>
              <a:pPr algn="ctr">
                <a:lnSpc>
                  <a:spcPts val="2520"/>
                </a:lnSpc>
              </a:pPr>
              <a:endParaRPr/>
            </a:p>
          </p:txBody>
        </p:sp>
      </p:grpSp>
      <p:sp>
        <p:nvSpPr>
          <p:cNvPr id="11" name="TextBox 11"/>
          <p:cNvSpPr txBox="1"/>
          <p:nvPr/>
        </p:nvSpPr>
        <p:spPr>
          <a:xfrm>
            <a:off x="1028700" y="674908"/>
            <a:ext cx="8365412" cy="854019"/>
          </a:xfrm>
          <a:prstGeom prst="rect">
            <a:avLst/>
          </a:prstGeom>
        </p:spPr>
        <p:txBody>
          <a:bodyPr lIns="0" tIns="0" rIns="0" bIns="0" rtlCol="0" anchor="t">
            <a:spAutoFit/>
          </a:bodyPr>
          <a:lstStyle/>
          <a:p>
            <a:pPr marL="0" lvl="0" indent="0" algn="l">
              <a:lnSpc>
                <a:spcPts val="7000"/>
              </a:lnSpc>
              <a:spcBef>
                <a:spcPct val="0"/>
              </a:spcBef>
            </a:pPr>
            <a:r>
              <a:rPr lang="en-US" sz="5000" b="1" u="none" strike="noStrike">
                <a:solidFill>
                  <a:srgbClr val="154562"/>
                </a:solidFill>
                <a:latin typeface="Montserrat Ultra-Bold"/>
                <a:ea typeface="Montserrat Ultra-Bold"/>
                <a:cs typeface="Montserrat Ultra-Bold"/>
                <a:sym typeface="Montserrat Ultra-Bold"/>
              </a:rPr>
              <a:t>Arayüz Uygulaması (UI)</a:t>
            </a:r>
          </a:p>
        </p:txBody>
      </p:sp>
      <p:sp>
        <p:nvSpPr>
          <p:cNvPr id="12" name="Freeform 12"/>
          <p:cNvSpPr/>
          <p:nvPr/>
        </p:nvSpPr>
        <p:spPr>
          <a:xfrm>
            <a:off x="2757488" y="1851660"/>
            <a:ext cx="12773025" cy="7982902"/>
          </a:xfrm>
          <a:custGeom>
            <a:avLst/>
            <a:gdLst/>
            <a:ahLst/>
            <a:cxnLst/>
            <a:rect l="l" t="t" r="r" b="b"/>
            <a:pathLst>
              <a:path w="12773025" h="7982902">
                <a:moveTo>
                  <a:pt x="0" y="0"/>
                </a:moveTo>
                <a:lnTo>
                  <a:pt x="12773024" y="0"/>
                </a:lnTo>
                <a:lnTo>
                  <a:pt x="12773024" y="7982902"/>
                </a:lnTo>
                <a:lnTo>
                  <a:pt x="0" y="7982902"/>
                </a:lnTo>
                <a:lnTo>
                  <a:pt x="0" y="0"/>
                </a:lnTo>
                <a:close/>
              </a:path>
            </a:pathLst>
          </a:custGeom>
          <a:blipFill>
            <a:blip r:embed="rId2"/>
            <a:stretch>
              <a:fillRect b="-2"/>
            </a:stretch>
          </a:blipFill>
          <a:ln w="47625" cap="rnd">
            <a:solidFill>
              <a:srgbClr val="154562"/>
            </a:solidFill>
            <a:prstDash val="solid"/>
            <a:round/>
          </a:ln>
        </p:spPr>
        <p:txBody>
          <a:bodyPr/>
          <a:lstStyle/>
          <a:p>
            <a:endParaRPr lang="tr-T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rot="8423578">
            <a:off x="13709952" y="2096296"/>
            <a:ext cx="7492791" cy="7492791"/>
            <a:chOff x="0" y="0"/>
            <a:chExt cx="812800" cy="812800"/>
          </a:xfrm>
        </p:grpSpPr>
        <p:sp>
          <p:nvSpPr>
            <p:cNvPr id="3" name="Freeform 3"/>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1">
              <a:gsLst>
                <a:gs pos="0">
                  <a:srgbClr val="377FD6">
                    <a:alpha val="31000"/>
                  </a:srgbClr>
                </a:gs>
                <a:gs pos="100000">
                  <a:srgbClr val="CBE2FF">
                    <a:alpha val="31000"/>
                  </a:srgbClr>
                </a:gs>
              </a:gsLst>
              <a:lin ang="5400000"/>
            </a:gradFill>
          </p:spPr>
          <p:txBody>
            <a:bodyPr/>
            <a:lstStyle/>
            <a:p>
              <a:endParaRPr lang="tr-TR"/>
            </a:p>
          </p:txBody>
        </p:sp>
        <p:sp>
          <p:nvSpPr>
            <p:cNvPr id="4" name="TextBox 4"/>
            <p:cNvSpPr txBox="1"/>
            <p:nvPr/>
          </p:nvSpPr>
          <p:spPr>
            <a:xfrm>
              <a:off x="76200" y="47625"/>
              <a:ext cx="660400" cy="688975"/>
            </a:xfrm>
            <a:prstGeom prst="rect">
              <a:avLst/>
            </a:prstGeom>
          </p:spPr>
          <p:txBody>
            <a:bodyPr lIns="50800" tIns="50800" rIns="50800" bIns="50800" rtlCol="0" anchor="ctr"/>
            <a:lstStyle/>
            <a:p>
              <a:pPr algn="ctr">
                <a:lnSpc>
                  <a:spcPts val="2520"/>
                </a:lnSpc>
              </a:pPr>
              <a:endParaRPr/>
            </a:p>
          </p:txBody>
        </p:sp>
      </p:grpSp>
      <p:grpSp>
        <p:nvGrpSpPr>
          <p:cNvPr id="5" name="Group 5"/>
          <p:cNvGrpSpPr/>
          <p:nvPr/>
        </p:nvGrpSpPr>
        <p:grpSpPr>
          <a:xfrm rot="8423578">
            <a:off x="12009175" y="4575584"/>
            <a:ext cx="7492791" cy="7492791"/>
            <a:chOff x="0" y="0"/>
            <a:chExt cx="812800" cy="812800"/>
          </a:xfrm>
        </p:grpSpPr>
        <p:sp>
          <p:nvSpPr>
            <p:cNvPr id="6" name="Freeform 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1">
              <a:gsLst>
                <a:gs pos="0">
                  <a:srgbClr val="377FD6">
                    <a:alpha val="31000"/>
                  </a:srgbClr>
                </a:gs>
                <a:gs pos="100000">
                  <a:srgbClr val="CBE2FF">
                    <a:alpha val="31000"/>
                  </a:srgbClr>
                </a:gs>
              </a:gsLst>
              <a:lin ang="5400000"/>
            </a:gradFill>
          </p:spPr>
          <p:txBody>
            <a:bodyPr/>
            <a:lstStyle/>
            <a:p>
              <a:endParaRPr lang="tr-TR"/>
            </a:p>
          </p:txBody>
        </p:sp>
        <p:sp>
          <p:nvSpPr>
            <p:cNvPr id="7" name="TextBox 7"/>
            <p:cNvSpPr txBox="1"/>
            <p:nvPr/>
          </p:nvSpPr>
          <p:spPr>
            <a:xfrm>
              <a:off x="76200" y="47625"/>
              <a:ext cx="660400" cy="688975"/>
            </a:xfrm>
            <a:prstGeom prst="rect">
              <a:avLst/>
            </a:prstGeom>
          </p:spPr>
          <p:txBody>
            <a:bodyPr lIns="50800" tIns="50800" rIns="50800" bIns="50800" rtlCol="0" anchor="ctr"/>
            <a:lstStyle/>
            <a:p>
              <a:pPr algn="ctr">
                <a:lnSpc>
                  <a:spcPts val="2520"/>
                </a:lnSpc>
              </a:pPr>
              <a:endParaRPr/>
            </a:p>
          </p:txBody>
        </p:sp>
      </p:grpSp>
      <p:grpSp>
        <p:nvGrpSpPr>
          <p:cNvPr id="8" name="Group 8"/>
          <p:cNvGrpSpPr/>
          <p:nvPr/>
        </p:nvGrpSpPr>
        <p:grpSpPr>
          <a:xfrm>
            <a:off x="16873416" y="-396250"/>
            <a:ext cx="1928382" cy="1928382"/>
            <a:chOff x="0" y="0"/>
            <a:chExt cx="812800" cy="812800"/>
          </a:xfrm>
        </p:grpSpPr>
        <p:sp>
          <p:nvSpPr>
            <p:cNvPr id="9" name="Freeform 9"/>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1">
              <a:gsLst>
                <a:gs pos="0">
                  <a:srgbClr val="377FD6">
                    <a:alpha val="31000"/>
                  </a:srgbClr>
                </a:gs>
                <a:gs pos="100000">
                  <a:srgbClr val="CBE2FF">
                    <a:alpha val="31000"/>
                  </a:srgbClr>
                </a:gs>
              </a:gsLst>
              <a:lin ang="5400000"/>
            </a:gradFill>
          </p:spPr>
          <p:txBody>
            <a:bodyPr/>
            <a:lstStyle/>
            <a:p>
              <a:endParaRPr lang="tr-TR"/>
            </a:p>
          </p:txBody>
        </p:sp>
        <p:sp>
          <p:nvSpPr>
            <p:cNvPr id="10" name="TextBox 10"/>
            <p:cNvSpPr txBox="1"/>
            <p:nvPr/>
          </p:nvSpPr>
          <p:spPr>
            <a:xfrm>
              <a:off x="76200" y="47625"/>
              <a:ext cx="660400" cy="688975"/>
            </a:xfrm>
            <a:prstGeom prst="rect">
              <a:avLst/>
            </a:prstGeom>
          </p:spPr>
          <p:txBody>
            <a:bodyPr lIns="50800" tIns="50800" rIns="50800" bIns="50800" rtlCol="0" anchor="ctr"/>
            <a:lstStyle/>
            <a:p>
              <a:pPr algn="ctr">
                <a:lnSpc>
                  <a:spcPts val="2520"/>
                </a:lnSpc>
              </a:pPr>
              <a:endParaRPr/>
            </a:p>
          </p:txBody>
        </p:sp>
      </p:grpSp>
      <p:sp>
        <p:nvSpPr>
          <p:cNvPr id="11" name="TextBox 11"/>
          <p:cNvSpPr txBox="1"/>
          <p:nvPr/>
        </p:nvSpPr>
        <p:spPr>
          <a:xfrm>
            <a:off x="1028700" y="674908"/>
            <a:ext cx="8365412" cy="854019"/>
          </a:xfrm>
          <a:prstGeom prst="rect">
            <a:avLst/>
          </a:prstGeom>
        </p:spPr>
        <p:txBody>
          <a:bodyPr lIns="0" tIns="0" rIns="0" bIns="0" rtlCol="0" anchor="t">
            <a:spAutoFit/>
          </a:bodyPr>
          <a:lstStyle/>
          <a:p>
            <a:pPr marL="0" lvl="0" indent="0" algn="l">
              <a:lnSpc>
                <a:spcPts val="7000"/>
              </a:lnSpc>
              <a:spcBef>
                <a:spcPct val="0"/>
              </a:spcBef>
            </a:pPr>
            <a:r>
              <a:rPr lang="en-US" sz="5000" b="1" u="none" strike="noStrike">
                <a:solidFill>
                  <a:srgbClr val="154562"/>
                </a:solidFill>
                <a:latin typeface="Montserrat Ultra-Bold"/>
                <a:ea typeface="Montserrat Ultra-Bold"/>
                <a:cs typeface="Montserrat Ultra-Bold"/>
                <a:sym typeface="Montserrat Ultra-Bold"/>
              </a:rPr>
              <a:t>Arayüz Uygulaması (UI)</a:t>
            </a:r>
          </a:p>
        </p:txBody>
      </p:sp>
      <p:sp>
        <p:nvSpPr>
          <p:cNvPr id="12" name="Freeform 12"/>
          <p:cNvSpPr/>
          <p:nvPr/>
        </p:nvSpPr>
        <p:spPr>
          <a:xfrm>
            <a:off x="713426" y="1965021"/>
            <a:ext cx="10690179" cy="6761538"/>
          </a:xfrm>
          <a:custGeom>
            <a:avLst/>
            <a:gdLst/>
            <a:ahLst/>
            <a:cxnLst/>
            <a:rect l="l" t="t" r="r" b="b"/>
            <a:pathLst>
              <a:path w="10690179" h="6761538">
                <a:moveTo>
                  <a:pt x="0" y="0"/>
                </a:moveTo>
                <a:lnTo>
                  <a:pt x="10690179" y="0"/>
                </a:lnTo>
                <a:lnTo>
                  <a:pt x="10690179" y="6761538"/>
                </a:lnTo>
                <a:lnTo>
                  <a:pt x="0" y="6761538"/>
                </a:lnTo>
                <a:lnTo>
                  <a:pt x="0" y="0"/>
                </a:lnTo>
                <a:close/>
              </a:path>
            </a:pathLst>
          </a:custGeom>
          <a:blipFill>
            <a:blip r:embed="rId2"/>
            <a:stretch>
              <a:fillRect/>
            </a:stretch>
          </a:blipFill>
          <a:ln w="47625" cap="rnd">
            <a:solidFill>
              <a:srgbClr val="154562"/>
            </a:solidFill>
            <a:prstDash val="solid"/>
            <a:round/>
          </a:ln>
        </p:spPr>
        <p:txBody>
          <a:bodyPr/>
          <a:lstStyle/>
          <a:p>
            <a:endParaRPr lang="tr-TR"/>
          </a:p>
        </p:txBody>
      </p:sp>
      <p:sp>
        <p:nvSpPr>
          <p:cNvPr id="13" name="Freeform 13"/>
          <p:cNvSpPr/>
          <p:nvPr/>
        </p:nvSpPr>
        <p:spPr>
          <a:xfrm>
            <a:off x="11570824" y="1416772"/>
            <a:ext cx="6266783" cy="7858035"/>
          </a:xfrm>
          <a:custGeom>
            <a:avLst/>
            <a:gdLst/>
            <a:ahLst/>
            <a:cxnLst/>
            <a:rect l="l" t="t" r="r" b="b"/>
            <a:pathLst>
              <a:path w="6266783" h="7858035">
                <a:moveTo>
                  <a:pt x="0" y="0"/>
                </a:moveTo>
                <a:lnTo>
                  <a:pt x="6266783" y="0"/>
                </a:lnTo>
                <a:lnTo>
                  <a:pt x="6266783" y="7858036"/>
                </a:lnTo>
                <a:lnTo>
                  <a:pt x="0" y="7858036"/>
                </a:lnTo>
                <a:lnTo>
                  <a:pt x="0" y="0"/>
                </a:lnTo>
                <a:close/>
              </a:path>
            </a:pathLst>
          </a:custGeom>
          <a:blipFill>
            <a:blip r:embed="rId3"/>
            <a:stretch>
              <a:fillRect/>
            </a:stretch>
          </a:blipFill>
          <a:ln w="47625" cap="rnd">
            <a:solidFill>
              <a:srgbClr val="154562"/>
            </a:solidFill>
            <a:prstDash val="solid"/>
            <a:round/>
          </a:ln>
        </p:spPr>
        <p:txBody>
          <a:bodyPr/>
          <a:lstStyle/>
          <a:p>
            <a:endParaRPr lang="tr-T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399193" y="7486448"/>
            <a:ext cx="5581577" cy="5581577"/>
            <a:chOff x="0" y="0"/>
            <a:chExt cx="812800" cy="812800"/>
          </a:xfrm>
        </p:grpSpPr>
        <p:sp>
          <p:nvSpPr>
            <p:cNvPr id="3" name="Freeform 3"/>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1">
              <a:gsLst>
                <a:gs pos="0">
                  <a:srgbClr val="377FD6">
                    <a:alpha val="8000"/>
                  </a:srgbClr>
                </a:gs>
                <a:gs pos="100000">
                  <a:srgbClr val="CBE2FF">
                    <a:alpha val="8000"/>
                  </a:srgbClr>
                </a:gs>
              </a:gsLst>
              <a:lin ang="5400000"/>
            </a:gradFill>
          </p:spPr>
          <p:txBody>
            <a:bodyPr/>
            <a:lstStyle/>
            <a:p>
              <a:endParaRPr lang="tr-TR"/>
            </a:p>
          </p:txBody>
        </p:sp>
        <p:sp>
          <p:nvSpPr>
            <p:cNvPr id="4" name="TextBox 4"/>
            <p:cNvSpPr txBox="1"/>
            <p:nvPr/>
          </p:nvSpPr>
          <p:spPr>
            <a:xfrm>
              <a:off x="76200" y="47625"/>
              <a:ext cx="660400" cy="688975"/>
            </a:xfrm>
            <a:prstGeom prst="rect">
              <a:avLst/>
            </a:prstGeom>
          </p:spPr>
          <p:txBody>
            <a:bodyPr lIns="50800" tIns="50800" rIns="50800" bIns="50800" rtlCol="0" anchor="ctr"/>
            <a:lstStyle/>
            <a:p>
              <a:pPr algn="ctr">
                <a:lnSpc>
                  <a:spcPts val="2520"/>
                </a:lnSpc>
              </a:pPr>
              <a:endParaRPr/>
            </a:p>
          </p:txBody>
        </p:sp>
      </p:grpSp>
      <p:sp>
        <p:nvSpPr>
          <p:cNvPr id="5" name="TextBox 5"/>
          <p:cNvSpPr txBox="1"/>
          <p:nvPr/>
        </p:nvSpPr>
        <p:spPr>
          <a:xfrm>
            <a:off x="959681" y="598469"/>
            <a:ext cx="15407844" cy="854019"/>
          </a:xfrm>
          <a:prstGeom prst="rect">
            <a:avLst/>
          </a:prstGeom>
        </p:spPr>
        <p:txBody>
          <a:bodyPr lIns="0" tIns="0" rIns="0" bIns="0" rtlCol="0" anchor="t">
            <a:spAutoFit/>
          </a:bodyPr>
          <a:lstStyle/>
          <a:p>
            <a:pPr marL="0" lvl="0" indent="0" algn="l">
              <a:lnSpc>
                <a:spcPts val="7000"/>
              </a:lnSpc>
            </a:pPr>
            <a:r>
              <a:rPr lang="en-US" sz="5000" b="1" u="none" strike="noStrike">
                <a:solidFill>
                  <a:srgbClr val="154562"/>
                </a:solidFill>
                <a:latin typeface="Montserrat Ultra-Bold"/>
                <a:ea typeface="Montserrat Ultra-Bold"/>
                <a:cs typeface="Montserrat Ultra-Bold"/>
                <a:sym typeface="Montserrat Ultra-Bold"/>
              </a:rPr>
              <a:t>Sürekli Öğrenme ve "Ground Truth" Döngüsü</a:t>
            </a:r>
          </a:p>
        </p:txBody>
      </p:sp>
      <p:sp>
        <p:nvSpPr>
          <p:cNvPr id="6" name="AutoShape 6"/>
          <p:cNvSpPr/>
          <p:nvPr/>
        </p:nvSpPr>
        <p:spPr>
          <a:xfrm flipV="1">
            <a:off x="959681" y="1738238"/>
            <a:ext cx="15407844" cy="0"/>
          </a:xfrm>
          <a:prstGeom prst="line">
            <a:avLst/>
          </a:prstGeom>
          <a:ln w="38100" cap="flat">
            <a:solidFill>
              <a:srgbClr val="000000"/>
            </a:solidFill>
            <a:prstDash val="solid"/>
            <a:headEnd type="diamond" w="lg" len="lg"/>
            <a:tailEnd type="diamond" w="lg" len="lg"/>
          </a:ln>
        </p:spPr>
        <p:txBody>
          <a:bodyPr/>
          <a:lstStyle/>
          <a:p>
            <a:endParaRPr lang="tr-TR"/>
          </a:p>
        </p:txBody>
      </p:sp>
      <p:grpSp>
        <p:nvGrpSpPr>
          <p:cNvPr id="7" name="Group 7"/>
          <p:cNvGrpSpPr/>
          <p:nvPr/>
        </p:nvGrpSpPr>
        <p:grpSpPr>
          <a:xfrm>
            <a:off x="16803283" y="-1088609"/>
            <a:ext cx="1928382" cy="1928382"/>
            <a:chOff x="0" y="0"/>
            <a:chExt cx="812800" cy="812800"/>
          </a:xfrm>
        </p:grpSpPr>
        <p:sp>
          <p:nvSpPr>
            <p:cNvPr id="8" name="Freeform 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1">
              <a:gsLst>
                <a:gs pos="0">
                  <a:srgbClr val="377FD6">
                    <a:alpha val="31000"/>
                  </a:srgbClr>
                </a:gs>
                <a:gs pos="100000">
                  <a:srgbClr val="CBE2FF">
                    <a:alpha val="31000"/>
                  </a:srgbClr>
                </a:gs>
              </a:gsLst>
              <a:lin ang="5400000"/>
            </a:gradFill>
          </p:spPr>
          <p:txBody>
            <a:bodyPr/>
            <a:lstStyle/>
            <a:p>
              <a:endParaRPr lang="tr-TR"/>
            </a:p>
          </p:txBody>
        </p:sp>
        <p:sp>
          <p:nvSpPr>
            <p:cNvPr id="9" name="TextBox 9"/>
            <p:cNvSpPr txBox="1"/>
            <p:nvPr/>
          </p:nvSpPr>
          <p:spPr>
            <a:xfrm>
              <a:off x="76200" y="47625"/>
              <a:ext cx="660400" cy="688975"/>
            </a:xfrm>
            <a:prstGeom prst="rect">
              <a:avLst/>
            </a:prstGeom>
          </p:spPr>
          <p:txBody>
            <a:bodyPr lIns="50800" tIns="50800" rIns="50800" bIns="50800" rtlCol="0" anchor="ctr"/>
            <a:lstStyle/>
            <a:p>
              <a:pPr algn="ctr">
                <a:lnSpc>
                  <a:spcPts val="2520"/>
                </a:lnSpc>
              </a:pPr>
              <a:endParaRPr/>
            </a:p>
          </p:txBody>
        </p:sp>
      </p:grpSp>
      <p:grpSp>
        <p:nvGrpSpPr>
          <p:cNvPr id="10" name="Group 10"/>
          <p:cNvGrpSpPr/>
          <p:nvPr/>
        </p:nvGrpSpPr>
        <p:grpSpPr>
          <a:xfrm>
            <a:off x="3178009" y="8140326"/>
            <a:ext cx="5581577" cy="5581577"/>
            <a:chOff x="0" y="0"/>
            <a:chExt cx="812800" cy="812800"/>
          </a:xfrm>
        </p:grpSpPr>
        <p:sp>
          <p:nvSpPr>
            <p:cNvPr id="11" name="Freeform 11"/>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1">
              <a:gsLst>
                <a:gs pos="0">
                  <a:srgbClr val="377FD6">
                    <a:alpha val="8000"/>
                  </a:srgbClr>
                </a:gs>
                <a:gs pos="100000">
                  <a:srgbClr val="CBE2FF">
                    <a:alpha val="8000"/>
                  </a:srgbClr>
                </a:gs>
              </a:gsLst>
              <a:lin ang="5400000"/>
            </a:gradFill>
          </p:spPr>
          <p:txBody>
            <a:bodyPr/>
            <a:lstStyle/>
            <a:p>
              <a:endParaRPr lang="tr-TR"/>
            </a:p>
          </p:txBody>
        </p:sp>
        <p:sp>
          <p:nvSpPr>
            <p:cNvPr id="12" name="TextBox 12"/>
            <p:cNvSpPr txBox="1"/>
            <p:nvPr/>
          </p:nvSpPr>
          <p:spPr>
            <a:xfrm>
              <a:off x="76200" y="47625"/>
              <a:ext cx="660400" cy="688975"/>
            </a:xfrm>
            <a:prstGeom prst="rect">
              <a:avLst/>
            </a:prstGeom>
          </p:spPr>
          <p:txBody>
            <a:bodyPr lIns="50800" tIns="50800" rIns="50800" bIns="50800" rtlCol="0" anchor="ctr"/>
            <a:lstStyle/>
            <a:p>
              <a:pPr algn="ctr">
                <a:lnSpc>
                  <a:spcPts val="2520"/>
                </a:lnSpc>
              </a:pPr>
              <a:endParaRPr/>
            </a:p>
          </p:txBody>
        </p:sp>
      </p:grpSp>
      <p:grpSp>
        <p:nvGrpSpPr>
          <p:cNvPr id="13" name="Group 13"/>
          <p:cNvGrpSpPr/>
          <p:nvPr/>
        </p:nvGrpSpPr>
        <p:grpSpPr>
          <a:xfrm>
            <a:off x="959681" y="2023988"/>
            <a:ext cx="5698290" cy="7806420"/>
            <a:chOff x="0" y="0"/>
            <a:chExt cx="7597720" cy="10408560"/>
          </a:xfrm>
        </p:grpSpPr>
        <p:grpSp>
          <p:nvGrpSpPr>
            <p:cNvPr id="14" name="Group 14"/>
            <p:cNvGrpSpPr/>
            <p:nvPr/>
          </p:nvGrpSpPr>
          <p:grpSpPr>
            <a:xfrm>
              <a:off x="161104" y="584144"/>
              <a:ext cx="7436616" cy="9824416"/>
              <a:chOff x="0" y="0"/>
              <a:chExt cx="1640517" cy="2167265"/>
            </a:xfrm>
          </p:grpSpPr>
          <p:sp>
            <p:nvSpPr>
              <p:cNvPr id="15" name="Freeform 15"/>
              <p:cNvSpPr/>
              <p:nvPr/>
            </p:nvSpPr>
            <p:spPr>
              <a:xfrm>
                <a:off x="0" y="0"/>
                <a:ext cx="1640517" cy="2167265"/>
              </a:xfrm>
              <a:custGeom>
                <a:avLst/>
                <a:gdLst/>
                <a:ahLst/>
                <a:cxnLst/>
                <a:rect l="l" t="t" r="r" b="b"/>
                <a:pathLst>
                  <a:path w="1640517" h="2167265">
                    <a:moveTo>
                      <a:pt x="27111" y="0"/>
                    </a:moveTo>
                    <a:lnTo>
                      <a:pt x="1613406" y="0"/>
                    </a:lnTo>
                    <a:cubicBezTo>
                      <a:pt x="1628379" y="0"/>
                      <a:pt x="1640517" y="12138"/>
                      <a:pt x="1640517" y="27111"/>
                    </a:cubicBezTo>
                    <a:lnTo>
                      <a:pt x="1640517" y="2140154"/>
                    </a:lnTo>
                    <a:cubicBezTo>
                      <a:pt x="1640517" y="2155127"/>
                      <a:pt x="1628379" y="2167265"/>
                      <a:pt x="1613406" y="2167265"/>
                    </a:cubicBezTo>
                    <a:lnTo>
                      <a:pt x="27111" y="2167265"/>
                    </a:lnTo>
                    <a:cubicBezTo>
                      <a:pt x="12138" y="2167265"/>
                      <a:pt x="0" y="2155127"/>
                      <a:pt x="0" y="2140154"/>
                    </a:cubicBezTo>
                    <a:lnTo>
                      <a:pt x="0" y="27111"/>
                    </a:lnTo>
                    <a:cubicBezTo>
                      <a:pt x="0" y="12138"/>
                      <a:pt x="12138" y="0"/>
                      <a:pt x="27111" y="0"/>
                    </a:cubicBezTo>
                    <a:close/>
                  </a:path>
                </a:pathLst>
              </a:custGeom>
              <a:solidFill>
                <a:srgbClr val="4E6C7E"/>
              </a:solidFill>
              <a:ln w="19050" cap="rnd">
                <a:solidFill>
                  <a:srgbClr val="4383D1"/>
                </a:solidFill>
                <a:prstDash val="solid"/>
                <a:round/>
              </a:ln>
            </p:spPr>
            <p:txBody>
              <a:bodyPr/>
              <a:lstStyle/>
              <a:p>
                <a:endParaRPr lang="tr-TR"/>
              </a:p>
            </p:txBody>
          </p:sp>
          <p:sp>
            <p:nvSpPr>
              <p:cNvPr id="16" name="TextBox 16"/>
              <p:cNvSpPr txBox="1"/>
              <p:nvPr/>
            </p:nvSpPr>
            <p:spPr>
              <a:xfrm>
                <a:off x="0" y="-28575"/>
                <a:ext cx="1640517" cy="2195840"/>
              </a:xfrm>
              <a:prstGeom prst="rect">
                <a:avLst/>
              </a:prstGeom>
            </p:spPr>
            <p:txBody>
              <a:bodyPr lIns="35537" tIns="35537" rIns="35537" bIns="35537" rtlCol="0" anchor="ctr"/>
              <a:lstStyle/>
              <a:p>
                <a:pPr algn="ctr">
                  <a:lnSpc>
                    <a:spcPts val="2519"/>
                  </a:lnSpc>
                </a:pPr>
                <a:endParaRPr/>
              </a:p>
            </p:txBody>
          </p:sp>
        </p:grpSp>
        <p:grpSp>
          <p:nvGrpSpPr>
            <p:cNvPr id="17" name="Group 17"/>
            <p:cNvGrpSpPr/>
            <p:nvPr/>
          </p:nvGrpSpPr>
          <p:grpSpPr>
            <a:xfrm>
              <a:off x="0" y="0"/>
              <a:ext cx="7436616" cy="9824416"/>
              <a:chOff x="0" y="0"/>
              <a:chExt cx="1640517" cy="2167265"/>
            </a:xfrm>
          </p:grpSpPr>
          <p:sp>
            <p:nvSpPr>
              <p:cNvPr id="18" name="Freeform 18"/>
              <p:cNvSpPr/>
              <p:nvPr/>
            </p:nvSpPr>
            <p:spPr>
              <a:xfrm>
                <a:off x="0" y="0"/>
                <a:ext cx="1640517" cy="2167265"/>
              </a:xfrm>
              <a:custGeom>
                <a:avLst/>
                <a:gdLst/>
                <a:ahLst/>
                <a:cxnLst/>
                <a:rect l="l" t="t" r="r" b="b"/>
                <a:pathLst>
                  <a:path w="1640517" h="2167265">
                    <a:moveTo>
                      <a:pt x="27111" y="0"/>
                    </a:moveTo>
                    <a:lnTo>
                      <a:pt x="1613406" y="0"/>
                    </a:lnTo>
                    <a:cubicBezTo>
                      <a:pt x="1628379" y="0"/>
                      <a:pt x="1640517" y="12138"/>
                      <a:pt x="1640517" y="27111"/>
                    </a:cubicBezTo>
                    <a:lnTo>
                      <a:pt x="1640517" y="2140154"/>
                    </a:lnTo>
                    <a:cubicBezTo>
                      <a:pt x="1640517" y="2155127"/>
                      <a:pt x="1628379" y="2167265"/>
                      <a:pt x="1613406" y="2167265"/>
                    </a:cubicBezTo>
                    <a:lnTo>
                      <a:pt x="27111" y="2167265"/>
                    </a:lnTo>
                    <a:cubicBezTo>
                      <a:pt x="12138" y="2167265"/>
                      <a:pt x="0" y="2155127"/>
                      <a:pt x="0" y="2140154"/>
                    </a:cubicBezTo>
                    <a:lnTo>
                      <a:pt x="0" y="27111"/>
                    </a:lnTo>
                    <a:cubicBezTo>
                      <a:pt x="0" y="12138"/>
                      <a:pt x="12138" y="0"/>
                      <a:pt x="27111" y="0"/>
                    </a:cubicBezTo>
                    <a:close/>
                  </a:path>
                </a:pathLst>
              </a:custGeom>
              <a:solidFill>
                <a:srgbClr val="FFFFFF"/>
              </a:solidFill>
              <a:ln w="19050" cap="rnd">
                <a:solidFill>
                  <a:srgbClr val="4383D1"/>
                </a:solidFill>
                <a:prstDash val="solid"/>
                <a:round/>
              </a:ln>
            </p:spPr>
            <p:txBody>
              <a:bodyPr/>
              <a:lstStyle/>
              <a:p>
                <a:endParaRPr lang="tr-TR"/>
              </a:p>
            </p:txBody>
          </p:sp>
          <p:sp>
            <p:nvSpPr>
              <p:cNvPr id="19" name="TextBox 19"/>
              <p:cNvSpPr txBox="1"/>
              <p:nvPr/>
            </p:nvSpPr>
            <p:spPr>
              <a:xfrm>
                <a:off x="0" y="-28575"/>
                <a:ext cx="1640517" cy="2195840"/>
              </a:xfrm>
              <a:prstGeom prst="rect">
                <a:avLst/>
              </a:prstGeom>
            </p:spPr>
            <p:txBody>
              <a:bodyPr lIns="35537" tIns="35537" rIns="35537" bIns="35537" rtlCol="0" anchor="ctr"/>
              <a:lstStyle/>
              <a:p>
                <a:pPr algn="ctr">
                  <a:lnSpc>
                    <a:spcPts val="2519"/>
                  </a:lnSpc>
                </a:pPr>
                <a:endParaRPr/>
              </a:p>
            </p:txBody>
          </p:sp>
        </p:grpSp>
      </p:grpSp>
      <p:grpSp>
        <p:nvGrpSpPr>
          <p:cNvPr id="20" name="Group 20"/>
          <p:cNvGrpSpPr/>
          <p:nvPr/>
        </p:nvGrpSpPr>
        <p:grpSpPr>
          <a:xfrm>
            <a:off x="1092489" y="3130295"/>
            <a:ext cx="359833" cy="368988"/>
            <a:chOff x="0" y="0"/>
            <a:chExt cx="792634" cy="812800"/>
          </a:xfrm>
        </p:grpSpPr>
        <p:sp>
          <p:nvSpPr>
            <p:cNvPr id="21" name="Freeform 21"/>
            <p:cNvSpPr/>
            <p:nvPr/>
          </p:nvSpPr>
          <p:spPr>
            <a:xfrm>
              <a:off x="0" y="59515"/>
              <a:ext cx="748074" cy="693771"/>
            </a:xfrm>
            <a:custGeom>
              <a:avLst/>
              <a:gdLst/>
              <a:ahLst/>
              <a:cxnLst/>
              <a:rect l="l" t="t" r="r" b="b"/>
              <a:pathLst>
                <a:path w="748074" h="693771">
                  <a:moveTo>
                    <a:pt x="716566" y="270817"/>
                  </a:moveTo>
                  <a:lnTo>
                    <a:pt x="458076" y="12327"/>
                  </a:lnTo>
                  <a:cubicBezTo>
                    <a:pt x="446040" y="291"/>
                    <a:pt x="427939" y="-3309"/>
                    <a:pt x="412213" y="3204"/>
                  </a:cubicBezTo>
                  <a:cubicBezTo>
                    <a:pt x="396487" y="9718"/>
                    <a:pt x="386234" y="25064"/>
                    <a:pt x="386234" y="42085"/>
                  </a:cubicBezTo>
                  <a:lnTo>
                    <a:pt x="386234" y="42085"/>
                  </a:lnTo>
                  <a:cubicBezTo>
                    <a:pt x="386234" y="69031"/>
                    <a:pt x="375530" y="94873"/>
                    <a:pt x="356476" y="113927"/>
                  </a:cubicBezTo>
                  <a:cubicBezTo>
                    <a:pt x="337422" y="132981"/>
                    <a:pt x="311580" y="143685"/>
                    <a:pt x="284634" y="143685"/>
                  </a:cubicBezTo>
                  <a:lnTo>
                    <a:pt x="107576" y="143685"/>
                  </a:lnTo>
                  <a:cubicBezTo>
                    <a:pt x="79045" y="143685"/>
                    <a:pt x="51683" y="155019"/>
                    <a:pt x="31508" y="175193"/>
                  </a:cubicBezTo>
                  <a:cubicBezTo>
                    <a:pt x="11334" y="195368"/>
                    <a:pt x="0" y="222730"/>
                    <a:pt x="0" y="251261"/>
                  </a:cubicBezTo>
                  <a:lnTo>
                    <a:pt x="0" y="442509"/>
                  </a:lnTo>
                  <a:cubicBezTo>
                    <a:pt x="0" y="471040"/>
                    <a:pt x="11334" y="498402"/>
                    <a:pt x="31508" y="518577"/>
                  </a:cubicBezTo>
                  <a:cubicBezTo>
                    <a:pt x="51683" y="538751"/>
                    <a:pt x="79045" y="550085"/>
                    <a:pt x="107576" y="550085"/>
                  </a:cubicBezTo>
                  <a:lnTo>
                    <a:pt x="284634" y="550085"/>
                  </a:lnTo>
                  <a:cubicBezTo>
                    <a:pt x="340746" y="550085"/>
                    <a:pt x="386234" y="595573"/>
                    <a:pt x="386234" y="651685"/>
                  </a:cubicBezTo>
                  <a:lnTo>
                    <a:pt x="386234" y="651685"/>
                  </a:lnTo>
                  <a:cubicBezTo>
                    <a:pt x="386234" y="668706"/>
                    <a:pt x="396487" y="684052"/>
                    <a:pt x="412213" y="690566"/>
                  </a:cubicBezTo>
                  <a:cubicBezTo>
                    <a:pt x="427939" y="697079"/>
                    <a:pt x="446040" y="693479"/>
                    <a:pt x="458076" y="681443"/>
                  </a:cubicBezTo>
                  <a:lnTo>
                    <a:pt x="716566" y="422953"/>
                  </a:lnTo>
                  <a:cubicBezTo>
                    <a:pt x="736740" y="402779"/>
                    <a:pt x="748074" y="375416"/>
                    <a:pt x="748074" y="346885"/>
                  </a:cubicBezTo>
                  <a:cubicBezTo>
                    <a:pt x="748074" y="318354"/>
                    <a:pt x="736740" y="290991"/>
                    <a:pt x="716566" y="270817"/>
                  </a:cubicBezTo>
                  <a:close/>
                </a:path>
              </a:pathLst>
            </a:custGeom>
            <a:solidFill>
              <a:srgbClr val="4E6C7E"/>
            </a:solidFill>
          </p:spPr>
          <p:txBody>
            <a:bodyPr/>
            <a:lstStyle/>
            <a:p>
              <a:endParaRPr lang="tr-TR"/>
            </a:p>
          </p:txBody>
        </p:sp>
        <p:sp>
          <p:nvSpPr>
            <p:cNvPr id="22" name="TextBox 22"/>
            <p:cNvSpPr txBox="1"/>
            <p:nvPr/>
          </p:nvSpPr>
          <p:spPr>
            <a:xfrm>
              <a:off x="0" y="174625"/>
              <a:ext cx="691034" cy="434975"/>
            </a:xfrm>
            <a:prstGeom prst="rect">
              <a:avLst/>
            </a:prstGeom>
          </p:spPr>
          <p:txBody>
            <a:bodyPr lIns="47584" tIns="47584" rIns="47584" bIns="47584" rtlCol="0" anchor="ctr"/>
            <a:lstStyle/>
            <a:p>
              <a:pPr algn="ctr">
                <a:lnSpc>
                  <a:spcPts val="2520"/>
                </a:lnSpc>
              </a:pPr>
              <a:endParaRPr/>
            </a:p>
          </p:txBody>
        </p:sp>
      </p:grpSp>
      <p:sp>
        <p:nvSpPr>
          <p:cNvPr id="23" name="TextBox 23"/>
          <p:cNvSpPr txBox="1"/>
          <p:nvPr/>
        </p:nvSpPr>
        <p:spPr>
          <a:xfrm>
            <a:off x="1543511" y="3054371"/>
            <a:ext cx="4745103" cy="842199"/>
          </a:xfrm>
          <a:prstGeom prst="rect">
            <a:avLst/>
          </a:prstGeom>
        </p:spPr>
        <p:txBody>
          <a:bodyPr lIns="0" tIns="0" rIns="0" bIns="0" rtlCol="0" anchor="t">
            <a:spAutoFit/>
          </a:bodyPr>
          <a:lstStyle/>
          <a:p>
            <a:pPr algn="just">
              <a:lnSpc>
                <a:spcPts val="3409"/>
              </a:lnSpc>
            </a:pPr>
            <a:r>
              <a:rPr lang="en-US" sz="2435" b="1">
                <a:solidFill>
                  <a:srgbClr val="000000"/>
                </a:solidFill>
                <a:latin typeface="Quicksand Semi-Bold"/>
                <a:ea typeface="Quicksand Semi-Bold"/>
                <a:cs typeface="Quicksand Semi-Bold"/>
                <a:sym typeface="Quicksand Semi-Bold"/>
              </a:rPr>
              <a:t>Arayüzün arka planında SQLite veritabanı bulunmaktadır.</a:t>
            </a:r>
          </a:p>
        </p:txBody>
      </p:sp>
      <p:grpSp>
        <p:nvGrpSpPr>
          <p:cNvPr id="24" name="Group 24"/>
          <p:cNvGrpSpPr/>
          <p:nvPr/>
        </p:nvGrpSpPr>
        <p:grpSpPr>
          <a:xfrm>
            <a:off x="1092489" y="4760173"/>
            <a:ext cx="359833" cy="368988"/>
            <a:chOff x="0" y="0"/>
            <a:chExt cx="792634" cy="812800"/>
          </a:xfrm>
        </p:grpSpPr>
        <p:sp>
          <p:nvSpPr>
            <p:cNvPr id="25" name="Freeform 25"/>
            <p:cNvSpPr/>
            <p:nvPr/>
          </p:nvSpPr>
          <p:spPr>
            <a:xfrm>
              <a:off x="0" y="59515"/>
              <a:ext cx="748074" cy="693771"/>
            </a:xfrm>
            <a:custGeom>
              <a:avLst/>
              <a:gdLst/>
              <a:ahLst/>
              <a:cxnLst/>
              <a:rect l="l" t="t" r="r" b="b"/>
              <a:pathLst>
                <a:path w="748074" h="693771">
                  <a:moveTo>
                    <a:pt x="716566" y="270817"/>
                  </a:moveTo>
                  <a:lnTo>
                    <a:pt x="458076" y="12327"/>
                  </a:lnTo>
                  <a:cubicBezTo>
                    <a:pt x="446040" y="291"/>
                    <a:pt x="427939" y="-3309"/>
                    <a:pt x="412213" y="3204"/>
                  </a:cubicBezTo>
                  <a:cubicBezTo>
                    <a:pt x="396487" y="9718"/>
                    <a:pt x="386234" y="25064"/>
                    <a:pt x="386234" y="42085"/>
                  </a:cubicBezTo>
                  <a:lnTo>
                    <a:pt x="386234" y="42085"/>
                  </a:lnTo>
                  <a:cubicBezTo>
                    <a:pt x="386234" y="69031"/>
                    <a:pt x="375530" y="94873"/>
                    <a:pt x="356476" y="113927"/>
                  </a:cubicBezTo>
                  <a:cubicBezTo>
                    <a:pt x="337422" y="132981"/>
                    <a:pt x="311580" y="143685"/>
                    <a:pt x="284634" y="143685"/>
                  </a:cubicBezTo>
                  <a:lnTo>
                    <a:pt x="107576" y="143685"/>
                  </a:lnTo>
                  <a:cubicBezTo>
                    <a:pt x="79045" y="143685"/>
                    <a:pt x="51683" y="155019"/>
                    <a:pt x="31508" y="175193"/>
                  </a:cubicBezTo>
                  <a:cubicBezTo>
                    <a:pt x="11334" y="195368"/>
                    <a:pt x="0" y="222730"/>
                    <a:pt x="0" y="251261"/>
                  </a:cubicBezTo>
                  <a:lnTo>
                    <a:pt x="0" y="442509"/>
                  </a:lnTo>
                  <a:cubicBezTo>
                    <a:pt x="0" y="471040"/>
                    <a:pt x="11334" y="498402"/>
                    <a:pt x="31508" y="518577"/>
                  </a:cubicBezTo>
                  <a:cubicBezTo>
                    <a:pt x="51683" y="538751"/>
                    <a:pt x="79045" y="550085"/>
                    <a:pt x="107576" y="550085"/>
                  </a:cubicBezTo>
                  <a:lnTo>
                    <a:pt x="284634" y="550085"/>
                  </a:lnTo>
                  <a:cubicBezTo>
                    <a:pt x="340746" y="550085"/>
                    <a:pt x="386234" y="595573"/>
                    <a:pt x="386234" y="651685"/>
                  </a:cubicBezTo>
                  <a:lnTo>
                    <a:pt x="386234" y="651685"/>
                  </a:lnTo>
                  <a:cubicBezTo>
                    <a:pt x="386234" y="668706"/>
                    <a:pt x="396487" y="684052"/>
                    <a:pt x="412213" y="690566"/>
                  </a:cubicBezTo>
                  <a:cubicBezTo>
                    <a:pt x="427939" y="697079"/>
                    <a:pt x="446040" y="693479"/>
                    <a:pt x="458076" y="681443"/>
                  </a:cubicBezTo>
                  <a:lnTo>
                    <a:pt x="716566" y="422953"/>
                  </a:lnTo>
                  <a:cubicBezTo>
                    <a:pt x="736740" y="402779"/>
                    <a:pt x="748074" y="375416"/>
                    <a:pt x="748074" y="346885"/>
                  </a:cubicBezTo>
                  <a:cubicBezTo>
                    <a:pt x="748074" y="318354"/>
                    <a:pt x="736740" y="290991"/>
                    <a:pt x="716566" y="270817"/>
                  </a:cubicBezTo>
                  <a:close/>
                </a:path>
              </a:pathLst>
            </a:custGeom>
            <a:solidFill>
              <a:srgbClr val="4E6C7E"/>
            </a:solidFill>
          </p:spPr>
          <p:txBody>
            <a:bodyPr/>
            <a:lstStyle/>
            <a:p>
              <a:endParaRPr lang="tr-TR"/>
            </a:p>
          </p:txBody>
        </p:sp>
        <p:sp>
          <p:nvSpPr>
            <p:cNvPr id="26" name="TextBox 26"/>
            <p:cNvSpPr txBox="1"/>
            <p:nvPr/>
          </p:nvSpPr>
          <p:spPr>
            <a:xfrm>
              <a:off x="0" y="174625"/>
              <a:ext cx="691034" cy="434975"/>
            </a:xfrm>
            <a:prstGeom prst="rect">
              <a:avLst/>
            </a:prstGeom>
          </p:spPr>
          <p:txBody>
            <a:bodyPr lIns="47584" tIns="47584" rIns="47584" bIns="47584" rtlCol="0" anchor="ctr"/>
            <a:lstStyle/>
            <a:p>
              <a:pPr algn="ctr">
                <a:lnSpc>
                  <a:spcPts val="2520"/>
                </a:lnSpc>
              </a:pPr>
              <a:endParaRPr/>
            </a:p>
          </p:txBody>
        </p:sp>
      </p:grpSp>
      <p:sp>
        <p:nvSpPr>
          <p:cNvPr id="27" name="TextBox 27"/>
          <p:cNvSpPr txBox="1"/>
          <p:nvPr/>
        </p:nvSpPr>
        <p:spPr>
          <a:xfrm>
            <a:off x="1543511" y="4712548"/>
            <a:ext cx="4745103" cy="3839713"/>
          </a:xfrm>
          <a:prstGeom prst="rect">
            <a:avLst/>
          </a:prstGeom>
        </p:spPr>
        <p:txBody>
          <a:bodyPr lIns="0" tIns="0" rIns="0" bIns="0" rtlCol="0" anchor="t">
            <a:spAutoFit/>
          </a:bodyPr>
          <a:lstStyle/>
          <a:p>
            <a:pPr algn="just">
              <a:lnSpc>
                <a:spcPts val="3409"/>
              </a:lnSpc>
            </a:pPr>
            <a:r>
              <a:rPr lang="en-US" sz="2435" b="1">
                <a:solidFill>
                  <a:srgbClr val="000000"/>
                </a:solidFill>
                <a:latin typeface="Quicksand Semi-Bold"/>
                <a:ea typeface="Quicksand Semi-Bold"/>
                <a:cs typeface="Quicksand Semi-Bold"/>
                <a:sym typeface="Quicksand Semi-Bold"/>
              </a:rPr>
              <a:t>Embriyologlar, yapay zekanın tahminine karşılık kendi "Gerçek Klinik Kararlarını" (Ground Truth) sisteme girebilmektedir. Bu sayede model, ilerleyen yıllarda hastanenin kendi verileriyle sürekli olarak yeniden eğitilip geliştirilebilecek bir altyapıya kavuşmuştur.</a:t>
            </a:r>
          </a:p>
        </p:txBody>
      </p:sp>
      <p:sp>
        <p:nvSpPr>
          <p:cNvPr id="28" name="TextBox 28"/>
          <p:cNvSpPr txBox="1"/>
          <p:nvPr/>
        </p:nvSpPr>
        <p:spPr>
          <a:xfrm>
            <a:off x="1638532" y="2418594"/>
            <a:ext cx="4650083" cy="416703"/>
          </a:xfrm>
          <a:prstGeom prst="rect">
            <a:avLst/>
          </a:prstGeom>
        </p:spPr>
        <p:txBody>
          <a:bodyPr lIns="0" tIns="0" rIns="0" bIns="0" rtlCol="0" anchor="t">
            <a:spAutoFit/>
          </a:bodyPr>
          <a:lstStyle/>
          <a:p>
            <a:pPr algn="l">
              <a:lnSpc>
                <a:spcPts val="3204"/>
              </a:lnSpc>
            </a:pPr>
            <a:r>
              <a:rPr lang="en-US" sz="2966" b="1">
                <a:solidFill>
                  <a:srgbClr val="000000"/>
                </a:solidFill>
                <a:latin typeface="Montserrat Bold"/>
                <a:ea typeface="Montserrat Bold"/>
                <a:cs typeface="Montserrat Bold"/>
                <a:sym typeface="Montserrat Bold"/>
              </a:rPr>
              <a:t>Gelecek Vizyonumuz:</a:t>
            </a:r>
          </a:p>
        </p:txBody>
      </p:sp>
      <p:sp>
        <p:nvSpPr>
          <p:cNvPr id="29" name="Freeform 29"/>
          <p:cNvSpPr/>
          <p:nvPr/>
        </p:nvSpPr>
        <p:spPr>
          <a:xfrm>
            <a:off x="6753221" y="2023988"/>
            <a:ext cx="11354793" cy="7806420"/>
          </a:xfrm>
          <a:custGeom>
            <a:avLst/>
            <a:gdLst/>
            <a:ahLst/>
            <a:cxnLst/>
            <a:rect l="l" t="t" r="r" b="b"/>
            <a:pathLst>
              <a:path w="11354793" h="7806420">
                <a:moveTo>
                  <a:pt x="0" y="0"/>
                </a:moveTo>
                <a:lnTo>
                  <a:pt x="11354793" y="0"/>
                </a:lnTo>
                <a:lnTo>
                  <a:pt x="11354793" y="7806420"/>
                </a:lnTo>
                <a:lnTo>
                  <a:pt x="0" y="7806420"/>
                </a:lnTo>
                <a:lnTo>
                  <a:pt x="0" y="0"/>
                </a:lnTo>
                <a:close/>
              </a:path>
            </a:pathLst>
          </a:custGeom>
          <a:blipFill>
            <a:blip r:embed="rId2"/>
            <a:stretch>
              <a:fillRect/>
            </a:stretch>
          </a:blipFill>
          <a:ln w="47625" cap="rnd">
            <a:solidFill>
              <a:srgbClr val="154562"/>
            </a:solidFill>
            <a:prstDash val="solid"/>
            <a:round/>
          </a:ln>
        </p:spPr>
        <p:txBody>
          <a:bodyPr/>
          <a:lstStyle/>
          <a:p>
            <a:endParaRPr lang="tr-T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6803283" y="-1088609"/>
            <a:ext cx="1928382" cy="1928382"/>
            <a:chOff x="0" y="0"/>
            <a:chExt cx="812800" cy="812800"/>
          </a:xfrm>
        </p:grpSpPr>
        <p:sp>
          <p:nvSpPr>
            <p:cNvPr id="3" name="Freeform 3"/>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1">
              <a:gsLst>
                <a:gs pos="0">
                  <a:srgbClr val="377FD6">
                    <a:alpha val="31000"/>
                  </a:srgbClr>
                </a:gs>
                <a:gs pos="100000">
                  <a:srgbClr val="CBE2FF">
                    <a:alpha val="31000"/>
                  </a:srgbClr>
                </a:gs>
              </a:gsLst>
              <a:lin ang="5400000"/>
            </a:gradFill>
          </p:spPr>
          <p:txBody>
            <a:bodyPr/>
            <a:lstStyle/>
            <a:p>
              <a:endParaRPr lang="tr-TR"/>
            </a:p>
          </p:txBody>
        </p:sp>
        <p:sp>
          <p:nvSpPr>
            <p:cNvPr id="4" name="TextBox 4"/>
            <p:cNvSpPr txBox="1"/>
            <p:nvPr/>
          </p:nvSpPr>
          <p:spPr>
            <a:xfrm>
              <a:off x="76200" y="47625"/>
              <a:ext cx="660400" cy="688975"/>
            </a:xfrm>
            <a:prstGeom prst="rect">
              <a:avLst/>
            </a:prstGeom>
          </p:spPr>
          <p:txBody>
            <a:bodyPr lIns="50800" tIns="50800" rIns="50800" bIns="50800" rtlCol="0" anchor="ctr"/>
            <a:lstStyle/>
            <a:p>
              <a:pPr algn="ctr">
                <a:lnSpc>
                  <a:spcPts val="2520"/>
                </a:lnSpc>
              </a:pPr>
              <a:endParaRPr/>
            </a:p>
          </p:txBody>
        </p:sp>
      </p:grpSp>
      <p:sp>
        <p:nvSpPr>
          <p:cNvPr id="5" name="TextBox 5"/>
          <p:cNvSpPr txBox="1"/>
          <p:nvPr/>
        </p:nvSpPr>
        <p:spPr>
          <a:xfrm>
            <a:off x="779897" y="4182868"/>
            <a:ext cx="9140512" cy="4861067"/>
          </a:xfrm>
          <a:prstGeom prst="rect">
            <a:avLst/>
          </a:prstGeom>
        </p:spPr>
        <p:txBody>
          <a:bodyPr lIns="0" tIns="0" rIns="0" bIns="0" rtlCol="0" anchor="t">
            <a:spAutoFit/>
          </a:bodyPr>
          <a:lstStyle/>
          <a:p>
            <a:pPr marL="0" lvl="0" indent="0" algn="l">
              <a:lnSpc>
                <a:spcPts val="12701"/>
              </a:lnSpc>
            </a:pPr>
            <a:r>
              <a:rPr lang="en-US" sz="11044" b="1">
                <a:solidFill>
                  <a:srgbClr val="154562"/>
                </a:solidFill>
                <a:latin typeface="Montserrat Ultra-Bold"/>
                <a:ea typeface="Montserrat Ultra-Bold"/>
                <a:cs typeface="Montserrat Ultra-Bold"/>
                <a:sym typeface="Montserrat Ultra-Bold"/>
              </a:rPr>
              <a:t>Dinlediğiniz İçin Teşekkürler</a:t>
            </a:r>
          </a:p>
        </p:txBody>
      </p:sp>
      <p:sp>
        <p:nvSpPr>
          <p:cNvPr id="6" name="Freeform 6"/>
          <p:cNvSpPr/>
          <p:nvPr/>
        </p:nvSpPr>
        <p:spPr>
          <a:xfrm rot="2700000">
            <a:off x="10585344" y="-243892"/>
            <a:ext cx="9044124" cy="5720408"/>
          </a:xfrm>
          <a:custGeom>
            <a:avLst/>
            <a:gdLst/>
            <a:ahLst/>
            <a:cxnLst/>
            <a:rect l="l" t="t" r="r" b="b"/>
            <a:pathLst>
              <a:path w="9044124" h="5720408">
                <a:moveTo>
                  <a:pt x="0" y="0"/>
                </a:moveTo>
                <a:lnTo>
                  <a:pt x="9044124" y="0"/>
                </a:lnTo>
                <a:lnTo>
                  <a:pt x="9044124" y="5720408"/>
                </a:lnTo>
                <a:lnTo>
                  <a:pt x="0" y="5720408"/>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tr-TR"/>
          </a:p>
        </p:txBody>
      </p:sp>
      <p:sp>
        <p:nvSpPr>
          <p:cNvPr id="7" name="Freeform 7"/>
          <p:cNvSpPr/>
          <p:nvPr/>
        </p:nvSpPr>
        <p:spPr>
          <a:xfrm rot="477602">
            <a:off x="11103198" y="5158818"/>
            <a:ext cx="8098434" cy="5355089"/>
          </a:xfrm>
          <a:custGeom>
            <a:avLst/>
            <a:gdLst/>
            <a:ahLst/>
            <a:cxnLst/>
            <a:rect l="l" t="t" r="r" b="b"/>
            <a:pathLst>
              <a:path w="8098434" h="5355089">
                <a:moveTo>
                  <a:pt x="0" y="0"/>
                </a:moveTo>
                <a:lnTo>
                  <a:pt x="8098434" y="0"/>
                </a:lnTo>
                <a:lnTo>
                  <a:pt x="8098434" y="5355089"/>
                </a:lnTo>
                <a:lnTo>
                  <a:pt x="0" y="5355089"/>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tr-TR"/>
          </a:p>
        </p:txBody>
      </p:sp>
      <p:sp>
        <p:nvSpPr>
          <p:cNvPr id="8" name="Freeform 8"/>
          <p:cNvSpPr/>
          <p:nvPr/>
        </p:nvSpPr>
        <p:spPr>
          <a:xfrm>
            <a:off x="7054172" y="-587506"/>
            <a:ext cx="3717247" cy="3717247"/>
          </a:xfrm>
          <a:custGeom>
            <a:avLst/>
            <a:gdLst/>
            <a:ahLst/>
            <a:cxnLst/>
            <a:rect l="l" t="t" r="r" b="b"/>
            <a:pathLst>
              <a:path w="3717247" h="3717247">
                <a:moveTo>
                  <a:pt x="0" y="0"/>
                </a:moveTo>
                <a:lnTo>
                  <a:pt x="3717248" y="0"/>
                </a:lnTo>
                <a:lnTo>
                  <a:pt x="3717248" y="3717247"/>
                </a:lnTo>
                <a:lnTo>
                  <a:pt x="0" y="3717247"/>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tr-TR"/>
          </a:p>
        </p:txBody>
      </p:sp>
      <p:sp>
        <p:nvSpPr>
          <p:cNvPr id="9" name="Freeform 9"/>
          <p:cNvSpPr/>
          <p:nvPr/>
        </p:nvSpPr>
        <p:spPr>
          <a:xfrm rot="4552490" flipV="1">
            <a:off x="4777669" y="-27023"/>
            <a:ext cx="412641" cy="1765310"/>
          </a:xfrm>
          <a:custGeom>
            <a:avLst/>
            <a:gdLst/>
            <a:ahLst/>
            <a:cxnLst/>
            <a:rect l="l" t="t" r="r" b="b"/>
            <a:pathLst>
              <a:path w="412641" h="1765310">
                <a:moveTo>
                  <a:pt x="0" y="1765309"/>
                </a:moveTo>
                <a:lnTo>
                  <a:pt x="412641" y="1765309"/>
                </a:lnTo>
                <a:lnTo>
                  <a:pt x="412641" y="0"/>
                </a:lnTo>
                <a:lnTo>
                  <a:pt x="0" y="0"/>
                </a:lnTo>
                <a:lnTo>
                  <a:pt x="0" y="1765309"/>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tr-TR"/>
          </a:p>
        </p:txBody>
      </p:sp>
      <p:sp>
        <p:nvSpPr>
          <p:cNvPr id="10" name="Freeform 10"/>
          <p:cNvSpPr/>
          <p:nvPr/>
        </p:nvSpPr>
        <p:spPr>
          <a:xfrm>
            <a:off x="-553786" y="-209828"/>
            <a:ext cx="2667366" cy="2667366"/>
          </a:xfrm>
          <a:custGeom>
            <a:avLst/>
            <a:gdLst/>
            <a:ahLst/>
            <a:cxnLst/>
            <a:rect l="l" t="t" r="r" b="b"/>
            <a:pathLst>
              <a:path w="2667366" h="2667366">
                <a:moveTo>
                  <a:pt x="0" y="0"/>
                </a:moveTo>
                <a:lnTo>
                  <a:pt x="2667366" y="0"/>
                </a:lnTo>
                <a:lnTo>
                  <a:pt x="2667366" y="2667366"/>
                </a:lnTo>
                <a:lnTo>
                  <a:pt x="0" y="2667366"/>
                </a:lnTo>
                <a:lnTo>
                  <a:pt x="0" y="0"/>
                </a:lnTo>
                <a:close/>
              </a:path>
            </a:pathLst>
          </a:custGeom>
          <a:blipFill>
            <a:blip>
              <a:extLst>
                <a:ext uri="{96DAC541-7B7A-43D3-8B79-37D633B846F1}">
                  <asvg:svgBlip xmlns:asvg="http://schemas.microsoft.com/office/drawing/2016/SVG/main" r:embed="rId6"/>
                </a:ext>
              </a:extLst>
            </a:blip>
            <a:stretch>
              <a:fillRect/>
            </a:stretch>
          </a:blipFill>
        </p:spPr>
        <p:txBody>
          <a:bodyPr/>
          <a:lstStyle/>
          <a:p>
            <a:endParaRPr lang="tr-TR"/>
          </a:p>
        </p:txBody>
      </p:sp>
      <p:sp>
        <p:nvSpPr>
          <p:cNvPr id="11" name="Freeform 11"/>
          <p:cNvSpPr/>
          <p:nvPr/>
        </p:nvSpPr>
        <p:spPr>
          <a:xfrm rot="5813576" flipV="1">
            <a:off x="3160500" y="803949"/>
            <a:ext cx="412641" cy="1765310"/>
          </a:xfrm>
          <a:custGeom>
            <a:avLst/>
            <a:gdLst/>
            <a:ahLst/>
            <a:cxnLst/>
            <a:rect l="l" t="t" r="r" b="b"/>
            <a:pathLst>
              <a:path w="412641" h="1765310">
                <a:moveTo>
                  <a:pt x="0" y="1765310"/>
                </a:moveTo>
                <a:lnTo>
                  <a:pt x="412641" y="1765310"/>
                </a:lnTo>
                <a:lnTo>
                  <a:pt x="412641" y="0"/>
                </a:lnTo>
                <a:lnTo>
                  <a:pt x="0" y="0"/>
                </a:lnTo>
                <a:lnTo>
                  <a:pt x="0" y="176531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tr-TR"/>
          </a:p>
        </p:txBody>
      </p:sp>
      <p:sp>
        <p:nvSpPr>
          <p:cNvPr id="12" name="Freeform 12"/>
          <p:cNvSpPr/>
          <p:nvPr/>
        </p:nvSpPr>
        <p:spPr>
          <a:xfrm rot="4552490" flipV="1">
            <a:off x="2759398" y="125377"/>
            <a:ext cx="412641" cy="1765310"/>
          </a:xfrm>
          <a:custGeom>
            <a:avLst/>
            <a:gdLst/>
            <a:ahLst/>
            <a:cxnLst/>
            <a:rect l="l" t="t" r="r" b="b"/>
            <a:pathLst>
              <a:path w="412641" h="1765310">
                <a:moveTo>
                  <a:pt x="0" y="1765309"/>
                </a:moveTo>
                <a:lnTo>
                  <a:pt x="412641" y="1765309"/>
                </a:lnTo>
                <a:lnTo>
                  <a:pt x="412641" y="0"/>
                </a:lnTo>
                <a:lnTo>
                  <a:pt x="0" y="0"/>
                </a:lnTo>
                <a:lnTo>
                  <a:pt x="0" y="1765309"/>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tr-T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1025</Words>
  <Application>Microsoft Office PowerPoint</Application>
  <PresentationFormat>Özel</PresentationFormat>
  <Paragraphs>88</Paragraphs>
  <Slides>17</Slides>
  <Notes>0</Notes>
  <HiddenSlides>0</HiddenSlides>
  <MMClips>0</MMClips>
  <ScaleCrop>false</ScaleCrop>
  <HeadingPairs>
    <vt:vector size="6" baseType="variant">
      <vt:variant>
        <vt:lpstr>Kullanılan Yazı Tipleri</vt:lpstr>
      </vt:variant>
      <vt:variant>
        <vt:i4>7</vt:i4>
      </vt:variant>
      <vt:variant>
        <vt:lpstr>Tema</vt:lpstr>
      </vt:variant>
      <vt:variant>
        <vt:i4>1</vt:i4>
      </vt:variant>
      <vt:variant>
        <vt:lpstr>Slayt Başlıkları</vt:lpstr>
      </vt:variant>
      <vt:variant>
        <vt:i4>17</vt:i4>
      </vt:variant>
    </vt:vector>
  </HeadingPairs>
  <TitlesOfParts>
    <vt:vector size="25" baseType="lpstr">
      <vt:lpstr>Calibri</vt:lpstr>
      <vt:lpstr>Arial</vt:lpstr>
      <vt:lpstr>Montserrat Bold</vt:lpstr>
      <vt:lpstr>Quicksand Semi-Bold</vt:lpstr>
      <vt:lpstr>Montserrat Ultra-Bold</vt:lpstr>
      <vt:lpstr>Montserrat</vt:lpstr>
      <vt:lpstr>Quicksand Bold</vt:lpstr>
      <vt:lpstr>Office Theme</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Tıbbi Sunum</dc:title>
  <cp:lastModifiedBy>Şevval Ayça Çerence</cp:lastModifiedBy>
  <cp:revision>2</cp:revision>
  <dcterms:created xsi:type="dcterms:W3CDTF">2006-08-16T00:00:00Z</dcterms:created>
  <dcterms:modified xsi:type="dcterms:W3CDTF">2026-05-17T19:09:06Z</dcterms:modified>
  <dc:identifier>DAHIFCGk9jc</dc:identifier>
</cp:coreProperties>
</file>